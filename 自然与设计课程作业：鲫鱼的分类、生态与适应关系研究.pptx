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9" r:id="rId1"/>
    <p:sldMasterId id="2147483660" r:id="rId2"/>
  </p:sldMasterIdLst>
  <p:notesMasterIdLst>
    <p:notesMasterId r:id="rId19"/>
  </p:notes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2" r:id="rId18"/>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D7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4" d="100"/>
          <a:sy n="104" d="100"/>
        </p:scale>
        <p:origin x="96" y="212"/>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3" Type="http://schemas.openxmlformats.org/officeDocument/2006/relationships/slide" Target="slides/slide1.xml"/><Relationship Id="rId21" Type="http://schemas.openxmlformats.org/officeDocument/2006/relationships/viewProps" Target="viewProp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tableStyles" Target="tableStyles.xml"/><Relationship Id="rId10" Type="http://schemas.openxmlformats.org/officeDocument/2006/relationships/slide" Target="slides/slide8.xml"/><Relationship Id="rId19" Type="http://schemas.openxmlformats.org/officeDocument/2006/relationships/notesMaster" Target="notesMasters/notesMaster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26.03.2026</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dirty="0" err="1">
                <a:solidFill>
                  <a:srgbClr val="000000"/>
                </a:solidFill>
              </a:rPr>
              <a:t>大家好，欢迎来到我的课程作业汇报。今天我将和大家一起深入探索一种我们非常熟悉的淡水鱼</a:t>
            </a:r>
            <a:r>
              <a:rPr lang="en-US" sz="1400" b="0" i="0" u="none" strike="noStrike" dirty="0">
                <a:solidFill>
                  <a:srgbClr val="000000"/>
                </a:solidFill>
              </a:rPr>
              <a:t>——</a:t>
            </a:r>
            <a:r>
              <a:rPr lang="en-US" sz="1400" b="0" i="0" u="none" strike="noStrike" dirty="0" err="1">
                <a:solidFill>
                  <a:srgbClr val="000000"/>
                </a:solidFill>
              </a:rPr>
              <a:t>鲫鱼，从它的分类地位、生态环境以及它与环境的适应关系这几个方面，来揭示这位水中精灵的奥秘</a:t>
            </a:r>
            <a:r>
              <a:rPr lang="en-US" sz="1400" b="0" i="0" u="none" strike="noStrike" dirty="0">
                <a:solidFill>
                  <a:srgbClr val="000000"/>
                </a:solidFill>
              </a:rPr>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dirty="0" err="1">
                <a:solidFill>
                  <a:srgbClr val="000000"/>
                </a:solidFill>
              </a:rPr>
              <a:t>本次汇报将分为四个部分。首先，我们会简单介绍鱼类的世界，引出我们的主角</a:t>
            </a:r>
            <a:r>
              <a:rPr lang="en-US" sz="1400" b="0" i="0" u="none" strike="noStrike" dirty="0">
                <a:solidFill>
                  <a:srgbClr val="000000"/>
                </a:solidFill>
              </a:rPr>
              <a:t>——鲫鱼。接着，我们将详细解读鲫鱼的分类地位，了解它在生物界中的“身份信息”。然后，我们会探讨鲫鱼的生态环境，看看它生活在什么样的“家园”里。最后，也是最核心的部分，我们将分析鲫鱼与环境的适应关系，并从中汲取设计的灵感。</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dirty="0">
                <a:solidFill>
                  <a:srgbClr val="000000"/>
                </a:solidFill>
              </a:rPr>
              <a:t>在开始我们的鲫鱼探索之旅前，让我们先简单了解一下鱼类这个庞大的家族。鱼类是地球上最古老的脊椎动物，它们的存在历史可以追溯到数亿年前。它们适应了各种水生环境，演化出了令人惊叹的多样性。这张图片展示了其中的一小部分。今天，我们将聚焦于其中一种非常普通但又极具代表性的成员——</a:t>
            </a:r>
            <a:r>
              <a:rPr lang="en-US" sz="1400" b="0" i="0" u="none" strike="noStrike" dirty="0" err="1">
                <a:solidFill>
                  <a:srgbClr val="000000"/>
                </a:solidFill>
              </a:rPr>
              <a:t>鲫鱼，来看看它身上蕴含着哪些自然的智慧</a:t>
            </a:r>
            <a:r>
              <a:rPr lang="en-US" sz="1400" b="0" i="0" u="none" strike="noStrike" dirty="0">
                <a:solidFill>
                  <a:srgbClr val="000000"/>
                </a:solidFill>
              </a:rPr>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dirty="0" err="1">
                <a:solidFill>
                  <a:srgbClr val="000000"/>
                </a:solidFill>
              </a:rPr>
              <a:t>就像我们每个人都有身份证一样，在生物学的世界里，每种生物也有自己的分类地位，这就像是它们的“身份证</a:t>
            </a:r>
            <a:r>
              <a:rPr lang="en-US" sz="1400" b="0" i="0" u="none" strike="noStrike" dirty="0">
                <a:solidFill>
                  <a:srgbClr val="000000"/>
                </a:solidFill>
              </a:rPr>
              <a:t>”。</a:t>
            </a:r>
          </a:p>
          <a:p>
            <a:pPr indent="0" algn="l">
              <a:lnSpc>
                <a:spcPct val="100000"/>
              </a:lnSpc>
            </a:pPr>
            <a:r>
              <a:rPr lang="en-US" sz="1400" b="0" i="0" u="none" strike="noStrike" dirty="0">
                <a:solidFill>
                  <a:srgbClr val="000000"/>
                </a:solidFill>
              </a:rPr>
              <a:t>通过这张分类信息卡，我们可以清楚地看到，鲫鱼属于动物界、脊索动物门，具体来说是辐鳍鱼纲、鲤形目、鲤科、鲫属的一员，学名为Carassius auratus。</a:t>
            </a:r>
          </a:p>
          <a:p>
            <a:pPr indent="0" algn="l">
              <a:lnSpc>
                <a:spcPct val="100000"/>
              </a:lnSpc>
            </a:pPr>
            <a:r>
              <a:rPr lang="en-US" sz="1400" b="0" i="0" u="none" strike="noStrike" dirty="0" err="1">
                <a:solidFill>
                  <a:srgbClr val="000000"/>
                </a:solidFill>
              </a:rPr>
              <a:t>这个分类系统帮助我们准确地定位了鲫鱼在生命之树上的位置，也揭示了它与其他鱼类的亲缘关系</a:t>
            </a:r>
            <a:r>
              <a:rPr lang="en-US" sz="1400" b="0" i="0" u="none" strike="noStrike" dirty="0">
                <a:solidFill>
                  <a:srgbClr val="000000"/>
                </a:solidFill>
              </a:rPr>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dirty="0">
                <a:solidFill>
                  <a:srgbClr val="000000"/>
                </a:solidFill>
              </a:rPr>
              <a:t>了解了鲫鱼的分类，我们再来看看它具体长什么样。鲫鱼的身体侧扁而高，像一个纺锤，这让它在水里游动时非常灵活。它的背部是青灰色的，腹部是银白色的，这是一种非常有效的保护色，能帮助它在水中很好地隐藏自己。它的鳞片大而圆，表面还有粘液，能减少水的阻力。它的鳍，特别是尾鳍，是它前进的动力来源。这些形态特征都不是偶然的，而是长期适应环境的结果。</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dirty="0" err="1">
                <a:solidFill>
                  <a:srgbClr val="000000"/>
                </a:solidFill>
              </a:rPr>
              <a:t>接下来，我们看看鲫鱼生活在什么样的环境中。鲫鱼的适应能力非常强，可以说是淡水鱼中的“生存大师</a:t>
            </a:r>
            <a:r>
              <a:rPr lang="en-US" sz="1400" b="0" i="0" u="none" strike="noStrike" dirty="0">
                <a:solidFill>
                  <a:srgbClr val="000000"/>
                </a:solidFill>
              </a:rPr>
              <a:t>”。</a:t>
            </a:r>
          </a:p>
          <a:p>
            <a:pPr indent="0" algn="l">
              <a:lnSpc>
                <a:spcPct val="100000"/>
              </a:lnSpc>
            </a:pPr>
            <a:r>
              <a:rPr lang="en-US" sz="1400" b="0" i="0" u="none" strike="noStrike" dirty="0" err="1">
                <a:solidFill>
                  <a:srgbClr val="000000"/>
                </a:solidFill>
              </a:rPr>
              <a:t>它原产于亚洲，现在已经遍布世界各地的淡水水域。在中国，除了青藏高原，几乎哪里都有它</a:t>
            </a:r>
            <a:r>
              <a:rPr lang="en-US" sz="1400" b="0" i="0" u="none" strike="noStrike" dirty="0">
                <a:solidFill>
                  <a:srgbClr val="000000"/>
                </a:solidFill>
              </a:rPr>
              <a:t>。</a:t>
            </a:r>
          </a:p>
          <a:p>
            <a:pPr indent="0" algn="l">
              <a:lnSpc>
                <a:spcPct val="100000"/>
              </a:lnSpc>
            </a:pPr>
            <a:r>
              <a:rPr lang="en-US" sz="1400" b="0" i="0" u="none" strike="noStrike" dirty="0">
                <a:solidFill>
                  <a:srgbClr val="000000"/>
                </a:solidFill>
              </a:rPr>
              <a:t>它最喜欢的家园是那些水草丛生、水流缓慢的浅水区，比如我们常见的池塘、河流边。无论是水质好的地方还是水质一般的地方，它都能很好地适应。</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dirty="0">
                <a:solidFill>
                  <a:srgbClr val="000000"/>
                </a:solidFill>
              </a:rPr>
              <a:t>鲫鱼的适应能力具体体现在哪些方面呢？首先是水质，它对水中的氧气含量要求不高，即使在比较浑浊的水里也能生存。其次是温度，它是一种广温鱼，从冰点到32度的水温它都能忍受，这让它能够适应不同地区的气候条件。这种强大的环境适应能力，是它能够广泛分布的重要原因。</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dirty="0">
                <a:solidFill>
                  <a:srgbClr val="000000"/>
                </a:solidFill>
              </a:rPr>
              <a:t>民以食为天，鱼也一样。鲫鱼是个不挑食的“</a:t>
            </a:r>
            <a:r>
              <a:rPr lang="en-US" sz="1400" b="0" i="0" u="none" strike="noStrike" dirty="0" err="1">
                <a:solidFill>
                  <a:srgbClr val="000000"/>
                </a:solidFill>
              </a:rPr>
              <a:t>杂食家</a:t>
            </a:r>
            <a:r>
              <a:rPr lang="en-US" sz="1400" b="0" i="0" u="none" strike="noStrike" dirty="0">
                <a:solidFill>
                  <a:srgbClr val="000000"/>
                </a:solidFill>
              </a:rPr>
              <a:t>”，</a:t>
            </a:r>
            <a:r>
              <a:rPr lang="en-US" sz="1400" b="0" i="0" u="none" strike="noStrike" dirty="0" err="1">
                <a:solidFill>
                  <a:srgbClr val="000000"/>
                </a:solidFill>
              </a:rPr>
              <a:t>水里的浮游生物、小虫子、水草、甚至是水底的腐殖质，都是它的食物</a:t>
            </a:r>
            <a:r>
              <a:rPr lang="en-US" sz="1400" b="0" i="0" u="none" strike="noStrike" dirty="0">
                <a:solidFill>
                  <a:srgbClr val="000000"/>
                </a:solidFill>
              </a:rPr>
              <a:t>。</a:t>
            </a:r>
          </a:p>
          <a:p>
            <a:pPr indent="0" algn="l">
              <a:lnSpc>
                <a:spcPct val="100000"/>
              </a:lnSpc>
            </a:pPr>
            <a:r>
              <a:rPr lang="en-US" sz="1400" b="0" i="0" u="none" strike="noStrike" dirty="0">
                <a:solidFill>
                  <a:srgbClr val="000000"/>
                </a:solidFill>
              </a:rPr>
              <a:t>它的觅食方式也很特别，会用嘴在泥里拱来拱去，寻找食物。这种不挑剔的食性和独特的觅食方式，让它在各种环境下都能找到吃的，进一步增强了它的生存能力。</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dirty="0">
                <a:solidFill>
                  <a:srgbClr val="000000"/>
                </a:solidFill>
              </a:rPr>
              <a:t>现在我们进入最核心的部分：鲫鱼是如何适应它的生存环境的。首先看它的形态结构。鲫鱼的各个鱼鳍分工明确，配合默契。尾鳍是主要的动力来源，负责前进和转向；背鳍和臀鳍像稳定器一样，防止身体侧翻；胸鳍和腹鳍则负责调整方向和保持平衡。这套完美的“推进与控制系统”，让鲫鱼在水中行动自如。</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dirty="0" err="1">
                <a:solidFill>
                  <a:srgbClr val="000000"/>
                </a:solidFill>
              </a:rPr>
              <a:t>除了鱼鳍，鲫鱼的身体形状和皮肤也大有学问。它的身体像一个纺锤，这种流线型设计能让它在水里快速穿梭，减少阻力</a:t>
            </a:r>
            <a:r>
              <a:rPr lang="en-US" sz="1400" b="0" i="0" u="none" strike="noStrike" dirty="0">
                <a:solidFill>
                  <a:srgbClr val="000000"/>
                </a:solidFill>
              </a:rPr>
              <a:t>。</a:t>
            </a:r>
          </a:p>
          <a:p>
            <a:pPr indent="0" algn="l">
              <a:lnSpc>
                <a:spcPct val="100000"/>
              </a:lnSpc>
            </a:pPr>
            <a:r>
              <a:rPr lang="en-US" sz="1400" b="0" i="0" u="none" strike="noStrike" dirty="0" err="1">
                <a:solidFill>
                  <a:srgbClr val="000000"/>
                </a:solidFill>
              </a:rPr>
              <a:t>它的鳞片不仅是盔甲，能保护自己，上面还有一层粘液，让它的身体更光滑，游起来更轻松。这些看似简单的结构，都是自然选择的精妙设计</a:t>
            </a:r>
            <a:r>
              <a:rPr lang="en-US" sz="1400" b="0" i="0" u="none" strike="noStrike" dirty="0">
                <a:solidFill>
                  <a:srgbClr val="000000"/>
                </a:solidFill>
              </a:rPr>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dirty="0" err="1">
                <a:solidFill>
                  <a:srgbClr val="000000"/>
                </a:solidFill>
              </a:rPr>
              <a:t>在生理功能上，鲫鱼的适应同样出色。首先是呼吸，它用鳃来呼吸</a:t>
            </a:r>
            <a:r>
              <a:rPr lang="en-US" sz="1400" b="0" i="0" u="none" strike="noStrike" dirty="0">
                <a:solidFill>
                  <a:srgbClr val="000000"/>
                </a:solidFill>
              </a:rPr>
              <a:t>。</a:t>
            </a:r>
          </a:p>
          <a:p>
            <a:pPr indent="0" algn="l">
              <a:lnSpc>
                <a:spcPct val="100000"/>
              </a:lnSpc>
            </a:pPr>
            <a:r>
              <a:rPr lang="en-US" sz="1400" b="0" i="0" u="none" strike="noStrike" dirty="0" err="1">
                <a:solidFill>
                  <a:srgbClr val="000000"/>
                </a:solidFill>
              </a:rPr>
              <a:t>大家请看左侧的示意图，鳃的结构非常精巧，位于头部两侧，由许多鳃丝组成，这些鳃丝上布满了毛细血管，就像一个高效的气体交换器</a:t>
            </a:r>
            <a:r>
              <a:rPr lang="en-US" sz="1400" b="0" i="0" u="none" strike="noStrike" dirty="0">
                <a:solidFill>
                  <a:srgbClr val="000000"/>
                </a:solidFill>
              </a:rPr>
              <a:t>。</a:t>
            </a:r>
          </a:p>
          <a:p>
            <a:pPr indent="0" algn="l">
              <a:lnSpc>
                <a:spcPct val="100000"/>
              </a:lnSpc>
            </a:pPr>
            <a:r>
              <a:rPr lang="en-US" sz="1400" b="0" i="0" u="none" strike="noStrike" dirty="0">
                <a:solidFill>
                  <a:srgbClr val="000000"/>
                </a:solidFill>
              </a:rPr>
              <a:t>当水从口中进入，经过鳃部时，水中的氧气就被吸收到血液里，同时排出二氧化碳。这套高效的呼吸系统，让鲫鱼能够在水中自由呼吸，完美适应了水生环境。</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dirty="0" err="1">
                <a:solidFill>
                  <a:srgbClr val="000000"/>
                </a:solidFill>
              </a:rPr>
              <a:t>另一个神奇的生理结构是鱼鳔。它就像一个内置的“潜水艇压载舱</a:t>
            </a:r>
            <a:r>
              <a:rPr lang="en-US" sz="1400" b="0" i="0" u="none" strike="noStrike" dirty="0">
                <a:solidFill>
                  <a:srgbClr val="000000"/>
                </a:solidFill>
              </a:rPr>
              <a:t>”。</a:t>
            </a:r>
          </a:p>
          <a:p>
            <a:pPr indent="0" algn="l">
              <a:lnSpc>
                <a:spcPct val="100000"/>
              </a:lnSpc>
            </a:pPr>
            <a:r>
              <a:rPr lang="en-US" sz="1400" b="0" i="0" u="none" strike="noStrike" dirty="0" err="1">
                <a:solidFill>
                  <a:srgbClr val="000000"/>
                </a:solidFill>
              </a:rPr>
              <a:t>通过调节鱼鳔里的空气量，鲫鱼可以轻松地控制自己在水中的沉浮。想上浮，就给鱼鳔充气；想下潜，就放掉一部分气</a:t>
            </a:r>
            <a:r>
              <a:rPr lang="en-US" sz="1400" b="0" i="0" u="none" strike="noStrike" dirty="0">
                <a:solidFill>
                  <a:srgbClr val="000000"/>
                </a:solidFill>
              </a:rPr>
              <a:t>。</a:t>
            </a:r>
          </a:p>
          <a:p>
            <a:pPr indent="0" algn="l">
              <a:lnSpc>
                <a:spcPct val="100000"/>
              </a:lnSpc>
            </a:pPr>
            <a:r>
              <a:rPr lang="en-US" sz="1400" b="0" i="0" u="none" strike="noStrike" dirty="0" err="1">
                <a:solidFill>
                  <a:srgbClr val="000000"/>
                </a:solidFill>
              </a:rPr>
              <a:t>这个巧妙的设计，让它能够在水中自由地上下游动，而不需要一直靠鱼鳍划水来维持深度，极大地节省了能量</a:t>
            </a:r>
            <a:r>
              <a:rPr lang="en-US" sz="1400" b="0" i="0" u="none" strike="noStrike" dirty="0">
                <a:solidFill>
                  <a:srgbClr val="000000"/>
                </a:solidFill>
              </a:rPr>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dirty="0">
                <a:solidFill>
                  <a:srgbClr val="000000"/>
                </a:solidFill>
              </a:rPr>
              <a:t>除了身体结构和生理功能，鲫鱼的行为也充满了智慧。它们喜欢成群结队地活动，这样更安全，也更容易找到食物。遇到危险时，它们会迅速躲进水草里。在繁殖的时候，它们会选择水草多的浅水区产卵，让鱼卵附着在水草上，提高存活率。这些行为都是它们在长期进化中形成的生存策略。</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dirty="0">
                <a:solidFill>
                  <a:srgbClr val="000000"/>
                </a:solidFill>
              </a:rPr>
              <a:t>研究鲫鱼，不仅仅是为了了解自然，更是为了从中汲取设计的灵感。鲫鱼的流线型身体，就是一个完美的设计案例。人类模仿这种形状，设计出了汽车、火车、飞机和潜艇，让它们在空气或水中行驶时受到的阻力更小，跑得更快，也更节能。这就是仿生设计的魅力。</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dirty="0">
                <a:solidFill>
                  <a:srgbClr val="000000"/>
                </a:solidFill>
              </a:rPr>
              <a:t>特别是在水下机器人领域，鲫鱼的游动方式给了科学家们巨大的启发。他们制造出了仿生鱼机器人，这些机器人能够像真的鱼一样摆动尾巴前进，非常灵活和安静。它们可以用于水下勘探、环境监测，甚至在救援行动中发挥作用。这正是自然智慧为人类科技发展提供动力的最好例证。</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最后，我要感谢老师在《自然与设计》这门课程中的悉心指导，让我有机会系统地学习和探索自然与设计之间的联系。也感谢同学们在学习过程中的交流和帮助。我的汇报到此结束，谢谢大家！</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标题幻灯片" type="title">
  <p:cSld name="TITLE">
    <p:spTree>
      <p:nvGrpSpPr>
        <p:cNvPr id="1" name="Shape 11"/>
        <p:cNvGrpSpPr/>
        <p:nvPr/>
      </p:nvGrpSpPr>
      <p:grpSpPr>
        <a:xfrm>
          <a:off x="0" y="0"/>
          <a:ext cx="0" cy="0"/>
          <a:chOff x="0" y="0"/>
          <a:chExt cx="0" cy="0"/>
        </a:xfrm>
      </p:grpSpPr>
      <p:sp>
        <p:nvSpPr>
          <p:cNvPr id="12" name="Shape 30"/>
          <p:cNvSpPr txBox="1">
            <a:spLocks noGrp="1"/>
          </p:cNvSpPr>
          <p:nvPr>
            <p:ph type="ctrTitle"/>
          </p:nvPr>
        </p:nvSpPr>
        <p:spPr>
          <a:xfrm>
            <a:off x="1143000" y="841772"/>
            <a:ext cx="6858000" cy="1790700"/>
          </a:xfrm>
          <a:prstGeom prst="rect">
            <a:avLst/>
          </a:prstGeom>
          <a:noFill/>
          <a:ln>
            <a:noFill/>
          </a:ln>
        </p:spPr>
        <p:txBody>
          <a:bodyPr spcFirstLastPara="1" wrap="square" lIns="68575" tIns="34275" rIns="68575" bIns="34275" anchor="b" anchorCtr="0">
            <a:normAutofit/>
          </a:bodyPr>
          <a:lstStyle>
            <a:lvl1pPr lvl="0" algn="ctr">
              <a:lnSpc>
                <a:spcPct val="90000"/>
              </a:lnSpc>
              <a:spcBef>
                <a:spcPts val="0"/>
              </a:spcBef>
              <a:spcAft>
                <a:spcPts val="0"/>
              </a:spcAft>
              <a:buClr>
                <a:schemeClr val="dk1"/>
              </a:buClr>
              <a:buSzPts val="4500"/>
              <a:buFont typeface="Arial"/>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13" name="Shape 31"/>
          <p:cNvSpPr txBox="1">
            <a:spLocks noGrp="1"/>
          </p:cNvSpPr>
          <p:nvPr>
            <p:ph type="subTitle" idx="1"/>
          </p:nvPr>
        </p:nvSpPr>
        <p:spPr>
          <a:xfrm>
            <a:off x="1143000" y="2701528"/>
            <a:ext cx="6858000" cy="1241821"/>
          </a:xfrm>
          <a:prstGeom prst="rect">
            <a:avLst/>
          </a:prstGeom>
          <a:noFill/>
          <a:ln>
            <a:noFill/>
          </a:ln>
        </p:spPr>
        <p:txBody>
          <a:bodyPr spcFirstLastPara="1" wrap="square" lIns="68575" tIns="34275" rIns="68575" bIns="34275" anchor="t" anchorCtr="0">
            <a:normAutofit/>
          </a:bodyPr>
          <a:lstStyle>
            <a:lvl1pPr lvl="0" algn="ctr">
              <a:lnSpc>
                <a:spcPct val="90000"/>
              </a:lnSpc>
              <a:spcBef>
                <a:spcPts val="800"/>
              </a:spcBef>
              <a:spcAft>
                <a:spcPts val="0"/>
              </a:spcAft>
              <a:buClr>
                <a:schemeClr val="dk1"/>
              </a:buClr>
              <a:buSzPts val="1800"/>
              <a:buNone/>
              <a:defRPr sz="1800"/>
            </a:lvl1pPr>
            <a:lvl2pPr lvl="1" algn="ctr">
              <a:lnSpc>
                <a:spcPct val="90000"/>
              </a:lnSpc>
              <a:spcBef>
                <a:spcPts val="400"/>
              </a:spcBef>
              <a:spcAft>
                <a:spcPts val="0"/>
              </a:spcAft>
              <a:buClr>
                <a:schemeClr val="dk1"/>
              </a:buClr>
              <a:buSzPts val="1500"/>
              <a:buNone/>
              <a:defRPr sz="1500"/>
            </a:lvl2pPr>
            <a:lvl3pPr lvl="2" algn="ctr">
              <a:lnSpc>
                <a:spcPct val="90000"/>
              </a:lnSpc>
              <a:spcBef>
                <a:spcPts val="400"/>
              </a:spcBef>
              <a:spcAft>
                <a:spcPts val="0"/>
              </a:spcAft>
              <a:buClr>
                <a:schemeClr val="dk1"/>
              </a:buClr>
              <a:buSzPts val="1400"/>
              <a:buNone/>
              <a:defRPr sz="1400"/>
            </a:lvl3pPr>
            <a:lvl4pPr lvl="3" algn="ctr">
              <a:lnSpc>
                <a:spcPct val="90000"/>
              </a:lnSpc>
              <a:spcBef>
                <a:spcPts val="400"/>
              </a:spcBef>
              <a:spcAft>
                <a:spcPts val="0"/>
              </a:spcAft>
              <a:buClr>
                <a:schemeClr val="dk1"/>
              </a:buClr>
              <a:buSzPts val="1200"/>
              <a:buNone/>
              <a:defRPr sz="1200"/>
            </a:lvl4pPr>
            <a:lvl5pPr lvl="4" algn="ctr">
              <a:lnSpc>
                <a:spcPct val="90000"/>
              </a:lnSpc>
              <a:spcBef>
                <a:spcPts val="400"/>
              </a:spcBef>
              <a:spcAft>
                <a:spcPts val="0"/>
              </a:spcAft>
              <a:buClr>
                <a:schemeClr val="dk1"/>
              </a:buClr>
              <a:buSzPts val="1200"/>
              <a:buNone/>
              <a:defRPr sz="1200"/>
            </a:lvl5pPr>
            <a:lvl6pPr lvl="5" algn="ctr">
              <a:lnSpc>
                <a:spcPct val="90000"/>
              </a:lnSpc>
              <a:spcBef>
                <a:spcPts val="400"/>
              </a:spcBef>
              <a:spcAft>
                <a:spcPts val="0"/>
              </a:spcAft>
              <a:buClr>
                <a:schemeClr val="dk1"/>
              </a:buClr>
              <a:buSzPts val="1200"/>
              <a:buNone/>
              <a:defRPr sz="1200"/>
            </a:lvl6pPr>
            <a:lvl7pPr lvl="6" algn="ctr">
              <a:lnSpc>
                <a:spcPct val="90000"/>
              </a:lnSpc>
              <a:spcBef>
                <a:spcPts val="400"/>
              </a:spcBef>
              <a:spcAft>
                <a:spcPts val="0"/>
              </a:spcAft>
              <a:buClr>
                <a:schemeClr val="dk1"/>
              </a:buClr>
              <a:buSzPts val="1200"/>
              <a:buNone/>
              <a:defRPr sz="1200"/>
            </a:lvl7pPr>
            <a:lvl8pPr lvl="7" algn="ctr">
              <a:lnSpc>
                <a:spcPct val="90000"/>
              </a:lnSpc>
              <a:spcBef>
                <a:spcPts val="400"/>
              </a:spcBef>
              <a:spcAft>
                <a:spcPts val="0"/>
              </a:spcAft>
              <a:buClr>
                <a:schemeClr val="dk1"/>
              </a:buClr>
              <a:buSzPts val="1200"/>
              <a:buNone/>
              <a:defRPr sz="1200"/>
            </a:lvl8pPr>
            <a:lvl9pPr lvl="8" algn="ctr">
              <a:lnSpc>
                <a:spcPct val="90000"/>
              </a:lnSpc>
              <a:spcBef>
                <a:spcPts val="400"/>
              </a:spcBef>
              <a:spcAft>
                <a:spcPts val="0"/>
              </a:spcAft>
              <a:buClr>
                <a:schemeClr val="dk1"/>
              </a:buClr>
              <a:buSzPts val="1200"/>
              <a:buNone/>
              <a:defRPr sz="1200"/>
            </a:lvl9pPr>
          </a:lstStyle>
          <a:p>
            <a:endParaRPr/>
          </a:p>
        </p:txBody>
      </p:sp>
      <p:sp>
        <p:nvSpPr>
          <p:cNvPr id="14" name="Shape 32"/>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5" name="Shape 33"/>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6" name="Shape 34"/>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标题和内容" type="obj">
  <p:cSld name="OBJECT">
    <p:spTree>
      <p:nvGrpSpPr>
        <p:cNvPr id="1" name="Shape 17"/>
        <p:cNvGrpSpPr/>
        <p:nvPr/>
      </p:nvGrpSpPr>
      <p:grpSpPr>
        <a:xfrm>
          <a:off x="0" y="0"/>
          <a:ext cx="0" cy="0"/>
          <a:chOff x="0" y="0"/>
          <a:chExt cx="0" cy="0"/>
        </a:xfrm>
      </p:grpSpPr>
      <p:sp>
        <p:nvSpPr>
          <p:cNvPr id="18" name="Shape 54"/>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19" name="Shape 55"/>
          <p:cNvSpPr txBox="1">
            <a:spLocks noGrp="1"/>
          </p:cNvSpPr>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20" name="Shape 56"/>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21" name="Shape 57"/>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22" name="Shape 58"/>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节标题" type="secHead">
  <p:cSld name="SECTION_HEADER">
    <p:spTree>
      <p:nvGrpSpPr>
        <p:cNvPr id="1" name="Shape 23"/>
        <p:cNvGrpSpPr/>
        <p:nvPr/>
      </p:nvGrpSpPr>
      <p:grpSpPr>
        <a:xfrm>
          <a:off x="0" y="0"/>
          <a:ext cx="0" cy="0"/>
          <a:chOff x="0" y="0"/>
          <a:chExt cx="0" cy="0"/>
        </a:xfrm>
      </p:grpSpPr>
      <p:sp>
        <p:nvSpPr>
          <p:cNvPr id="24" name="Shape 59"/>
          <p:cNvSpPr txBox="1">
            <a:spLocks noGrp="1"/>
          </p:cNvSpPr>
          <p:nvPr>
            <p:ph type="title"/>
          </p:nvPr>
        </p:nvSpPr>
        <p:spPr>
          <a:xfrm>
            <a:off x="623888" y="1282304"/>
            <a:ext cx="7886700" cy="2139553"/>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4500"/>
              <a:buFont typeface="Arial"/>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25" name="Shape 60"/>
          <p:cNvSpPr txBox="1">
            <a:spLocks noGrp="1"/>
          </p:cNvSpPr>
          <p:nvPr>
            <p:ph type="body" idx="1"/>
          </p:nvPr>
        </p:nvSpPr>
        <p:spPr>
          <a:xfrm>
            <a:off x="623888" y="3442097"/>
            <a:ext cx="7886700" cy="1125140"/>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rgbClr val="888888"/>
              </a:buClr>
              <a:buSzPts val="1800"/>
              <a:buNone/>
              <a:defRPr sz="1800">
                <a:solidFill>
                  <a:srgbClr val="888888"/>
                </a:solidFill>
              </a:defRPr>
            </a:lvl1pPr>
            <a:lvl2pPr marL="914400" lvl="1" indent="-228600" algn="l">
              <a:lnSpc>
                <a:spcPct val="90000"/>
              </a:lnSpc>
              <a:spcBef>
                <a:spcPts val="400"/>
              </a:spcBef>
              <a:spcAft>
                <a:spcPts val="0"/>
              </a:spcAft>
              <a:buClr>
                <a:srgbClr val="888888"/>
              </a:buClr>
              <a:buSzPts val="1500"/>
              <a:buNone/>
              <a:defRPr sz="1500">
                <a:solidFill>
                  <a:srgbClr val="888888"/>
                </a:solidFill>
              </a:defRPr>
            </a:lvl2pPr>
            <a:lvl3pPr marL="1371600" lvl="2" indent="-228600" algn="l">
              <a:lnSpc>
                <a:spcPct val="90000"/>
              </a:lnSpc>
              <a:spcBef>
                <a:spcPts val="400"/>
              </a:spcBef>
              <a:spcAft>
                <a:spcPts val="0"/>
              </a:spcAft>
              <a:buClr>
                <a:srgbClr val="888888"/>
              </a:buClr>
              <a:buSzPts val="1400"/>
              <a:buNone/>
              <a:defRPr sz="1400">
                <a:solidFill>
                  <a:srgbClr val="888888"/>
                </a:solidFill>
              </a:defRPr>
            </a:lvl3pPr>
            <a:lvl4pPr marL="1828800" lvl="3" indent="-228600" algn="l">
              <a:lnSpc>
                <a:spcPct val="90000"/>
              </a:lnSpc>
              <a:spcBef>
                <a:spcPts val="400"/>
              </a:spcBef>
              <a:spcAft>
                <a:spcPts val="0"/>
              </a:spcAft>
              <a:buClr>
                <a:srgbClr val="888888"/>
              </a:buClr>
              <a:buSzPts val="1200"/>
              <a:buNone/>
              <a:defRPr sz="1200">
                <a:solidFill>
                  <a:srgbClr val="888888"/>
                </a:solidFill>
              </a:defRPr>
            </a:lvl4pPr>
            <a:lvl5pPr marL="2286000" lvl="4" indent="-228600" algn="l">
              <a:lnSpc>
                <a:spcPct val="90000"/>
              </a:lnSpc>
              <a:spcBef>
                <a:spcPts val="400"/>
              </a:spcBef>
              <a:spcAft>
                <a:spcPts val="0"/>
              </a:spcAft>
              <a:buClr>
                <a:srgbClr val="888888"/>
              </a:buClr>
              <a:buSzPts val="1200"/>
              <a:buNone/>
              <a:defRPr sz="1200">
                <a:solidFill>
                  <a:srgbClr val="888888"/>
                </a:solidFill>
              </a:defRPr>
            </a:lvl5pPr>
            <a:lvl6pPr marL="2743200" lvl="5" indent="-228600" algn="l">
              <a:lnSpc>
                <a:spcPct val="90000"/>
              </a:lnSpc>
              <a:spcBef>
                <a:spcPts val="400"/>
              </a:spcBef>
              <a:spcAft>
                <a:spcPts val="0"/>
              </a:spcAft>
              <a:buClr>
                <a:srgbClr val="888888"/>
              </a:buClr>
              <a:buSzPts val="1200"/>
              <a:buNone/>
              <a:defRPr sz="1200">
                <a:solidFill>
                  <a:srgbClr val="888888"/>
                </a:solidFill>
              </a:defRPr>
            </a:lvl6pPr>
            <a:lvl7pPr marL="3200400" lvl="6" indent="-228600" algn="l">
              <a:lnSpc>
                <a:spcPct val="90000"/>
              </a:lnSpc>
              <a:spcBef>
                <a:spcPts val="400"/>
              </a:spcBef>
              <a:spcAft>
                <a:spcPts val="0"/>
              </a:spcAft>
              <a:buClr>
                <a:srgbClr val="888888"/>
              </a:buClr>
              <a:buSzPts val="1200"/>
              <a:buNone/>
              <a:defRPr sz="1200">
                <a:solidFill>
                  <a:srgbClr val="888888"/>
                </a:solidFill>
              </a:defRPr>
            </a:lvl7pPr>
            <a:lvl8pPr marL="3657600" lvl="7" indent="-228600" algn="l">
              <a:lnSpc>
                <a:spcPct val="90000"/>
              </a:lnSpc>
              <a:spcBef>
                <a:spcPts val="400"/>
              </a:spcBef>
              <a:spcAft>
                <a:spcPts val="0"/>
              </a:spcAft>
              <a:buClr>
                <a:srgbClr val="888888"/>
              </a:buClr>
              <a:buSzPts val="1200"/>
              <a:buNone/>
              <a:defRPr sz="1200">
                <a:solidFill>
                  <a:srgbClr val="888888"/>
                </a:solidFill>
              </a:defRPr>
            </a:lvl8pPr>
            <a:lvl9pPr marL="4114800" lvl="8" indent="-228600" algn="l">
              <a:lnSpc>
                <a:spcPct val="90000"/>
              </a:lnSpc>
              <a:spcBef>
                <a:spcPts val="400"/>
              </a:spcBef>
              <a:spcAft>
                <a:spcPts val="0"/>
              </a:spcAft>
              <a:buClr>
                <a:srgbClr val="888888"/>
              </a:buClr>
              <a:buSzPts val="1200"/>
              <a:buNone/>
              <a:defRPr sz="1200">
                <a:solidFill>
                  <a:srgbClr val="888888"/>
                </a:solidFill>
              </a:defRPr>
            </a:lvl9pPr>
          </a:lstStyle>
          <a:p>
            <a:endParaRPr/>
          </a:p>
        </p:txBody>
      </p:sp>
      <p:sp>
        <p:nvSpPr>
          <p:cNvPr id="26" name="Shape 61"/>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27" name="Shape 62"/>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28" name="Shape 63"/>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两栏内容" type="twoObj">
  <p:cSld name="TWO_OBJECTS">
    <p:spTree>
      <p:nvGrpSpPr>
        <p:cNvPr id="1" name="Shape 29"/>
        <p:cNvGrpSpPr/>
        <p:nvPr/>
      </p:nvGrpSpPr>
      <p:grpSpPr>
        <a:xfrm>
          <a:off x="0" y="0"/>
          <a:ext cx="0" cy="0"/>
          <a:chOff x="0" y="0"/>
          <a:chExt cx="0" cy="0"/>
        </a:xfrm>
      </p:grpSpPr>
      <p:sp>
        <p:nvSpPr>
          <p:cNvPr id="30" name="Shape 9"/>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31" name="Shape 10"/>
          <p:cNvSpPr txBox="1">
            <a:spLocks noGrp="1"/>
          </p:cNvSpPr>
          <p:nvPr>
            <p:ph type="body" idx="1"/>
          </p:nvPr>
        </p:nvSpPr>
        <p:spPr>
          <a:xfrm>
            <a:off x="6286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32" name="Shape 11"/>
          <p:cNvSpPr txBox="1">
            <a:spLocks noGrp="1"/>
          </p:cNvSpPr>
          <p:nvPr>
            <p:ph type="body" idx="2"/>
          </p:nvPr>
        </p:nvSpPr>
        <p:spPr>
          <a:xfrm>
            <a:off x="46291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33" name="Shape 12"/>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34" name="Shape 13"/>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35" name="Shape 14"/>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比较" type="twoTxTwoObj">
  <p:cSld name="TWO_OBJECTS_WITH_TEXT">
    <p:spTree>
      <p:nvGrpSpPr>
        <p:cNvPr id="1" name="Shape 36"/>
        <p:cNvGrpSpPr/>
        <p:nvPr/>
      </p:nvGrpSpPr>
      <p:grpSpPr>
        <a:xfrm>
          <a:off x="0" y="0"/>
          <a:ext cx="0" cy="0"/>
          <a:chOff x="0" y="0"/>
          <a:chExt cx="0" cy="0"/>
        </a:xfrm>
      </p:grpSpPr>
      <p:sp>
        <p:nvSpPr>
          <p:cNvPr id="37" name="Shape 35"/>
          <p:cNvSpPr txBox="1">
            <a:spLocks noGrp="1"/>
          </p:cNvSpPr>
          <p:nvPr>
            <p:ph type="title"/>
          </p:nvPr>
        </p:nvSpPr>
        <p:spPr>
          <a:xfrm>
            <a:off x="629841"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38" name="Shape 36"/>
          <p:cNvSpPr txBox="1">
            <a:spLocks noGrp="1"/>
          </p:cNvSpPr>
          <p:nvPr>
            <p:ph type="body" idx="1"/>
          </p:nvPr>
        </p:nvSpPr>
        <p:spPr>
          <a:xfrm>
            <a:off x="629841" y="1260872"/>
            <a:ext cx="3868340"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a:endParaRPr/>
          </a:p>
        </p:txBody>
      </p:sp>
      <p:sp>
        <p:nvSpPr>
          <p:cNvPr id="39" name="Shape 37"/>
          <p:cNvSpPr txBox="1">
            <a:spLocks noGrp="1"/>
          </p:cNvSpPr>
          <p:nvPr>
            <p:ph type="body" idx="2"/>
          </p:nvPr>
        </p:nvSpPr>
        <p:spPr>
          <a:xfrm>
            <a:off x="629841" y="1878806"/>
            <a:ext cx="3868340"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40" name="Shape 38"/>
          <p:cNvSpPr txBox="1">
            <a:spLocks noGrp="1"/>
          </p:cNvSpPr>
          <p:nvPr>
            <p:ph type="body" idx="3"/>
          </p:nvPr>
        </p:nvSpPr>
        <p:spPr>
          <a:xfrm>
            <a:off x="4629150" y="1260872"/>
            <a:ext cx="3887391"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a:endParaRPr/>
          </a:p>
        </p:txBody>
      </p:sp>
      <p:sp>
        <p:nvSpPr>
          <p:cNvPr id="41" name="Shape 39"/>
          <p:cNvSpPr txBox="1">
            <a:spLocks noGrp="1"/>
          </p:cNvSpPr>
          <p:nvPr>
            <p:ph type="body" idx="4"/>
          </p:nvPr>
        </p:nvSpPr>
        <p:spPr>
          <a:xfrm>
            <a:off x="4629150" y="1878806"/>
            <a:ext cx="3887391"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42" name="Shape 40"/>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43" name="Shape 41"/>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44" name="Shape 42"/>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仅标题" type="titleOnly">
  <p:cSld name="TITLE_ONLY">
    <p:spTree>
      <p:nvGrpSpPr>
        <p:cNvPr id="1" name="Shape 45"/>
        <p:cNvGrpSpPr/>
        <p:nvPr/>
      </p:nvGrpSpPr>
      <p:grpSpPr>
        <a:xfrm>
          <a:off x="0" y="0"/>
          <a:ext cx="0" cy="0"/>
          <a:chOff x="0" y="0"/>
          <a:chExt cx="0" cy="0"/>
        </a:xfrm>
      </p:grpSpPr>
      <p:sp>
        <p:nvSpPr>
          <p:cNvPr id="46" name="Shape 20"/>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47" name="Shape 21"/>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48" name="Shape 22"/>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49" name="Shape 23"/>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空白" type="blank">
  <p:cSld name="BLANK">
    <p:spTree>
      <p:nvGrpSpPr>
        <p:cNvPr id="1" name="Shape 50"/>
        <p:cNvGrpSpPr/>
        <p:nvPr/>
      </p:nvGrpSpPr>
      <p:grpSpPr>
        <a:xfrm>
          <a:off x="0" y="0"/>
          <a:ext cx="0" cy="0"/>
          <a:chOff x="0" y="0"/>
          <a:chExt cx="0" cy="0"/>
        </a:xfrm>
      </p:grpSpPr>
      <p:sp>
        <p:nvSpPr>
          <p:cNvPr id="51" name="Shape 6"/>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52" name="Shape 7"/>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53" name="Shape 8"/>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内容与标题" type="objTx">
  <p:cSld name="OBJECT_WITH_CAPTION_TEXT">
    <p:spTree>
      <p:nvGrpSpPr>
        <p:cNvPr id="1" name="Shape 54"/>
        <p:cNvGrpSpPr/>
        <p:nvPr/>
      </p:nvGrpSpPr>
      <p:grpSpPr>
        <a:xfrm>
          <a:off x="0" y="0"/>
          <a:ext cx="0" cy="0"/>
          <a:chOff x="0" y="0"/>
          <a:chExt cx="0" cy="0"/>
        </a:xfrm>
      </p:grpSpPr>
      <p:sp>
        <p:nvSpPr>
          <p:cNvPr id="55" name="Shape 43"/>
          <p:cNvSpPr txBox="1">
            <a:spLocks noGrp="1"/>
          </p:cNvSpPr>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56" name="Shape 44"/>
          <p:cNvSpPr txBox="1">
            <a:spLocks noGrp="1"/>
          </p:cNvSpPr>
          <p:nvPr>
            <p:ph type="body" idx="1"/>
          </p:nvPr>
        </p:nvSpPr>
        <p:spPr>
          <a:xfrm>
            <a:off x="3887391" y="740569"/>
            <a:ext cx="4629150" cy="3655219"/>
          </a:xfrm>
          <a:prstGeom prst="rect">
            <a:avLst/>
          </a:prstGeom>
          <a:noFill/>
          <a:ln>
            <a:noFill/>
          </a:ln>
        </p:spPr>
        <p:txBody>
          <a:bodyPr spcFirstLastPara="1" wrap="square" lIns="68575" tIns="34275" rIns="68575" bIns="34275" anchor="t" anchorCtr="0">
            <a:normAutofit/>
          </a:bodyPr>
          <a:lstStyle>
            <a:lvl1pPr marL="457200" lvl="0" indent="-381000" algn="l">
              <a:lnSpc>
                <a:spcPct val="90000"/>
              </a:lnSpc>
              <a:spcBef>
                <a:spcPts val="800"/>
              </a:spcBef>
              <a:spcAft>
                <a:spcPts val="0"/>
              </a:spcAft>
              <a:buClr>
                <a:schemeClr val="dk1"/>
              </a:buClr>
              <a:buSzPts val="2400"/>
              <a:buChar char="•"/>
              <a:defRPr sz="2400"/>
            </a:lvl1pPr>
            <a:lvl2pPr marL="914400" lvl="1" indent="-361950" algn="l">
              <a:lnSpc>
                <a:spcPct val="90000"/>
              </a:lnSpc>
              <a:spcBef>
                <a:spcPts val="400"/>
              </a:spcBef>
              <a:spcAft>
                <a:spcPts val="0"/>
              </a:spcAft>
              <a:buClr>
                <a:schemeClr val="dk1"/>
              </a:buClr>
              <a:buSzPts val="2100"/>
              <a:buChar char="•"/>
              <a:defRPr sz="2100"/>
            </a:lvl2pPr>
            <a:lvl3pPr marL="1371600" lvl="2" indent="-342900" algn="l">
              <a:lnSpc>
                <a:spcPct val="90000"/>
              </a:lnSpc>
              <a:spcBef>
                <a:spcPts val="400"/>
              </a:spcBef>
              <a:spcAft>
                <a:spcPts val="0"/>
              </a:spcAft>
              <a:buClr>
                <a:schemeClr val="dk1"/>
              </a:buClr>
              <a:buSzPts val="1800"/>
              <a:buChar char="•"/>
              <a:defRPr sz="1800"/>
            </a:lvl3pPr>
            <a:lvl4pPr marL="1828800" lvl="3" indent="-323850" algn="l">
              <a:lnSpc>
                <a:spcPct val="90000"/>
              </a:lnSpc>
              <a:spcBef>
                <a:spcPts val="400"/>
              </a:spcBef>
              <a:spcAft>
                <a:spcPts val="0"/>
              </a:spcAft>
              <a:buClr>
                <a:schemeClr val="dk1"/>
              </a:buClr>
              <a:buSzPts val="1500"/>
              <a:buChar char="•"/>
              <a:defRPr sz="1500"/>
            </a:lvl4pPr>
            <a:lvl5pPr marL="2286000" lvl="4" indent="-323850" algn="l">
              <a:lnSpc>
                <a:spcPct val="90000"/>
              </a:lnSpc>
              <a:spcBef>
                <a:spcPts val="400"/>
              </a:spcBef>
              <a:spcAft>
                <a:spcPts val="0"/>
              </a:spcAft>
              <a:buClr>
                <a:schemeClr val="dk1"/>
              </a:buClr>
              <a:buSzPts val="1500"/>
              <a:buChar char="•"/>
              <a:defRPr sz="1500"/>
            </a:lvl5pPr>
            <a:lvl6pPr marL="2743200" lvl="5" indent="-323850" algn="l">
              <a:lnSpc>
                <a:spcPct val="90000"/>
              </a:lnSpc>
              <a:spcBef>
                <a:spcPts val="400"/>
              </a:spcBef>
              <a:spcAft>
                <a:spcPts val="0"/>
              </a:spcAft>
              <a:buClr>
                <a:schemeClr val="dk1"/>
              </a:buClr>
              <a:buSzPts val="1500"/>
              <a:buChar char="•"/>
              <a:defRPr sz="1500"/>
            </a:lvl6pPr>
            <a:lvl7pPr marL="3200400" lvl="6" indent="-323850" algn="l">
              <a:lnSpc>
                <a:spcPct val="90000"/>
              </a:lnSpc>
              <a:spcBef>
                <a:spcPts val="400"/>
              </a:spcBef>
              <a:spcAft>
                <a:spcPts val="0"/>
              </a:spcAft>
              <a:buClr>
                <a:schemeClr val="dk1"/>
              </a:buClr>
              <a:buSzPts val="1500"/>
              <a:buChar char="•"/>
              <a:defRPr sz="1500"/>
            </a:lvl7pPr>
            <a:lvl8pPr marL="3657600" lvl="7" indent="-323850" algn="l">
              <a:lnSpc>
                <a:spcPct val="90000"/>
              </a:lnSpc>
              <a:spcBef>
                <a:spcPts val="400"/>
              </a:spcBef>
              <a:spcAft>
                <a:spcPts val="0"/>
              </a:spcAft>
              <a:buClr>
                <a:schemeClr val="dk1"/>
              </a:buClr>
              <a:buSzPts val="1500"/>
              <a:buChar char="•"/>
              <a:defRPr sz="1500"/>
            </a:lvl8pPr>
            <a:lvl9pPr marL="4114800" lvl="8" indent="-323850" algn="l">
              <a:lnSpc>
                <a:spcPct val="90000"/>
              </a:lnSpc>
              <a:spcBef>
                <a:spcPts val="400"/>
              </a:spcBef>
              <a:spcAft>
                <a:spcPts val="0"/>
              </a:spcAft>
              <a:buClr>
                <a:schemeClr val="dk1"/>
              </a:buClr>
              <a:buSzPts val="1500"/>
              <a:buChar char="•"/>
              <a:defRPr sz="1500"/>
            </a:lvl9pPr>
          </a:lstStyle>
          <a:p>
            <a:endParaRPr/>
          </a:p>
        </p:txBody>
      </p:sp>
      <p:sp>
        <p:nvSpPr>
          <p:cNvPr id="57" name="Shape 45"/>
          <p:cNvSpPr txBox="1">
            <a:spLocks noGrp="1"/>
          </p:cNvSpPr>
          <p:nvPr>
            <p:ph type="body" idx="2"/>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a:endParaRPr/>
          </a:p>
        </p:txBody>
      </p:sp>
      <p:sp>
        <p:nvSpPr>
          <p:cNvPr id="58" name="Shape 46"/>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59" name="Shape 47"/>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60" name="Shape 48"/>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图片与标题" type="picTx">
  <p:cSld name="PICTURE_WITH_CAPTION_TEXT">
    <p:spTree>
      <p:nvGrpSpPr>
        <p:cNvPr id="1" name="Shape 61"/>
        <p:cNvGrpSpPr/>
        <p:nvPr/>
      </p:nvGrpSpPr>
      <p:grpSpPr>
        <a:xfrm>
          <a:off x="0" y="0"/>
          <a:ext cx="0" cy="0"/>
          <a:chOff x="0" y="0"/>
          <a:chExt cx="0" cy="0"/>
        </a:xfrm>
      </p:grpSpPr>
      <p:sp>
        <p:nvSpPr>
          <p:cNvPr id="62" name="Shape 24"/>
          <p:cNvSpPr txBox="1">
            <a:spLocks noGrp="1"/>
          </p:cNvSpPr>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63" name="Shape 25"/>
          <p:cNvSpPr>
            <a:spLocks noGrp="1"/>
          </p:cNvSpPr>
          <p:nvPr>
            <p:ph type="pic" idx="2"/>
          </p:nvPr>
        </p:nvSpPr>
        <p:spPr>
          <a:xfrm>
            <a:off x="3887391" y="740569"/>
            <a:ext cx="4629150" cy="3655219"/>
          </a:xfrm>
          <a:prstGeom prst="rect">
            <a:avLst/>
          </a:prstGeom>
          <a:noFill/>
          <a:ln>
            <a:noFill/>
          </a:ln>
        </p:spPr>
      </p:sp>
      <p:sp>
        <p:nvSpPr>
          <p:cNvPr id="64" name="Shape 26"/>
          <p:cNvSpPr txBox="1">
            <a:spLocks noGrp="1"/>
          </p:cNvSpPr>
          <p:nvPr>
            <p:ph type="body" idx="1"/>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a:endParaRPr/>
          </a:p>
        </p:txBody>
      </p:sp>
      <p:sp>
        <p:nvSpPr>
          <p:cNvPr id="65" name="Shape 27"/>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66" name="Shape 28"/>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67" name="Shape 29"/>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标题和竖排文字" type="vertTx">
  <p:cSld name="VERTICAL_TEXT">
    <p:spTree>
      <p:nvGrpSpPr>
        <p:cNvPr id="1" name="Shape 68"/>
        <p:cNvGrpSpPr/>
        <p:nvPr/>
      </p:nvGrpSpPr>
      <p:grpSpPr>
        <a:xfrm>
          <a:off x="0" y="0"/>
          <a:ext cx="0" cy="0"/>
          <a:chOff x="0" y="0"/>
          <a:chExt cx="0" cy="0"/>
        </a:xfrm>
      </p:grpSpPr>
      <p:sp>
        <p:nvSpPr>
          <p:cNvPr id="69" name="Shape 49"/>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70" name="Shape 50"/>
          <p:cNvSpPr txBox="1">
            <a:spLocks noGrp="1"/>
          </p:cNvSpPr>
          <p:nvPr>
            <p:ph type="body" idx="1"/>
          </p:nvPr>
        </p:nvSpPr>
        <p:spPr>
          <a:xfrm rot="5400000">
            <a:off x="2940248" y="-942379"/>
            <a:ext cx="3263504" cy="7886700"/>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71" name="Shape 51"/>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72" name="Shape 52"/>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73" name="Shape 53"/>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竖排标题与文本" type="vertTitleAndTx">
  <p:cSld name="VERTICAL_TITLE_AND_VERTICAL_TEXT">
    <p:spTree>
      <p:nvGrpSpPr>
        <p:cNvPr id="1" name="Shape 74"/>
        <p:cNvGrpSpPr/>
        <p:nvPr/>
      </p:nvGrpSpPr>
      <p:grpSpPr>
        <a:xfrm>
          <a:off x="0" y="0"/>
          <a:ext cx="0" cy="0"/>
          <a:chOff x="0" y="0"/>
          <a:chExt cx="0" cy="0"/>
        </a:xfrm>
      </p:grpSpPr>
      <p:sp>
        <p:nvSpPr>
          <p:cNvPr id="75" name="Shape 15"/>
          <p:cNvSpPr txBox="1">
            <a:spLocks noGrp="1"/>
          </p:cNvSpPr>
          <p:nvPr>
            <p:ph type="title"/>
          </p:nvPr>
        </p:nvSpPr>
        <p:spPr>
          <a:xfrm rot="5400000">
            <a:off x="5350073" y="1467445"/>
            <a:ext cx="4358879" cy="1971675"/>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76" name="Shape 16"/>
          <p:cNvSpPr txBox="1">
            <a:spLocks noGrp="1"/>
          </p:cNvSpPr>
          <p:nvPr>
            <p:ph type="body" idx="1"/>
          </p:nvPr>
        </p:nvSpPr>
        <p:spPr>
          <a:xfrm rot="5400000">
            <a:off x="1349573" y="-447080"/>
            <a:ext cx="4358879" cy="5800725"/>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77" name="Shape 17"/>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78" name="Shape 18"/>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79" name="Shape 19"/>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Shape 1"/>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marR="0" lvl="0" algn="l" rtl="0">
              <a:lnSpc>
                <a:spcPct val="90000"/>
              </a:lnSpc>
              <a:spcBef>
                <a:spcPts val="0"/>
              </a:spcBef>
              <a:spcAft>
                <a:spcPts val="0"/>
              </a:spcAft>
              <a:buClr>
                <a:schemeClr val="dk1"/>
              </a:buClr>
              <a:buSzPts val="3300"/>
              <a:buFont typeface="Arial"/>
              <a:buNone/>
              <a:defRPr sz="3300" b="0" i="0" u="none" strike="noStrike" cap="none">
                <a:solidFill>
                  <a:schemeClr val="dk1"/>
                </a:solidFill>
                <a:latin typeface="Arial"/>
                <a:ea typeface="Arial"/>
                <a:cs typeface="Arial"/>
                <a:sym typeface="Arial"/>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a:endParaRPr/>
          </a:p>
        </p:txBody>
      </p:sp>
      <p:sp>
        <p:nvSpPr>
          <p:cNvPr id="7" name="Shape 2"/>
          <p:cNvSpPr txBox="1">
            <a:spLocks noGrp="1"/>
          </p:cNvSpPr>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marR="0" lvl="0" indent="-361950" algn="l" rtl="0">
              <a:lnSpc>
                <a:spcPct val="90000"/>
              </a:lnSpc>
              <a:spcBef>
                <a:spcPts val="800"/>
              </a:spcBef>
              <a:spcAft>
                <a:spcPts val="0"/>
              </a:spcAft>
              <a:buClr>
                <a:schemeClr val="dk1"/>
              </a:buClr>
              <a:buSzPts val="2100"/>
              <a:buFont typeface="Arial"/>
              <a:buChar char="•"/>
              <a:defRPr sz="2100" b="0" i="0" u="none" strike="noStrike" cap="none">
                <a:solidFill>
                  <a:schemeClr val="dk1"/>
                </a:solidFill>
                <a:latin typeface="Arial"/>
                <a:ea typeface="Arial"/>
                <a:cs typeface="Arial"/>
                <a:sym typeface="Arial"/>
              </a:defRPr>
            </a:lvl1pPr>
            <a:lvl2pPr marL="914400" marR="0" lvl="1" indent="-342900" algn="l" rtl="0">
              <a:lnSpc>
                <a:spcPct val="90000"/>
              </a:lnSpc>
              <a:spcBef>
                <a:spcPts val="4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2pPr>
            <a:lvl3pPr marL="1371600" marR="0" lvl="2" indent="-323850" algn="l" rtl="0">
              <a:lnSpc>
                <a:spcPct val="90000"/>
              </a:lnSpc>
              <a:spcBef>
                <a:spcPts val="4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3pPr>
            <a:lvl4pPr marL="1828800" marR="0" lvl="3"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4pPr>
            <a:lvl5pPr marL="2286000" marR="0" lvl="4"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5pPr>
            <a:lvl6pPr marL="2743200" marR="0" lvl="5"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6pPr>
            <a:lvl7pPr marL="3200400" marR="0" lvl="6"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7pPr>
            <a:lvl8pPr marL="3657600" marR="0" lvl="7"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8pPr>
            <a:lvl9pPr marL="4114800" marR="0" lvl="8"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9pPr>
          </a:lstStyle>
          <a:p>
            <a:endParaRPr/>
          </a:p>
        </p:txBody>
      </p:sp>
      <p:sp>
        <p:nvSpPr>
          <p:cNvPr id="8" name="Shape 3"/>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marR="0" lvl="0" algn="l" rtl="0">
              <a:spcBef>
                <a:spcPts val="0"/>
              </a:spcBef>
              <a:spcAft>
                <a:spcPts val="0"/>
              </a:spcAft>
              <a:buSzPts val="1100"/>
              <a:buNone/>
              <a:defRPr sz="900" b="0" i="0" u="none" strike="noStrike" cap="none">
                <a:solidFill>
                  <a:srgbClr val="888888"/>
                </a:solidFill>
                <a:latin typeface="Arial"/>
                <a:ea typeface="Arial"/>
                <a:cs typeface="Arial"/>
                <a:sym typeface="Arial"/>
              </a:defRPr>
            </a:lvl1pPr>
            <a:lvl2pPr marR="0" lvl="1" algn="l" rtl="0">
              <a:spcBef>
                <a:spcPts val="0"/>
              </a:spcBef>
              <a:spcAft>
                <a:spcPts val="0"/>
              </a:spcAft>
              <a:buSzPts val="1100"/>
              <a:buNone/>
              <a:defRPr sz="1400" b="0" i="0" u="none" strike="noStrike" cap="none">
                <a:solidFill>
                  <a:schemeClr val="dk1"/>
                </a:solidFill>
                <a:latin typeface="Arial"/>
                <a:ea typeface="Arial"/>
                <a:cs typeface="Arial"/>
                <a:sym typeface="Arial"/>
              </a:defRPr>
            </a:lvl2pPr>
            <a:lvl3pPr marR="0" lvl="2" algn="l" rtl="0">
              <a:spcBef>
                <a:spcPts val="0"/>
              </a:spcBef>
              <a:spcAft>
                <a:spcPts val="0"/>
              </a:spcAft>
              <a:buSzPts val="1100"/>
              <a:buNone/>
              <a:defRPr sz="1400" b="0" i="0" u="none" strike="noStrike" cap="none">
                <a:solidFill>
                  <a:schemeClr val="dk1"/>
                </a:solidFill>
                <a:latin typeface="Arial"/>
                <a:ea typeface="Arial"/>
                <a:cs typeface="Arial"/>
                <a:sym typeface="Arial"/>
              </a:defRPr>
            </a:lvl3pPr>
            <a:lvl4pPr marR="0" lvl="3" algn="l" rtl="0">
              <a:spcBef>
                <a:spcPts val="0"/>
              </a:spcBef>
              <a:spcAft>
                <a:spcPts val="0"/>
              </a:spcAft>
              <a:buSzPts val="1100"/>
              <a:buNone/>
              <a:defRPr sz="1400" b="0" i="0" u="none" strike="noStrike" cap="none">
                <a:solidFill>
                  <a:schemeClr val="dk1"/>
                </a:solidFill>
                <a:latin typeface="Arial"/>
                <a:ea typeface="Arial"/>
                <a:cs typeface="Arial"/>
                <a:sym typeface="Arial"/>
              </a:defRPr>
            </a:lvl4pPr>
            <a:lvl5pPr marR="0" lvl="4" algn="l" rtl="0">
              <a:spcBef>
                <a:spcPts val="0"/>
              </a:spcBef>
              <a:spcAft>
                <a:spcPts val="0"/>
              </a:spcAft>
              <a:buSzPts val="1100"/>
              <a:buNone/>
              <a:defRPr sz="1400" b="0" i="0" u="none" strike="noStrike" cap="none">
                <a:solidFill>
                  <a:schemeClr val="dk1"/>
                </a:solidFill>
                <a:latin typeface="Arial"/>
                <a:ea typeface="Arial"/>
                <a:cs typeface="Arial"/>
                <a:sym typeface="Arial"/>
              </a:defRPr>
            </a:lvl5pPr>
            <a:lvl6pPr marR="0" lvl="5" algn="l" rtl="0">
              <a:spcBef>
                <a:spcPts val="0"/>
              </a:spcBef>
              <a:spcAft>
                <a:spcPts val="0"/>
              </a:spcAft>
              <a:buSzPts val="1100"/>
              <a:buNone/>
              <a:defRPr sz="1400" b="0" i="0" u="none" strike="noStrike" cap="none">
                <a:solidFill>
                  <a:schemeClr val="dk1"/>
                </a:solidFill>
                <a:latin typeface="Arial"/>
                <a:ea typeface="Arial"/>
                <a:cs typeface="Arial"/>
                <a:sym typeface="Arial"/>
              </a:defRPr>
            </a:lvl6pPr>
            <a:lvl7pPr marR="0" lvl="6" algn="l" rtl="0">
              <a:spcBef>
                <a:spcPts val="0"/>
              </a:spcBef>
              <a:spcAft>
                <a:spcPts val="0"/>
              </a:spcAft>
              <a:buSzPts val="1100"/>
              <a:buNone/>
              <a:defRPr sz="1400" b="0" i="0" u="none" strike="noStrike" cap="none">
                <a:solidFill>
                  <a:schemeClr val="dk1"/>
                </a:solidFill>
                <a:latin typeface="Arial"/>
                <a:ea typeface="Arial"/>
                <a:cs typeface="Arial"/>
                <a:sym typeface="Arial"/>
              </a:defRPr>
            </a:lvl7pPr>
            <a:lvl8pPr marR="0" lvl="7" algn="l" rtl="0">
              <a:spcBef>
                <a:spcPts val="0"/>
              </a:spcBef>
              <a:spcAft>
                <a:spcPts val="0"/>
              </a:spcAft>
              <a:buSzPts val="1100"/>
              <a:buNone/>
              <a:defRPr sz="1400" b="0" i="0" u="none" strike="noStrike" cap="none">
                <a:solidFill>
                  <a:schemeClr val="dk1"/>
                </a:solidFill>
                <a:latin typeface="Arial"/>
                <a:ea typeface="Arial"/>
                <a:cs typeface="Arial"/>
                <a:sym typeface="Arial"/>
              </a:defRPr>
            </a:lvl8pPr>
            <a:lvl9pPr marR="0" lvl="8" algn="l" rtl="0">
              <a:spcBef>
                <a:spcPts val="0"/>
              </a:spcBef>
              <a:spcAft>
                <a:spcPts val="0"/>
              </a:spcAft>
              <a:buSzPts val="1100"/>
              <a:buNone/>
              <a:defRPr sz="1400" b="0" i="0" u="none" strike="noStrike" cap="none">
                <a:solidFill>
                  <a:schemeClr val="dk1"/>
                </a:solidFill>
                <a:latin typeface="Arial"/>
                <a:ea typeface="Arial"/>
                <a:cs typeface="Arial"/>
                <a:sym typeface="Arial"/>
              </a:defRPr>
            </a:lvl9pPr>
          </a:lstStyle>
          <a:p>
            <a:endParaRPr/>
          </a:p>
        </p:txBody>
      </p:sp>
      <p:sp>
        <p:nvSpPr>
          <p:cNvPr id="9" name="Shape 4"/>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marR="0" lvl="0" algn="ctr" rtl="0">
              <a:spcBef>
                <a:spcPts val="0"/>
              </a:spcBef>
              <a:spcAft>
                <a:spcPts val="0"/>
              </a:spcAft>
              <a:buSzPts val="1100"/>
              <a:buNone/>
              <a:defRPr sz="900" b="0" i="0" u="none" strike="noStrike" cap="none">
                <a:solidFill>
                  <a:srgbClr val="888888"/>
                </a:solidFill>
                <a:latin typeface="Arial"/>
                <a:ea typeface="Arial"/>
                <a:cs typeface="Arial"/>
                <a:sym typeface="Arial"/>
              </a:defRPr>
            </a:lvl1pPr>
            <a:lvl2pPr marR="0" lvl="1" algn="l" rtl="0">
              <a:spcBef>
                <a:spcPts val="0"/>
              </a:spcBef>
              <a:spcAft>
                <a:spcPts val="0"/>
              </a:spcAft>
              <a:buSzPts val="1100"/>
              <a:buNone/>
              <a:defRPr sz="1400" b="0" i="0" u="none" strike="noStrike" cap="none">
                <a:solidFill>
                  <a:schemeClr val="dk1"/>
                </a:solidFill>
                <a:latin typeface="Arial"/>
                <a:ea typeface="Arial"/>
                <a:cs typeface="Arial"/>
                <a:sym typeface="Arial"/>
              </a:defRPr>
            </a:lvl2pPr>
            <a:lvl3pPr marR="0" lvl="2" algn="l" rtl="0">
              <a:spcBef>
                <a:spcPts val="0"/>
              </a:spcBef>
              <a:spcAft>
                <a:spcPts val="0"/>
              </a:spcAft>
              <a:buSzPts val="1100"/>
              <a:buNone/>
              <a:defRPr sz="1400" b="0" i="0" u="none" strike="noStrike" cap="none">
                <a:solidFill>
                  <a:schemeClr val="dk1"/>
                </a:solidFill>
                <a:latin typeface="Arial"/>
                <a:ea typeface="Arial"/>
                <a:cs typeface="Arial"/>
                <a:sym typeface="Arial"/>
              </a:defRPr>
            </a:lvl3pPr>
            <a:lvl4pPr marR="0" lvl="3" algn="l" rtl="0">
              <a:spcBef>
                <a:spcPts val="0"/>
              </a:spcBef>
              <a:spcAft>
                <a:spcPts val="0"/>
              </a:spcAft>
              <a:buSzPts val="1100"/>
              <a:buNone/>
              <a:defRPr sz="1400" b="0" i="0" u="none" strike="noStrike" cap="none">
                <a:solidFill>
                  <a:schemeClr val="dk1"/>
                </a:solidFill>
                <a:latin typeface="Arial"/>
                <a:ea typeface="Arial"/>
                <a:cs typeface="Arial"/>
                <a:sym typeface="Arial"/>
              </a:defRPr>
            </a:lvl4pPr>
            <a:lvl5pPr marR="0" lvl="4" algn="l" rtl="0">
              <a:spcBef>
                <a:spcPts val="0"/>
              </a:spcBef>
              <a:spcAft>
                <a:spcPts val="0"/>
              </a:spcAft>
              <a:buSzPts val="1100"/>
              <a:buNone/>
              <a:defRPr sz="1400" b="0" i="0" u="none" strike="noStrike" cap="none">
                <a:solidFill>
                  <a:schemeClr val="dk1"/>
                </a:solidFill>
                <a:latin typeface="Arial"/>
                <a:ea typeface="Arial"/>
                <a:cs typeface="Arial"/>
                <a:sym typeface="Arial"/>
              </a:defRPr>
            </a:lvl5pPr>
            <a:lvl6pPr marR="0" lvl="5" algn="l" rtl="0">
              <a:spcBef>
                <a:spcPts val="0"/>
              </a:spcBef>
              <a:spcAft>
                <a:spcPts val="0"/>
              </a:spcAft>
              <a:buSzPts val="1100"/>
              <a:buNone/>
              <a:defRPr sz="1400" b="0" i="0" u="none" strike="noStrike" cap="none">
                <a:solidFill>
                  <a:schemeClr val="dk1"/>
                </a:solidFill>
                <a:latin typeface="Arial"/>
                <a:ea typeface="Arial"/>
                <a:cs typeface="Arial"/>
                <a:sym typeface="Arial"/>
              </a:defRPr>
            </a:lvl6pPr>
            <a:lvl7pPr marR="0" lvl="6" algn="l" rtl="0">
              <a:spcBef>
                <a:spcPts val="0"/>
              </a:spcBef>
              <a:spcAft>
                <a:spcPts val="0"/>
              </a:spcAft>
              <a:buSzPts val="1100"/>
              <a:buNone/>
              <a:defRPr sz="1400" b="0" i="0" u="none" strike="noStrike" cap="none">
                <a:solidFill>
                  <a:schemeClr val="dk1"/>
                </a:solidFill>
                <a:latin typeface="Arial"/>
                <a:ea typeface="Arial"/>
                <a:cs typeface="Arial"/>
                <a:sym typeface="Arial"/>
              </a:defRPr>
            </a:lvl7pPr>
            <a:lvl8pPr marR="0" lvl="7" algn="l" rtl="0">
              <a:spcBef>
                <a:spcPts val="0"/>
              </a:spcBef>
              <a:spcAft>
                <a:spcPts val="0"/>
              </a:spcAft>
              <a:buSzPts val="1100"/>
              <a:buNone/>
              <a:defRPr sz="1400" b="0" i="0" u="none" strike="noStrike" cap="none">
                <a:solidFill>
                  <a:schemeClr val="dk1"/>
                </a:solidFill>
                <a:latin typeface="Arial"/>
                <a:ea typeface="Arial"/>
                <a:cs typeface="Arial"/>
                <a:sym typeface="Arial"/>
              </a:defRPr>
            </a:lvl8pPr>
            <a:lvl9pPr marR="0" lvl="8" algn="l" rtl="0">
              <a:spcBef>
                <a:spcPts val="0"/>
              </a:spcBef>
              <a:spcAft>
                <a:spcPts val="0"/>
              </a:spcAft>
              <a:buSzPts val="1100"/>
              <a:buNone/>
              <a:defRPr sz="1400" b="0" i="0" u="none" strike="noStrike" cap="none">
                <a:solidFill>
                  <a:schemeClr val="dk1"/>
                </a:solidFill>
                <a:latin typeface="Arial"/>
                <a:ea typeface="Arial"/>
                <a:cs typeface="Arial"/>
                <a:sym typeface="Arial"/>
              </a:defRPr>
            </a:lvl9pPr>
          </a:lstStyle>
          <a:p>
            <a:endParaRPr/>
          </a:p>
        </p:txBody>
      </p:sp>
      <p:sp>
        <p:nvSpPr>
          <p:cNvPr id="10" name="Shape 5"/>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marR="0" lvl="0" indent="0" algn="r" rtl="0">
              <a:spcBef>
                <a:spcPts val="0"/>
              </a:spcBef>
              <a:buNone/>
              <a:defRPr sz="900" b="0" i="0" u="none" strike="noStrike" cap="none">
                <a:solidFill>
                  <a:srgbClr val="888888"/>
                </a:solidFill>
                <a:latin typeface="Arial"/>
                <a:ea typeface="Arial"/>
                <a:cs typeface="Arial"/>
                <a:sym typeface="Arial"/>
              </a:defRPr>
            </a:lvl1pPr>
            <a:lvl2pPr marL="0" marR="0" lvl="1" indent="0" algn="r" rtl="0">
              <a:spcBef>
                <a:spcPts val="0"/>
              </a:spcBef>
              <a:buNone/>
              <a:defRPr sz="900" b="0" i="0" u="none" strike="noStrike" cap="none">
                <a:solidFill>
                  <a:srgbClr val="888888"/>
                </a:solidFill>
                <a:latin typeface="Arial"/>
                <a:ea typeface="Arial"/>
                <a:cs typeface="Arial"/>
                <a:sym typeface="Arial"/>
              </a:defRPr>
            </a:lvl2pPr>
            <a:lvl3pPr marL="0" marR="0" lvl="2" indent="0" algn="r" rtl="0">
              <a:spcBef>
                <a:spcPts val="0"/>
              </a:spcBef>
              <a:buNone/>
              <a:defRPr sz="900" b="0" i="0" u="none" strike="noStrike" cap="none">
                <a:solidFill>
                  <a:srgbClr val="888888"/>
                </a:solidFill>
                <a:latin typeface="Arial"/>
                <a:ea typeface="Arial"/>
                <a:cs typeface="Arial"/>
                <a:sym typeface="Arial"/>
              </a:defRPr>
            </a:lvl3pPr>
            <a:lvl4pPr marL="0" marR="0" lvl="3" indent="0" algn="r" rtl="0">
              <a:spcBef>
                <a:spcPts val="0"/>
              </a:spcBef>
              <a:buNone/>
              <a:defRPr sz="900" b="0" i="0" u="none" strike="noStrike" cap="none">
                <a:solidFill>
                  <a:srgbClr val="888888"/>
                </a:solidFill>
                <a:latin typeface="Arial"/>
                <a:ea typeface="Arial"/>
                <a:cs typeface="Arial"/>
                <a:sym typeface="Arial"/>
              </a:defRPr>
            </a:lvl4pPr>
            <a:lvl5pPr marL="0" marR="0" lvl="4" indent="0" algn="r" rtl="0">
              <a:spcBef>
                <a:spcPts val="0"/>
              </a:spcBef>
              <a:buNone/>
              <a:defRPr sz="900" b="0" i="0" u="none" strike="noStrike" cap="none">
                <a:solidFill>
                  <a:srgbClr val="888888"/>
                </a:solidFill>
                <a:latin typeface="Arial"/>
                <a:ea typeface="Arial"/>
                <a:cs typeface="Arial"/>
                <a:sym typeface="Arial"/>
              </a:defRPr>
            </a:lvl5pPr>
            <a:lvl6pPr marL="0" marR="0" lvl="5" indent="0" algn="r" rtl="0">
              <a:spcBef>
                <a:spcPts val="0"/>
              </a:spcBef>
              <a:buNone/>
              <a:defRPr sz="900" b="0" i="0" u="none" strike="noStrike" cap="none">
                <a:solidFill>
                  <a:srgbClr val="888888"/>
                </a:solidFill>
                <a:latin typeface="Arial"/>
                <a:ea typeface="Arial"/>
                <a:cs typeface="Arial"/>
                <a:sym typeface="Arial"/>
              </a:defRPr>
            </a:lvl6pPr>
            <a:lvl7pPr marL="0" marR="0" lvl="6" indent="0" algn="r" rtl="0">
              <a:spcBef>
                <a:spcPts val="0"/>
              </a:spcBef>
              <a:buNone/>
              <a:defRPr sz="900" b="0" i="0" u="none" strike="noStrike" cap="none">
                <a:solidFill>
                  <a:srgbClr val="888888"/>
                </a:solidFill>
                <a:latin typeface="Arial"/>
                <a:ea typeface="Arial"/>
                <a:cs typeface="Arial"/>
                <a:sym typeface="Arial"/>
              </a:defRPr>
            </a:lvl7pPr>
            <a:lvl8pPr marL="0" marR="0" lvl="7" indent="0" algn="r" rtl="0">
              <a:spcBef>
                <a:spcPts val="0"/>
              </a:spcBef>
              <a:buNone/>
              <a:defRPr sz="900" b="0" i="0" u="none" strike="noStrike" cap="none">
                <a:solidFill>
                  <a:srgbClr val="888888"/>
                </a:solidFill>
                <a:latin typeface="Arial"/>
                <a:ea typeface="Arial"/>
                <a:cs typeface="Arial"/>
                <a:sym typeface="Arial"/>
              </a:defRPr>
            </a:lvl8pPr>
            <a:lvl9pPr marL="0" marR="0" lvl="8" indent="0" algn="r" rtl="0">
              <a:spcBef>
                <a:spcPts val="0"/>
              </a:spcBef>
              <a:buNone/>
              <a:defRPr sz="9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zh-C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name="默认主题">
    <p:bg>
      <p:bgPr>
        <a:solidFill>
          <a:srgbClr val="FFFFFF">
            <a:alpha val="100000"/>
          </a:srgbClr>
        </a:solidFill>
        <a:effectLst/>
      </p:bgPr>
    </p:bg>
    <p:spTree>
      <p:nvGrpSpPr>
        <p:cNvPr id="1" name="Shape 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57483699"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8" Type="http://schemas.openxmlformats.org/officeDocument/2006/relationships/image" Target="../media/image10.svg"/><Relationship Id="rId13" Type="http://schemas.openxmlformats.org/officeDocument/2006/relationships/image" Target="../media/image15.png"/><Relationship Id="rId3" Type="http://schemas.openxmlformats.org/officeDocument/2006/relationships/image" Target="../media/image5.png"/><Relationship Id="rId7" Type="http://schemas.openxmlformats.org/officeDocument/2006/relationships/image" Target="../media/image9.png"/><Relationship Id="rId12" Type="http://schemas.openxmlformats.org/officeDocument/2006/relationships/image" Target="../media/image14.svg"/><Relationship Id="rId2" Type="http://schemas.openxmlformats.org/officeDocument/2006/relationships/notesSlide" Target="../notesSlides/notesSlide5.xml"/><Relationship Id="rId1" Type="http://schemas.openxmlformats.org/officeDocument/2006/relationships/slideLayout" Target="../slideLayouts/slideLayout12.xml"/><Relationship Id="rId6" Type="http://schemas.openxmlformats.org/officeDocument/2006/relationships/image" Target="../media/image8.svg"/><Relationship Id="rId11" Type="http://schemas.openxmlformats.org/officeDocument/2006/relationships/image" Target="../media/image13.png"/><Relationship Id="rId5" Type="http://schemas.openxmlformats.org/officeDocument/2006/relationships/image" Target="../media/image7.png"/><Relationship Id="rId10" Type="http://schemas.openxmlformats.org/officeDocument/2006/relationships/image" Target="../media/image12.svg"/><Relationship Id="rId4" Type="http://schemas.openxmlformats.org/officeDocument/2006/relationships/image" Target="../media/image6.svg"/><Relationship Id="rId9" Type="http://schemas.openxmlformats.org/officeDocument/2006/relationships/image" Target="../media/image11.png"/></Relationships>
</file>

<file path=ppt/slides/_rels/slide6.xml.rels><?xml version="1.0" encoding="UTF-8" standalone="yes"?>
<Relationships xmlns="http://schemas.openxmlformats.org/package/2006/relationships"><Relationship Id="rId3" Type="http://schemas.openxmlformats.org/officeDocument/2006/relationships/image" Target="../media/image16.png"/><Relationship Id="rId7" Type="http://schemas.openxmlformats.org/officeDocument/2006/relationships/image" Target="../media/image20.jpg"/><Relationship Id="rId2" Type="http://schemas.openxmlformats.org/officeDocument/2006/relationships/notesSlide" Target="../notesSlides/notesSlide6.xml"/><Relationship Id="rId1" Type="http://schemas.openxmlformats.org/officeDocument/2006/relationships/slideLayout" Target="../slideLayouts/slideLayout12.xml"/><Relationship Id="rId6" Type="http://schemas.openxmlformats.org/officeDocument/2006/relationships/image" Target="../media/image19.svg"/><Relationship Id="rId5" Type="http://schemas.openxmlformats.org/officeDocument/2006/relationships/image" Target="../media/image18.png"/><Relationship Id="rId4" Type="http://schemas.openxmlformats.org/officeDocument/2006/relationships/image" Target="../media/image17.svg"/></Relationships>
</file>

<file path=ppt/slides/_rels/slide7.xml.rels><?xml version="1.0" encoding="UTF-8" standalone="yes"?>
<Relationships xmlns="http://schemas.openxmlformats.org/package/2006/relationships"><Relationship Id="rId3" Type="http://schemas.openxmlformats.org/officeDocument/2006/relationships/image" Target="../media/image21.jpeg"/><Relationship Id="rId7" Type="http://schemas.openxmlformats.org/officeDocument/2006/relationships/image" Target="../media/image23.svg"/><Relationship Id="rId2" Type="http://schemas.openxmlformats.org/officeDocument/2006/relationships/notesSlide" Target="../notesSlides/notesSlide7.xml"/><Relationship Id="rId1" Type="http://schemas.openxmlformats.org/officeDocument/2006/relationships/slideLayout" Target="../slideLayouts/slideLayout12.xml"/><Relationship Id="rId6" Type="http://schemas.openxmlformats.org/officeDocument/2006/relationships/image" Target="../media/image22.png"/><Relationship Id="rId5" Type="http://schemas.openxmlformats.org/officeDocument/2006/relationships/image" Target="../media/image19.svg"/><Relationship Id="rId4" Type="http://schemas.openxmlformats.org/officeDocument/2006/relationships/image" Target="../media/image18.png"/></Relationships>
</file>

<file path=ppt/slides/_rels/slide8.xml.rels><?xml version="1.0" encoding="UTF-8" standalone="yes"?>
<Relationships xmlns="http://schemas.openxmlformats.org/package/2006/relationships"><Relationship Id="rId8" Type="http://schemas.openxmlformats.org/officeDocument/2006/relationships/image" Target="../media/image29.svg"/><Relationship Id="rId3" Type="http://schemas.openxmlformats.org/officeDocument/2006/relationships/image" Target="../media/image24.png"/><Relationship Id="rId7" Type="http://schemas.openxmlformats.org/officeDocument/2006/relationships/image" Target="../media/image28.png"/><Relationship Id="rId2" Type="http://schemas.openxmlformats.org/officeDocument/2006/relationships/notesSlide" Target="../notesSlides/notesSlide8.xml"/><Relationship Id="rId1" Type="http://schemas.openxmlformats.org/officeDocument/2006/relationships/slideLayout" Target="../slideLayouts/slideLayout12.xml"/><Relationship Id="rId6" Type="http://schemas.openxmlformats.org/officeDocument/2006/relationships/image" Target="../media/image27.svg"/><Relationship Id="rId5" Type="http://schemas.openxmlformats.org/officeDocument/2006/relationships/image" Target="../media/image26.png"/><Relationship Id="rId4" Type="http://schemas.openxmlformats.org/officeDocument/2006/relationships/image" Target="../media/image25.svg"/></Relationships>
</file>

<file path=ppt/slides/_rels/slide9.xml.rels><?xml version="1.0" encoding="UTF-8" standalone="yes"?>
<Relationships xmlns="http://schemas.openxmlformats.org/package/2006/relationships"><Relationship Id="rId8" Type="http://schemas.openxmlformats.org/officeDocument/2006/relationships/image" Target="../media/image35.png"/><Relationship Id="rId3" Type="http://schemas.openxmlformats.org/officeDocument/2006/relationships/image" Target="../media/image30.jpeg"/><Relationship Id="rId7" Type="http://schemas.openxmlformats.org/officeDocument/2006/relationships/image" Target="../media/image34.svg"/><Relationship Id="rId2" Type="http://schemas.openxmlformats.org/officeDocument/2006/relationships/notesSlide" Target="../notesSlides/notesSlide9.xml"/><Relationship Id="rId1" Type="http://schemas.openxmlformats.org/officeDocument/2006/relationships/slideLayout" Target="../slideLayouts/slideLayout12.xml"/><Relationship Id="rId6" Type="http://schemas.openxmlformats.org/officeDocument/2006/relationships/image" Target="../media/image33.png"/><Relationship Id="rId11" Type="http://schemas.openxmlformats.org/officeDocument/2006/relationships/image" Target="../media/image10.svg"/><Relationship Id="rId5" Type="http://schemas.openxmlformats.org/officeDocument/2006/relationships/image" Target="../media/image32.svg"/><Relationship Id="rId10" Type="http://schemas.openxmlformats.org/officeDocument/2006/relationships/image" Target="../media/image9.png"/><Relationship Id="rId4" Type="http://schemas.openxmlformats.org/officeDocument/2006/relationships/image" Target="../media/image31.png"/><Relationship Id="rId9" Type="http://schemas.openxmlformats.org/officeDocument/2006/relationships/image" Target="../media/image36.svg"/></Relationships>
</file>

<file path=ppt/slides/_rels/slide10.xml.rels><?xml version="1.0" encoding="UTF-8" standalone="yes"?>
<Relationships xmlns="http://schemas.openxmlformats.org/package/2006/relationships"><Relationship Id="rId3" Type="http://schemas.openxmlformats.org/officeDocument/2006/relationships/image" Target="../media/image37.jpeg"/><Relationship Id="rId2" Type="http://schemas.openxmlformats.org/officeDocument/2006/relationships/notesSlide" Target="../notesSlides/notesSlide10.xml"/><Relationship Id="rId1" Type="http://schemas.openxmlformats.org/officeDocument/2006/relationships/slideLayout" Target="../slideLayouts/slideLayout12.xml"/><Relationship Id="rId6" Type="http://schemas.openxmlformats.org/officeDocument/2006/relationships/image" Target="../media/image40.png"/><Relationship Id="rId5" Type="http://schemas.openxmlformats.org/officeDocument/2006/relationships/image" Target="../media/image39.svg"/><Relationship Id="rId4" Type="http://schemas.openxmlformats.org/officeDocument/2006/relationships/image" Target="../media/image38.png"/></Relationships>
</file>

<file path=ppt/slides/_rels/slide11.xml.rels><?xml version="1.0" encoding="UTF-8" standalone="yes"?>
<Relationships xmlns="http://schemas.openxmlformats.org/package/2006/relationships"><Relationship Id="rId3" Type="http://schemas.openxmlformats.org/officeDocument/2006/relationships/image" Target="../media/image41.jpeg"/><Relationship Id="rId7" Type="http://schemas.openxmlformats.org/officeDocument/2006/relationships/image" Target="../media/image45.svg"/><Relationship Id="rId2" Type="http://schemas.openxmlformats.org/officeDocument/2006/relationships/notesSlide" Target="../notesSlides/notesSlide11.xml"/><Relationship Id="rId1" Type="http://schemas.openxmlformats.org/officeDocument/2006/relationships/slideLayout" Target="../slideLayouts/slideLayout12.xml"/><Relationship Id="rId6" Type="http://schemas.openxmlformats.org/officeDocument/2006/relationships/image" Target="../media/image44.png"/><Relationship Id="rId5" Type="http://schemas.openxmlformats.org/officeDocument/2006/relationships/image" Target="../media/image43.svg"/><Relationship Id="rId4" Type="http://schemas.openxmlformats.org/officeDocument/2006/relationships/image" Target="../media/image42.png"/></Relationships>
</file>

<file path=ppt/slides/_rels/slide12.xml.rels><?xml version="1.0" encoding="UTF-8" standalone="yes"?>
<Relationships xmlns="http://schemas.openxmlformats.org/package/2006/relationships"><Relationship Id="rId8" Type="http://schemas.openxmlformats.org/officeDocument/2006/relationships/image" Target="../media/image49.png"/><Relationship Id="rId3" Type="http://schemas.openxmlformats.org/officeDocument/2006/relationships/image" Target="../media/image42.png"/><Relationship Id="rId7" Type="http://schemas.openxmlformats.org/officeDocument/2006/relationships/image" Target="../media/image48.jpeg"/><Relationship Id="rId2" Type="http://schemas.openxmlformats.org/officeDocument/2006/relationships/notesSlide" Target="../notesSlides/notesSlide12.xml"/><Relationship Id="rId1" Type="http://schemas.openxmlformats.org/officeDocument/2006/relationships/slideLayout" Target="../slideLayouts/slideLayout12.xml"/><Relationship Id="rId6" Type="http://schemas.openxmlformats.org/officeDocument/2006/relationships/image" Target="../media/image47.svg"/><Relationship Id="rId5" Type="http://schemas.openxmlformats.org/officeDocument/2006/relationships/image" Target="../media/image46.png"/><Relationship Id="rId4" Type="http://schemas.openxmlformats.org/officeDocument/2006/relationships/image" Target="../media/image43.svg"/><Relationship Id="rId9" Type="http://schemas.openxmlformats.org/officeDocument/2006/relationships/image" Target="../media/image50.svg"/></Relationships>
</file>

<file path=ppt/slides/_rels/slide13.xml.rels><?xml version="1.0" encoding="UTF-8" standalone="yes"?>
<Relationships xmlns="http://schemas.openxmlformats.org/package/2006/relationships"><Relationship Id="rId8" Type="http://schemas.openxmlformats.org/officeDocument/2006/relationships/image" Target="../media/image28.png"/><Relationship Id="rId3" Type="http://schemas.openxmlformats.org/officeDocument/2006/relationships/image" Target="../media/image51.jpeg"/><Relationship Id="rId7" Type="http://schemas.openxmlformats.org/officeDocument/2006/relationships/image" Target="../media/image55.svg"/><Relationship Id="rId2" Type="http://schemas.openxmlformats.org/officeDocument/2006/relationships/notesSlide" Target="../notesSlides/notesSlide13.xml"/><Relationship Id="rId1" Type="http://schemas.openxmlformats.org/officeDocument/2006/relationships/slideLayout" Target="../slideLayouts/slideLayout12.xml"/><Relationship Id="rId6" Type="http://schemas.openxmlformats.org/officeDocument/2006/relationships/image" Target="../media/image54.png"/><Relationship Id="rId5" Type="http://schemas.openxmlformats.org/officeDocument/2006/relationships/image" Target="../media/image53.svg"/><Relationship Id="rId4" Type="http://schemas.openxmlformats.org/officeDocument/2006/relationships/image" Target="../media/image52.png"/><Relationship Id="rId9" Type="http://schemas.openxmlformats.org/officeDocument/2006/relationships/image" Target="../media/image29.svg"/></Relationships>
</file>

<file path=ppt/slides/_rels/slide14.xml.rels><?xml version="1.0" encoding="UTF-8" standalone="yes"?>
<Relationships xmlns="http://schemas.openxmlformats.org/package/2006/relationships"><Relationship Id="rId8" Type="http://schemas.openxmlformats.org/officeDocument/2006/relationships/image" Target="../media/image61.svg"/><Relationship Id="rId3" Type="http://schemas.openxmlformats.org/officeDocument/2006/relationships/image" Target="../media/image56.png"/><Relationship Id="rId7" Type="http://schemas.openxmlformats.org/officeDocument/2006/relationships/image" Target="../media/image60.png"/><Relationship Id="rId2" Type="http://schemas.openxmlformats.org/officeDocument/2006/relationships/notesSlide" Target="../notesSlides/notesSlide14.xml"/><Relationship Id="rId1" Type="http://schemas.openxmlformats.org/officeDocument/2006/relationships/slideLayout" Target="../slideLayouts/slideLayout12.xml"/><Relationship Id="rId6" Type="http://schemas.openxmlformats.org/officeDocument/2006/relationships/image" Target="../media/image59.svg"/><Relationship Id="rId5" Type="http://schemas.openxmlformats.org/officeDocument/2006/relationships/image" Target="../media/image58.png"/><Relationship Id="rId4" Type="http://schemas.openxmlformats.org/officeDocument/2006/relationships/image" Target="../media/image57.svg"/></Relationships>
</file>

<file path=ppt/slides/_rels/slide15.xml.rels><?xml version="1.0" encoding="UTF-8" standalone="yes"?>
<Relationships xmlns="http://schemas.openxmlformats.org/package/2006/relationships"><Relationship Id="rId3" Type="http://schemas.openxmlformats.org/officeDocument/2006/relationships/image" Target="../media/image62.jpeg"/><Relationship Id="rId7" Type="http://schemas.openxmlformats.org/officeDocument/2006/relationships/image" Target="../media/image47.svg"/><Relationship Id="rId2" Type="http://schemas.openxmlformats.org/officeDocument/2006/relationships/notesSlide" Target="../notesSlides/notesSlide15.xml"/><Relationship Id="rId1" Type="http://schemas.openxmlformats.org/officeDocument/2006/relationships/slideLayout" Target="../slideLayouts/slideLayout12.xml"/><Relationship Id="rId6" Type="http://schemas.openxmlformats.org/officeDocument/2006/relationships/image" Target="../media/image46.png"/><Relationship Id="rId5" Type="http://schemas.openxmlformats.org/officeDocument/2006/relationships/image" Target="../media/image64.svg"/><Relationship Id="rId4" Type="http://schemas.openxmlformats.org/officeDocument/2006/relationships/image" Target="../media/image63.png"/></Relationships>
</file>

<file path=ppt/slides/_rels/slide16.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6.xml"/><Relationship Id="rId1" Type="http://schemas.openxmlformats.org/officeDocument/2006/relationships/slideLayout" Target="../slideLayouts/slideLayout12.xml"/><Relationship Id="rId5" Type="http://schemas.openxmlformats.org/officeDocument/2006/relationships/image" Target="../media/image66.svg"/><Relationship Id="rId4" Type="http://schemas.openxmlformats.org/officeDocument/2006/relationships/image" Target="../media/image65.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A192F">
            <a:alpha val="100000"/>
          </a:srgbClr>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3"/>
          <a:srcRect/>
          <a:stretch>
            <a:fillRect/>
          </a:stretch>
        </p:blipFill>
        <p:spPr>
          <a:xfrm>
            <a:off x="0" y="0"/>
            <a:ext cx="12192000" cy="6858000"/>
          </a:xfrm>
          <a:prstGeom prst="rect">
            <a:avLst/>
          </a:prstGeom>
          <a:noFill/>
          <a:ln w="25400" cap="flat" cmpd="sng">
            <a:noFill/>
            <a:prstDash val="solid"/>
            <a:round/>
          </a:ln>
        </p:spPr>
      </p:pic>
      <p:sp>
        <p:nvSpPr>
          <p:cNvPr id="3" name="AutoShape 3"/>
          <p:cNvSpPr/>
          <p:nvPr/>
        </p:nvSpPr>
        <p:spPr>
          <a:xfrm>
            <a:off x="0" y="0"/>
            <a:ext cx="12192000" cy="6858000"/>
          </a:xfrm>
          <a:prstGeom prst="roundRect">
            <a:avLst>
              <a:gd name="adj" fmla="val 0"/>
            </a:avLst>
          </a:prstGeom>
          <a:solidFill>
            <a:srgbClr val="0A192F">
              <a:alpha val="75000"/>
            </a:srgbClr>
          </a:solidFill>
          <a:ln w="25400" cap="flat" cmpd="sng">
            <a:noFill/>
            <a:prstDash val="solid"/>
            <a:round/>
          </a:ln>
        </p:spPr>
        <p:txBody>
          <a:bodyPr vert="horz" wrap="square" lIns="63500" tIns="63500" rIns="63500" bIns="63500" rtlCol="0" anchor="ctr"/>
          <a:lstStyle/>
          <a:p>
            <a:pPr algn="ctr">
              <a:defRPr/>
            </a:pPr>
            <a:endParaRPr/>
          </a:p>
        </p:txBody>
      </p:sp>
      <p:sp>
        <p:nvSpPr>
          <p:cNvPr id="4" name="AutoShape 4"/>
          <p:cNvSpPr/>
          <p:nvPr/>
        </p:nvSpPr>
        <p:spPr>
          <a:xfrm>
            <a:off x="508000" y="1841628"/>
            <a:ext cx="11176000" cy="635000"/>
          </a:xfrm>
          <a:prstGeom prst="rect">
            <a:avLst/>
          </a:prstGeom>
          <a:noFill/>
          <a:ln w="12700" cap="flat" cmpd="sng">
            <a:noFill/>
            <a:prstDash val="solid"/>
            <a:round/>
          </a:ln>
        </p:spPr>
        <p:txBody>
          <a:bodyPr vert="horz" wrap="none" lIns="0" tIns="0" rIns="0" bIns="0" rtlCol="0" anchor="ctr" anchorCtr="0"/>
          <a:lstStyle/>
          <a:p>
            <a:pPr indent="0" algn="ctr">
              <a:lnSpc>
                <a:spcPct val="125000"/>
              </a:lnSpc>
              <a:defRPr/>
            </a:pPr>
            <a:r>
              <a:rPr lang="en-US" sz="3600" b="1" i="0" u="none" strike="noStrike" dirty="0" err="1">
                <a:solidFill>
                  <a:srgbClr val="FFD700"/>
                </a:solidFill>
                <a:latin typeface="汉仪尚巍手书W" panose="00020600040101010101" pitchFamily="18" charset="-122"/>
                <a:ea typeface="汉仪尚巍手书W" panose="00020600040101010101" pitchFamily="18" charset="-122"/>
                <a:cs typeface="Noto Sans SC"/>
                <a:sym typeface="Noto Sans SC"/>
              </a:rPr>
              <a:t>自然与设计课程</a:t>
            </a:r>
            <a:endParaRPr lang="en-US" sz="3600" b="1" i="0" u="none" strike="noStrike" dirty="0">
              <a:solidFill>
                <a:srgbClr val="FFD700"/>
              </a:solidFill>
              <a:latin typeface="汉仪尚巍手书W" panose="00020600040101010101" pitchFamily="18" charset="-122"/>
              <a:ea typeface="汉仪尚巍手书W" panose="00020600040101010101" pitchFamily="18" charset="-122"/>
              <a:cs typeface="Noto Sans SC"/>
              <a:sym typeface="Noto Sans SC"/>
            </a:endParaRPr>
          </a:p>
          <a:p>
            <a:pPr indent="0" algn="ctr">
              <a:lnSpc>
                <a:spcPct val="125000"/>
              </a:lnSpc>
              <a:defRPr/>
            </a:pPr>
            <a:r>
              <a:rPr lang="en-US" sz="3600" b="1" i="0" u="none" strike="noStrike" dirty="0" err="1">
                <a:solidFill>
                  <a:srgbClr val="FFD700"/>
                </a:solidFill>
                <a:latin typeface="汉仪尚巍手书W" panose="00020600040101010101" pitchFamily="18" charset="-122"/>
                <a:ea typeface="汉仪尚巍手书W" panose="00020600040101010101" pitchFamily="18" charset="-122"/>
                <a:cs typeface="Noto Sans SC"/>
                <a:sym typeface="Noto Sans SC"/>
              </a:rPr>
              <a:t>鲫鱼的分类、生态与适应关系研究</a:t>
            </a:r>
            <a:endParaRPr lang="en-US" sz="1200" dirty="0">
              <a:latin typeface="汉仪尚巍手书W" panose="00020600040101010101" pitchFamily="18" charset="-122"/>
              <a:ea typeface="汉仪尚巍手书W" panose="00020600040101010101" pitchFamily="18" charset="-122"/>
            </a:endParaRPr>
          </a:p>
        </p:txBody>
      </p:sp>
      <p:sp>
        <p:nvSpPr>
          <p:cNvPr id="5" name="AutoShape 5"/>
          <p:cNvSpPr/>
          <p:nvPr/>
        </p:nvSpPr>
        <p:spPr>
          <a:xfrm>
            <a:off x="1016000" y="2984883"/>
            <a:ext cx="10160000" cy="381000"/>
          </a:xfrm>
          <a:prstGeom prst="rect">
            <a:avLst/>
          </a:prstGeom>
          <a:noFill/>
          <a:ln w="12700" cap="flat" cmpd="sng">
            <a:noFill/>
            <a:prstDash val="solid"/>
            <a:round/>
          </a:ln>
        </p:spPr>
        <p:txBody>
          <a:bodyPr vert="horz" wrap="none" lIns="0" tIns="0" rIns="0" bIns="0" rtlCol="0" anchor="ctr" anchorCtr="0"/>
          <a:lstStyle/>
          <a:p>
            <a:pPr indent="0" algn="ctr">
              <a:lnSpc>
                <a:spcPct val="125000"/>
              </a:lnSpc>
              <a:defRPr/>
            </a:pPr>
            <a:r>
              <a:rPr lang="en-US" sz="2000" b="0" i="1" u="none" strike="noStrike" dirty="0">
                <a:solidFill>
                  <a:srgbClr val="FFFFFF"/>
                </a:solidFill>
                <a:latin typeface="Noto Serif SC"/>
                <a:ea typeface="Noto Serif SC"/>
                <a:cs typeface="Noto Serif SC"/>
                <a:sym typeface="Noto Serif SC"/>
              </a:rPr>
              <a:t>—— </a:t>
            </a:r>
            <a:r>
              <a:rPr lang="en-US" sz="2000" b="0" u="none" strike="noStrike" dirty="0" err="1">
                <a:solidFill>
                  <a:srgbClr val="FFFFFF"/>
                </a:solidFill>
                <a:latin typeface="HarmonyOS Sans SC" panose="00000500000000000000" pitchFamily="2" charset="-122"/>
                <a:ea typeface="HarmonyOS Sans SC" panose="00000500000000000000" pitchFamily="2" charset="-122"/>
                <a:cs typeface="Noto Serif SC"/>
                <a:sym typeface="Noto Serif SC"/>
              </a:rPr>
              <a:t>深入探索水中精灵的奥秘</a:t>
            </a:r>
            <a:r>
              <a:rPr lang="en-US" sz="2000" b="0" i="1" u="none" strike="noStrike" dirty="0">
                <a:solidFill>
                  <a:srgbClr val="FFFFFF"/>
                </a:solidFill>
                <a:latin typeface="Noto Serif SC"/>
                <a:ea typeface="Noto Serif SC"/>
                <a:cs typeface="Noto Serif SC"/>
                <a:sym typeface="Noto Serif SC"/>
              </a:rPr>
              <a:t> ——</a:t>
            </a:r>
            <a:endParaRPr lang="en-US" sz="1100" dirty="0"/>
          </a:p>
        </p:txBody>
      </p:sp>
      <p:sp>
        <p:nvSpPr>
          <p:cNvPr id="6" name="AutoShape 6"/>
          <p:cNvSpPr/>
          <p:nvPr/>
        </p:nvSpPr>
        <p:spPr>
          <a:xfrm>
            <a:off x="5334000" y="4175572"/>
            <a:ext cx="1524000" cy="25400"/>
          </a:xfrm>
          <a:prstGeom prst="roundRect">
            <a:avLst>
              <a:gd name="adj" fmla="val 0"/>
            </a:avLst>
          </a:prstGeom>
          <a:solidFill>
            <a:srgbClr val="FFD700">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7" name="AutoShape 7"/>
          <p:cNvSpPr/>
          <p:nvPr/>
        </p:nvSpPr>
        <p:spPr>
          <a:xfrm>
            <a:off x="0" y="5715000"/>
            <a:ext cx="12192000" cy="381000"/>
          </a:xfrm>
          <a:prstGeom prst="rect">
            <a:avLst/>
          </a:prstGeom>
          <a:noFill/>
          <a:ln w="12700" cap="flat" cmpd="sng">
            <a:noFill/>
            <a:prstDash val="solid"/>
            <a:round/>
          </a:ln>
        </p:spPr>
        <p:txBody>
          <a:bodyPr vert="horz" wrap="none" lIns="0" tIns="0" rIns="0" bIns="0" rtlCol="0" anchor="ctr" anchorCtr="0"/>
          <a:lstStyle/>
          <a:p>
            <a:pPr indent="0" algn="ctr">
              <a:lnSpc>
                <a:spcPct val="125000"/>
              </a:lnSpc>
              <a:defRPr/>
            </a:pPr>
            <a:r>
              <a:rPr lang="en-US" sz="1600" b="0" i="0" u="none" strike="noStrike" dirty="0">
                <a:solidFill>
                  <a:srgbClr val="FFFFFF">
                    <a:alpha val="80000"/>
                  </a:srgbClr>
                </a:solidFill>
                <a:latin typeface="Noto Sans SC"/>
                <a:ea typeface="Noto Sans SC"/>
                <a:cs typeface="Noto Sans SC"/>
                <a:sym typeface="Noto Sans SC"/>
              </a:rPr>
              <a:t>日期：2026年3月</a:t>
            </a:r>
            <a:endParaRPr lang="en-US" sz="1100" dirty="0"/>
          </a:p>
        </p:txBody>
      </p:sp>
      <p:sp>
        <p:nvSpPr>
          <p:cNvPr id="8" name="AutoShape 5">
            <a:extLst>
              <a:ext uri="{FF2B5EF4-FFF2-40B4-BE49-F238E27FC236}">
                <a16:creationId xmlns:a16="http://schemas.microsoft.com/office/drawing/2014/main" id="{E9673F09-FC0F-892D-308A-447EB7B59211}"/>
              </a:ext>
            </a:extLst>
          </p:cNvPr>
          <p:cNvSpPr/>
          <p:nvPr/>
        </p:nvSpPr>
        <p:spPr>
          <a:xfrm>
            <a:off x="1016000" y="4444745"/>
            <a:ext cx="10160000" cy="381000"/>
          </a:xfrm>
          <a:prstGeom prst="rect">
            <a:avLst/>
          </a:prstGeom>
          <a:noFill/>
          <a:ln w="12700" cap="flat" cmpd="sng">
            <a:noFill/>
            <a:prstDash val="solid"/>
            <a:round/>
          </a:ln>
        </p:spPr>
        <p:txBody>
          <a:bodyPr vert="horz" wrap="none" lIns="0" tIns="0" rIns="0" bIns="0" rtlCol="0" anchor="ctr" anchorCtr="0"/>
          <a:lstStyle/>
          <a:p>
            <a:pPr indent="0" algn="ctr">
              <a:lnSpc>
                <a:spcPct val="125000"/>
              </a:lnSpc>
              <a:defRPr/>
            </a:pPr>
            <a:r>
              <a:rPr lang="en-US" sz="2000" b="0" i="1" u="none" strike="noStrike" dirty="0">
                <a:solidFill>
                  <a:srgbClr val="FFFFFF"/>
                </a:solidFill>
                <a:latin typeface="Noto Serif SC"/>
                <a:ea typeface="Noto Serif SC"/>
                <a:cs typeface="Noto Serif SC"/>
                <a:sym typeface="Noto Serif SC"/>
              </a:rPr>
              <a:t>—— </a:t>
            </a:r>
            <a:r>
              <a:rPr lang="zh-CN" altLang="en-US" sz="2000" b="0" i="1" u="none" strike="noStrike" dirty="0">
                <a:solidFill>
                  <a:srgbClr val="FFFFFF"/>
                </a:solidFill>
                <a:latin typeface="华文楷体" panose="02010600040101010101" pitchFamily="2" charset="-122"/>
                <a:ea typeface="华文楷体" panose="02010600040101010101" pitchFamily="2" charset="-122"/>
                <a:cs typeface="Noto Serif SC"/>
                <a:sym typeface="Noto Serif SC"/>
              </a:rPr>
              <a:t>小组成员</a:t>
            </a:r>
            <a:r>
              <a:rPr lang="en-US" sz="2000" b="0" i="1" u="none" strike="noStrike" dirty="0">
                <a:solidFill>
                  <a:srgbClr val="FFFFFF"/>
                </a:solidFill>
                <a:latin typeface="Noto Serif SC"/>
                <a:ea typeface="Noto Serif SC"/>
                <a:cs typeface="Noto Serif SC"/>
                <a:sym typeface="Noto Serif SC"/>
              </a:rPr>
              <a:t> ——</a:t>
            </a:r>
            <a:endParaRPr lang="en-US" sz="1100" dirty="0"/>
          </a:p>
        </p:txBody>
      </p:sp>
      <p:sp>
        <p:nvSpPr>
          <p:cNvPr id="9" name="AutoShape 5">
            <a:extLst>
              <a:ext uri="{FF2B5EF4-FFF2-40B4-BE49-F238E27FC236}">
                <a16:creationId xmlns:a16="http://schemas.microsoft.com/office/drawing/2014/main" id="{954EC1BB-FBE4-E051-6373-E21010B9AC54}"/>
              </a:ext>
            </a:extLst>
          </p:cNvPr>
          <p:cNvSpPr/>
          <p:nvPr/>
        </p:nvSpPr>
        <p:spPr>
          <a:xfrm>
            <a:off x="1016000" y="4953000"/>
            <a:ext cx="10160000" cy="381000"/>
          </a:xfrm>
          <a:prstGeom prst="rect">
            <a:avLst/>
          </a:prstGeom>
          <a:noFill/>
          <a:ln w="12700" cap="flat" cmpd="sng">
            <a:noFill/>
            <a:prstDash val="solid"/>
            <a:round/>
          </a:ln>
        </p:spPr>
        <p:txBody>
          <a:bodyPr vert="horz" wrap="none" lIns="0" tIns="0" rIns="0" bIns="0" rtlCol="0" anchor="ctr" anchorCtr="0"/>
          <a:lstStyle/>
          <a:p>
            <a:pPr indent="0" algn="ctr">
              <a:lnSpc>
                <a:spcPct val="125000"/>
              </a:lnSpc>
              <a:defRPr/>
            </a:pPr>
            <a:r>
              <a:rPr lang="en-US" sz="2000" b="0" i="1" u="none" strike="noStrike" dirty="0">
                <a:solidFill>
                  <a:srgbClr val="FFFFFF"/>
                </a:solidFill>
                <a:latin typeface="Noto Serif SC"/>
                <a:ea typeface="Noto Serif SC"/>
                <a:cs typeface="Noto Serif SC"/>
                <a:sym typeface="Noto Serif SC"/>
              </a:rPr>
              <a:t>—— </a:t>
            </a:r>
            <a:r>
              <a:rPr lang="zh-CN" altLang="en-US" sz="2000" b="0" i="1" u="none" strike="noStrike" dirty="0">
                <a:solidFill>
                  <a:srgbClr val="FFFFFF"/>
                </a:solidFill>
                <a:latin typeface="华文楷体" panose="02010600040101010101" pitchFamily="2" charset="-122"/>
                <a:ea typeface="华文楷体" panose="02010600040101010101" pitchFamily="2" charset="-122"/>
                <a:cs typeface="Noto Serif SC"/>
                <a:sym typeface="Noto Serif SC"/>
              </a:rPr>
              <a:t>陈聪荣 肖一川 李世航 钟雨晴 李一桐</a:t>
            </a:r>
            <a:r>
              <a:rPr lang="en-US" sz="2000" b="0" i="1" u="none" strike="noStrike" dirty="0">
                <a:solidFill>
                  <a:srgbClr val="FFFFFF"/>
                </a:solidFill>
                <a:latin typeface="Noto Serif SC"/>
                <a:ea typeface="Noto Serif SC"/>
                <a:cs typeface="Noto Serif SC"/>
                <a:sym typeface="Noto Serif SC"/>
              </a:rPr>
              <a:t> ——</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141E32">
            <a:alpha val="100000"/>
          </a:srgbClr>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3"/>
          <a:srcRect/>
          <a:stretch>
            <a:fillRect/>
          </a:stretch>
        </p:blipFill>
        <p:spPr>
          <a:xfrm>
            <a:off x="0" y="0"/>
            <a:ext cx="12192000" cy="6858000"/>
          </a:xfrm>
          <a:prstGeom prst="rect">
            <a:avLst/>
          </a:prstGeom>
          <a:noFill/>
          <a:ln w="25400" cap="flat" cmpd="sng">
            <a:noFill/>
            <a:prstDash val="solid"/>
            <a:round/>
          </a:ln>
        </p:spPr>
      </p:pic>
      <p:sp>
        <p:nvSpPr>
          <p:cNvPr id="3" name="AutoShape 3"/>
          <p:cNvSpPr/>
          <p:nvPr/>
        </p:nvSpPr>
        <p:spPr>
          <a:xfrm>
            <a:off x="0" y="0"/>
            <a:ext cx="12192000" cy="6858000"/>
          </a:xfrm>
          <a:prstGeom prst="roundRect">
            <a:avLst>
              <a:gd name="adj" fmla="val 0"/>
            </a:avLst>
          </a:prstGeom>
          <a:solidFill>
            <a:srgbClr val="0A1932">
              <a:alpha val="70000"/>
            </a:srgbClr>
          </a:solidFill>
          <a:ln w="25400" cap="flat" cmpd="sng">
            <a:noFill/>
            <a:prstDash val="solid"/>
            <a:round/>
          </a:ln>
        </p:spPr>
        <p:txBody>
          <a:bodyPr vert="horz" wrap="square" lIns="63500" tIns="63500" rIns="63500" bIns="63500" rtlCol="0" anchor="ctr"/>
          <a:lstStyle/>
          <a:p>
            <a:pPr algn="ctr">
              <a:defRPr/>
            </a:pPr>
            <a:endParaRPr/>
          </a:p>
        </p:txBody>
      </p:sp>
      <p:sp>
        <p:nvSpPr>
          <p:cNvPr id="4" name="AutoShape 4"/>
          <p:cNvSpPr/>
          <p:nvPr/>
        </p:nvSpPr>
        <p:spPr>
          <a:xfrm>
            <a:off x="762000" y="508000"/>
            <a:ext cx="1016000" cy="635000"/>
          </a:xfrm>
          <a:prstGeom prst="rect">
            <a:avLst/>
          </a:prstGeom>
          <a:noFill/>
          <a:ln w="12700" cap="flat" cmpd="sng">
            <a:noFill/>
            <a:prstDash val="solid"/>
            <a:round/>
          </a:ln>
        </p:spPr>
        <p:txBody>
          <a:bodyPr vert="horz" wrap="none" lIns="0" tIns="0" rIns="0" bIns="0" rtlCol="0" anchor="ctr" anchorCtr="0"/>
          <a:lstStyle/>
          <a:p>
            <a:pPr indent="0" algn="l">
              <a:lnSpc>
                <a:spcPct val="125000"/>
              </a:lnSpc>
              <a:defRPr/>
            </a:pPr>
            <a:r>
              <a:rPr lang="en-US" sz="4400" b="1" i="0" u="none" strike="noStrike" dirty="0" err="1">
                <a:solidFill>
                  <a:srgbClr val="FFD700"/>
                </a:solidFill>
                <a:latin typeface="华文新魏" panose="02010800040101010101" pitchFamily="2" charset="-122"/>
                <a:ea typeface="华文新魏" panose="02010800040101010101" pitchFamily="2" charset="-122"/>
                <a:cs typeface="Noto Sans SC"/>
                <a:sym typeface="Noto Sans SC"/>
              </a:rPr>
              <a:t>目录</a:t>
            </a:r>
            <a:endParaRPr lang="en-US" dirty="0">
              <a:latin typeface="华文新魏" panose="02010800040101010101" pitchFamily="2" charset="-122"/>
              <a:ea typeface="华文新魏" panose="02010800040101010101" pitchFamily="2" charset="-122"/>
            </a:endParaRPr>
          </a:p>
        </p:txBody>
      </p:sp>
      <p:cxnSp>
        <p:nvCxnSpPr>
          <p:cNvPr id="5" name="Connector 5"/>
          <p:cNvCxnSpPr/>
          <p:nvPr/>
        </p:nvCxnSpPr>
        <p:spPr>
          <a:xfrm rot="-57290">
            <a:off x="762053" y="1200150"/>
            <a:ext cx="762000" cy="12700"/>
          </a:xfrm>
          <a:prstGeom prst="line">
            <a:avLst/>
          </a:prstGeom>
          <a:solidFill>
            <a:srgbClr val="DEE0E3">
              <a:alpha val="100000"/>
            </a:srgbClr>
          </a:solidFill>
          <a:ln w="38100" cap="flat" cmpd="sng">
            <a:solidFill>
              <a:srgbClr val="FFD700">
                <a:alpha val="100000"/>
              </a:srgbClr>
            </a:solidFill>
            <a:prstDash val="solid"/>
            <a:round/>
            <a:headEnd type="none" w="lg" len="lg"/>
            <a:tailEnd type="none" w="lg" len="lg"/>
          </a:ln>
        </p:spPr>
      </p:cxnSp>
      <p:sp>
        <p:nvSpPr>
          <p:cNvPr id="6" name="AutoShape 6"/>
          <p:cNvSpPr/>
          <p:nvPr/>
        </p:nvSpPr>
        <p:spPr>
          <a:xfrm>
            <a:off x="2286000" y="1524000"/>
            <a:ext cx="6637071" cy="889000"/>
          </a:xfrm>
          <a:prstGeom prst="roundRect">
            <a:avLst>
              <a:gd name="adj" fmla="val 14285"/>
            </a:avLst>
          </a:prstGeom>
          <a:solidFill>
            <a:srgbClr val="FFFFFF">
              <a:alpha val="5000"/>
            </a:srgbClr>
          </a:solidFill>
          <a:ln w="12700" cap="flat" cmpd="sng">
            <a:solidFill>
              <a:srgbClr val="FFD700">
                <a:alpha val="30000"/>
              </a:srgbClr>
            </a:solidFill>
            <a:prstDash val="solid"/>
            <a:round/>
          </a:ln>
        </p:spPr>
        <p:txBody>
          <a:bodyPr vert="horz" wrap="square" lIns="63500" tIns="63500" rIns="63500" bIns="63500" rtlCol="0" anchor="ctr"/>
          <a:lstStyle/>
          <a:p>
            <a:pPr algn="ctr">
              <a:defRPr/>
            </a:pPr>
            <a:endParaRPr/>
          </a:p>
        </p:txBody>
      </p:sp>
      <p:sp>
        <p:nvSpPr>
          <p:cNvPr id="8" name="AutoShape 8"/>
          <p:cNvSpPr/>
          <p:nvPr/>
        </p:nvSpPr>
        <p:spPr>
          <a:xfrm>
            <a:off x="3048000" y="1778000"/>
            <a:ext cx="635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400" b="1" i="0" u="none" strike="noStrike" dirty="0">
                <a:solidFill>
                  <a:srgbClr val="FFD700"/>
                </a:solidFill>
                <a:latin typeface="华文楷体" panose="02010600040101010101" pitchFamily="2" charset="-122"/>
                <a:ea typeface="华文楷体" panose="02010600040101010101" pitchFamily="2" charset="-122"/>
                <a:cs typeface="Noto Sans SC"/>
                <a:sym typeface="Noto Sans SC"/>
              </a:rPr>
              <a:t>01</a:t>
            </a:r>
            <a:endParaRPr lang="en-US" sz="1100" dirty="0">
              <a:latin typeface="华文楷体" panose="02010600040101010101" pitchFamily="2" charset="-122"/>
              <a:ea typeface="华文楷体" panose="02010600040101010101" pitchFamily="2" charset="-122"/>
            </a:endParaRPr>
          </a:p>
        </p:txBody>
      </p:sp>
      <p:sp>
        <p:nvSpPr>
          <p:cNvPr id="9" name="AutoShape 9"/>
          <p:cNvSpPr/>
          <p:nvPr/>
        </p:nvSpPr>
        <p:spPr>
          <a:xfrm>
            <a:off x="3683000" y="1778000"/>
            <a:ext cx="4826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400" b="1" i="0" u="none" strike="noStrike" dirty="0" err="1">
                <a:solidFill>
                  <a:srgbClr val="FFFFFF"/>
                </a:solidFill>
                <a:latin typeface="华文楷体" panose="02010600040101010101" pitchFamily="2" charset="-122"/>
                <a:ea typeface="华文楷体" panose="02010600040101010101" pitchFamily="2" charset="-122"/>
                <a:cs typeface="Noto Sans SC"/>
                <a:sym typeface="Noto Sans SC"/>
              </a:rPr>
              <a:t>引言：走进鱼类的世界</a:t>
            </a:r>
            <a:endParaRPr lang="en-US" sz="1200" dirty="0">
              <a:latin typeface="华文楷体" panose="02010600040101010101" pitchFamily="2" charset="-122"/>
              <a:ea typeface="华文楷体" panose="02010600040101010101" pitchFamily="2" charset="-122"/>
            </a:endParaRPr>
          </a:p>
        </p:txBody>
      </p:sp>
      <p:sp>
        <p:nvSpPr>
          <p:cNvPr id="11" name="AutoShape 11"/>
          <p:cNvSpPr/>
          <p:nvPr/>
        </p:nvSpPr>
        <p:spPr>
          <a:xfrm>
            <a:off x="2286000" y="2603500"/>
            <a:ext cx="6637071" cy="889000"/>
          </a:xfrm>
          <a:prstGeom prst="roundRect">
            <a:avLst>
              <a:gd name="adj" fmla="val 14285"/>
            </a:avLst>
          </a:prstGeom>
          <a:solidFill>
            <a:srgbClr val="FFFFFF">
              <a:alpha val="5000"/>
            </a:srgbClr>
          </a:solidFill>
          <a:ln w="12700" cap="flat" cmpd="sng">
            <a:solidFill>
              <a:srgbClr val="FFD700">
                <a:alpha val="30000"/>
              </a:srgbClr>
            </a:solidFill>
            <a:prstDash val="solid"/>
            <a:round/>
          </a:ln>
        </p:spPr>
        <p:txBody>
          <a:bodyPr vert="horz" wrap="square" lIns="63500" tIns="63500" rIns="63500" bIns="63500" rtlCol="0" anchor="ctr"/>
          <a:lstStyle/>
          <a:p>
            <a:pPr algn="ctr">
              <a:defRPr/>
            </a:pPr>
            <a:endParaRPr/>
          </a:p>
        </p:txBody>
      </p:sp>
      <p:sp>
        <p:nvSpPr>
          <p:cNvPr id="13" name="AutoShape 13"/>
          <p:cNvSpPr/>
          <p:nvPr/>
        </p:nvSpPr>
        <p:spPr>
          <a:xfrm>
            <a:off x="3048000" y="2857500"/>
            <a:ext cx="635000" cy="381000"/>
          </a:xfrm>
          <a:prstGeom prst="rect">
            <a:avLst/>
          </a:prstGeom>
          <a:noFill/>
          <a:ln w="12700" cap="flat" cmpd="sng">
            <a:noFill/>
            <a:prstDash val="solid"/>
            <a:round/>
          </a:ln>
        </p:spPr>
        <p:txBody>
          <a:bodyPr vert="horz" wrap="square" lIns="0" tIns="0" rIns="0" bIns="0" rtlCol="0" anchor="ctr" anchorCtr="0"/>
          <a:lstStyle/>
          <a:p>
            <a:pPr>
              <a:lnSpc>
                <a:spcPct val="125000"/>
              </a:lnSpc>
              <a:defRPr/>
            </a:pPr>
            <a:r>
              <a:rPr lang="en-US" sz="2400" b="1" dirty="0">
                <a:solidFill>
                  <a:srgbClr val="FFD700"/>
                </a:solidFill>
                <a:latin typeface="华文楷体" panose="02010600040101010101" pitchFamily="2" charset="-122"/>
                <a:ea typeface="华文楷体" panose="02010600040101010101" pitchFamily="2" charset="-122"/>
                <a:sym typeface="Noto Sans SC"/>
              </a:rPr>
              <a:t>02</a:t>
            </a:r>
            <a:endParaRPr lang="en-US" sz="2400" b="1" dirty="0">
              <a:solidFill>
                <a:srgbClr val="FFD700"/>
              </a:solidFill>
              <a:latin typeface="华文楷体" panose="02010600040101010101" pitchFamily="2" charset="-122"/>
              <a:ea typeface="华文楷体" panose="02010600040101010101" pitchFamily="2" charset="-122"/>
            </a:endParaRPr>
          </a:p>
        </p:txBody>
      </p:sp>
      <p:sp>
        <p:nvSpPr>
          <p:cNvPr id="14" name="AutoShape 14"/>
          <p:cNvSpPr/>
          <p:nvPr/>
        </p:nvSpPr>
        <p:spPr>
          <a:xfrm>
            <a:off x="3683000" y="2857500"/>
            <a:ext cx="4826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400" b="1" dirty="0" err="1">
                <a:solidFill>
                  <a:srgbClr val="FFFFFF"/>
                </a:solidFill>
                <a:latin typeface="华文楷体" panose="02010600040101010101" pitchFamily="2" charset="-122"/>
                <a:ea typeface="华文楷体" panose="02010600040101010101" pitchFamily="2" charset="-122"/>
                <a:sym typeface="Noto Sans SC"/>
              </a:rPr>
              <a:t>分类地位：鲫鱼的“身份证</a:t>
            </a:r>
            <a:r>
              <a:rPr lang="en-US" sz="2400" b="1" dirty="0">
                <a:solidFill>
                  <a:srgbClr val="FFFFFF"/>
                </a:solidFill>
                <a:latin typeface="华文楷体" panose="02010600040101010101" pitchFamily="2" charset="-122"/>
                <a:ea typeface="华文楷体" panose="02010600040101010101" pitchFamily="2" charset="-122"/>
                <a:sym typeface="Noto Sans SC"/>
              </a:rPr>
              <a:t>”</a:t>
            </a:r>
            <a:endParaRPr lang="en-US" sz="2400" b="1" dirty="0">
              <a:solidFill>
                <a:srgbClr val="FFFFFF"/>
              </a:solidFill>
              <a:latin typeface="华文楷体" panose="02010600040101010101" pitchFamily="2" charset="-122"/>
              <a:ea typeface="华文楷体" panose="02010600040101010101" pitchFamily="2" charset="-122"/>
            </a:endParaRPr>
          </a:p>
        </p:txBody>
      </p:sp>
      <p:sp>
        <p:nvSpPr>
          <p:cNvPr id="16" name="AutoShape 16"/>
          <p:cNvSpPr/>
          <p:nvPr/>
        </p:nvSpPr>
        <p:spPr>
          <a:xfrm>
            <a:off x="2286000" y="3651250"/>
            <a:ext cx="6637071" cy="889000"/>
          </a:xfrm>
          <a:prstGeom prst="roundRect">
            <a:avLst>
              <a:gd name="adj" fmla="val 14285"/>
            </a:avLst>
          </a:prstGeom>
          <a:solidFill>
            <a:srgbClr val="FFFFFF">
              <a:alpha val="5000"/>
            </a:srgbClr>
          </a:solidFill>
          <a:ln w="12700" cap="flat" cmpd="sng">
            <a:solidFill>
              <a:srgbClr val="FFD700">
                <a:alpha val="30000"/>
              </a:srgbClr>
            </a:solidFill>
            <a:prstDash val="solid"/>
            <a:round/>
          </a:ln>
        </p:spPr>
        <p:txBody>
          <a:bodyPr vert="horz" wrap="square" lIns="63500" tIns="63500" rIns="63500" bIns="63500" rtlCol="0" anchor="ctr"/>
          <a:lstStyle/>
          <a:p>
            <a:pPr algn="ctr">
              <a:defRPr/>
            </a:pPr>
            <a:endParaRPr/>
          </a:p>
        </p:txBody>
      </p:sp>
      <p:sp>
        <p:nvSpPr>
          <p:cNvPr id="18" name="AutoShape 18"/>
          <p:cNvSpPr/>
          <p:nvPr/>
        </p:nvSpPr>
        <p:spPr>
          <a:xfrm>
            <a:off x="3048000" y="3937000"/>
            <a:ext cx="635000" cy="381000"/>
          </a:xfrm>
          <a:prstGeom prst="rect">
            <a:avLst/>
          </a:prstGeom>
          <a:noFill/>
          <a:ln w="12700" cap="flat" cmpd="sng">
            <a:noFill/>
            <a:prstDash val="solid"/>
            <a:round/>
          </a:ln>
        </p:spPr>
        <p:txBody>
          <a:bodyPr vert="horz" wrap="square" lIns="0" tIns="0" rIns="0" bIns="0" rtlCol="0" anchor="ctr" anchorCtr="0"/>
          <a:lstStyle/>
          <a:p>
            <a:pPr indent="0">
              <a:lnSpc>
                <a:spcPct val="125000"/>
              </a:lnSpc>
              <a:defRPr/>
            </a:pPr>
            <a:r>
              <a:rPr lang="en-US" sz="2400" b="1" dirty="0">
                <a:solidFill>
                  <a:srgbClr val="FFD700"/>
                </a:solidFill>
                <a:latin typeface="华文楷体" panose="02010600040101010101" pitchFamily="2" charset="-122"/>
                <a:ea typeface="华文楷体" panose="02010600040101010101" pitchFamily="2" charset="-122"/>
                <a:sym typeface="Noto Sans SC"/>
              </a:rPr>
              <a:t>03</a:t>
            </a:r>
            <a:endParaRPr lang="en-US" sz="2400" b="1" dirty="0">
              <a:solidFill>
                <a:srgbClr val="FFD700"/>
              </a:solidFill>
              <a:latin typeface="华文楷体" panose="02010600040101010101" pitchFamily="2" charset="-122"/>
              <a:ea typeface="华文楷体" panose="02010600040101010101" pitchFamily="2" charset="-122"/>
            </a:endParaRPr>
          </a:p>
        </p:txBody>
      </p:sp>
      <p:sp>
        <p:nvSpPr>
          <p:cNvPr id="19" name="AutoShape 19"/>
          <p:cNvSpPr/>
          <p:nvPr/>
        </p:nvSpPr>
        <p:spPr>
          <a:xfrm>
            <a:off x="3683000" y="3937000"/>
            <a:ext cx="4826000" cy="381000"/>
          </a:xfrm>
          <a:prstGeom prst="rect">
            <a:avLst/>
          </a:prstGeom>
          <a:noFill/>
          <a:ln w="12700" cap="flat" cmpd="sng">
            <a:noFill/>
            <a:prstDash val="solid"/>
            <a:round/>
          </a:ln>
        </p:spPr>
        <p:txBody>
          <a:bodyPr vert="horz" wrap="square" lIns="0" tIns="0" rIns="0" bIns="0" rtlCol="0" anchor="ctr" anchorCtr="0"/>
          <a:lstStyle/>
          <a:p>
            <a:pPr>
              <a:lnSpc>
                <a:spcPct val="125000"/>
              </a:lnSpc>
              <a:defRPr/>
            </a:pPr>
            <a:r>
              <a:rPr lang="en-US" sz="2400" b="1" dirty="0" err="1">
                <a:solidFill>
                  <a:srgbClr val="FFFFFF"/>
                </a:solidFill>
                <a:latin typeface="华文楷体" panose="02010600040101010101" pitchFamily="2" charset="-122"/>
                <a:ea typeface="华文楷体" panose="02010600040101010101" pitchFamily="2" charset="-122"/>
                <a:sym typeface="Noto Sans SC"/>
              </a:rPr>
              <a:t>生态环境：鲫鱼的“家园</a:t>
            </a:r>
            <a:r>
              <a:rPr lang="en-US" sz="2000" b="1" dirty="0">
                <a:solidFill>
                  <a:srgbClr val="FFFFFF"/>
                </a:solidFill>
                <a:latin typeface="华文楷体" panose="02010600040101010101" pitchFamily="2" charset="-122"/>
                <a:ea typeface="华文楷体" panose="02010600040101010101" pitchFamily="2" charset="-122"/>
                <a:sym typeface="Noto Sans SC"/>
              </a:rPr>
              <a:t>”</a:t>
            </a:r>
            <a:endParaRPr lang="en-US" sz="2000" b="1" dirty="0">
              <a:solidFill>
                <a:srgbClr val="FFFFFF"/>
              </a:solidFill>
              <a:latin typeface="华文楷体" panose="02010600040101010101" pitchFamily="2" charset="-122"/>
              <a:ea typeface="华文楷体" panose="02010600040101010101" pitchFamily="2" charset="-122"/>
            </a:endParaRPr>
          </a:p>
        </p:txBody>
      </p:sp>
      <p:sp>
        <p:nvSpPr>
          <p:cNvPr id="21" name="AutoShape 21"/>
          <p:cNvSpPr/>
          <p:nvPr/>
        </p:nvSpPr>
        <p:spPr>
          <a:xfrm>
            <a:off x="2286000" y="4762500"/>
            <a:ext cx="6637071" cy="889000"/>
          </a:xfrm>
          <a:prstGeom prst="roundRect">
            <a:avLst>
              <a:gd name="adj" fmla="val 14285"/>
            </a:avLst>
          </a:prstGeom>
          <a:solidFill>
            <a:srgbClr val="FFFFFF">
              <a:alpha val="5000"/>
            </a:srgbClr>
          </a:solidFill>
          <a:ln w="12700" cap="flat" cmpd="sng">
            <a:solidFill>
              <a:srgbClr val="FFD700">
                <a:alpha val="30000"/>
              </a:srgbClr>
            </a:solidFill>
            <a:prstDash val="solid"/>
            <a:round/>
          </a:ln>
        </p:spPr>
        <p:txBody>
          <a:bodyPr vert="horz" wrap="square" lIns="63500" tIns="63500" rIns="63500" bIns="63500" rtlCol="0" anchor="ctr"/>
          <a:lstStyle/>
          <a:p>
            <a:pPr algn="ctr">
              <a:defRPr/>
            </a:pPr>
            <a:endParaRPr/>
          </a:p>
        </p:txBody>
      </p:sp>
      <p:sp>
        <p:nvSpPr>
          <p:cNvPr id="23" name="AutoShape 23"/>
          <p:cNvSpPr/>
          <p:nvPr/>
        </p:nvSpPr>
        <p:spPr>
          <a:xfrm>
            <a:off x="3048000" y="5016500"/>
            <a:ext cx="635000" cy="381000"/>
          </a:xfrm>
          <a:prstGeom prst="rect">
            <a:avLst/>
          </a:prstGeom>
          <a:noFill/>
          <a:ln w="12700" cap="flat" cmpd="sng">
            <a:noFill/>
            <a:prstDash val="solid"/>
            <a:round/>
          </a:ln>
        </p:spPr>
        <p:txBody>
          <a:bodyPr vert="horz" wrap="square" lIns="0" tIns="0" rIns="0" bIns="0" rtlCol="0" anchor="ctr" anchorCtr="0"/>
          <a:lstStyle/>
          <a:p>
            <a:pPr>
              <a:lnSpc>
                <a:spcPct val="125000"/>
              </a:lnSpc>
              <a:defRPr/>
            </a:pPr>
            <a:r>
              <a:rPr lang="en-US" sz="2400" b="1" dirty="0">
                <a:solidFill>
                  <a:srgbClr val="FFD700"/>
                </a:solidFill>
                <a:latin typeface="华文楷体" panose="02010600040101010101" pitchFamily="2" charset="-122"/>
                <a:ea typeface="华文楷体" panose="02010600040101010101" pitchFamily="2" charset="-122"/>
                <a:sym typeface="Noto Sans SC"/>
              </a:rPr>
              <a:t>04</a:t>
            </a:r>
            <a:endParaRPr lang="en-US" sz="2400" b="1" dirty="0">
              <a:solidFill>
                <a:srgbClr val="FFD700"/>
              </a:solidFill>
              <a:latin typeface="华文楷体" panose="02010600040101010101" pitchFamily="2" charset="-122"/>
              <a:ea typeface="华文楷体" panose="02010600040101010101" pitchFamily="2" charset="-122"/>
            </a:endParaRPr>
          </a:p>
        </p:txBody>
      </p:sp>
      <p:sp>
        <p:nvSpPr>
          <p:cNvPr id="24" name="AutoShape 24"/>
          <p:cNvSpPr/>
          <p:nvPr/>
        </p:nvSpPr>
        <p:spPr>
          <a:xfrm>
            <a:off x="3683000" y="5016500"/>
            <a:ext cx="4826000" cy="381000"/>
          </a:xfrm>
          <a:prstGeom prst="rect">
            <a:avLst/>
          </a:prstGeom>
          <a:noFill/>
          <a:ln w="12700" cap="flat" cmpd="sng">
            <a:noFill/>
            <a:prstDash val="solid"/>
            <a:round/>
          </a:ln>
        </p:spPr>
        <p:txBody>
          <a:bodyPr vert="horz" wrap="square" lIns="0" tIns="0" rIns="0" bIns="0" rtlCol="0" anchor="ctr" anchorCtr="0"/>
          <a:lstStyle/>
          <a:p>
            <a:pPr indent="0">
              <a:lnSpc>
                <a:spcPct val="125000"/>
              </a:lnSpc>
              <a:defRPr/>
            </a:pPr>
            <a:r>
              <a:rPr lang="en-US" sz="2400" b="1" dirty="0" err="1">
                <a:solidFill>
                  <a:srgbClr val="FFFFFF"/>
                </a:solidFill>
                <a:latin typeface="华文楷体" panose="02010600040101010101" pitchFamily="2" charset="-122"/>
                <a:ea typeface="华文楷体" panose="02010600040101010101" pitchFamily="2" charset="-122"/>
                <a:sym typeface="Noto Sans SC"/>
              </a:rPr>
              <a:t>适应关系：设计的灵感之源</a:t>
            </a:r>
            <a:endParaRPr lang="en-US" sz="2400" b="1" dirty="0">
              <a:solidFill>
                <a:srgbClr val="FFFFFF"/>
              </a:solidFill>
              <a:latin typeface="华文楷体" panose="02010600040101010101" pitchFamily="2" charset="-122"/>
              <a:ea typeface="华文楷体" panose="02010600040101010101" pitchFamily="2" charset="-122"/>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8F9FA">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508000"/>
            <a:ext cx="5588000" cy="635000"/>
          </a:xfrm>
          <a:prstGeom prst="rect">
            <a:avLst/>
          </a:prstGeom>
          <a:noFill/>
          <a:ln w="12700" cap="flat" cmpd="sng">
            <a:noFill/>
            <a:prstDash val="solid"/>
            <a:round/>
          </a:ln>
        </p:spPr>
        <p:txBody>
          <a:bodyPr vert="horz" wrap="none" lIns="0" tIns="0" rIns="0" bIns="0" rtlCol="0" anchor="ctr" anchorCtr="0"/>
          <a:lstStyle/>
          <a:p>
            <a:pPr indent="0" algn="l">
              <a:lnSpc>
                <a:spcPct val="125000"/>
              </a:lnSpc>
              <a:defRPr/>
            </a:pPr>
            <a:r>
              <a:rPr lang="en-US" sz="3600" b="1" i="0" u="none" strike="noStrike" dirty="0" err="1">
                <a:solidFill>
                  <a:srgbClr val="DAA520"/>
                </a:solidFill>
                <a:latin typeface="华文新魏" panose="02010800040101010101" pitchFamily="2" charset="-122"/>
                <a:ea typeface="华文新魏" panose="02010800040101010101" pitchFamily="2" charset="-122"/>
                <a:cs typeface="Noto Sans SC"/>
                <a:sym typeface="Noto Sans SC"/>
              </a:rPr>
              <a:t>引言：走进鱼类的世界</a:t>
            </a:r>
            <a:endParaRPr lang="en-US" sz="1100" dirty="0">
              <a:latin typeface="华文新魏" panose="02010800040101010101" pitchFamily="2" charset="-122"/>
              <a:ea typeface="华文新魏" panose="02010800040101010101" pitchFamily="2" charset="-122"/>
            </a:endParaRPr>
          </a:p>
        </p:txBody>
      </p:sp>
      <p:sp>
        <p:nvSpPr>
          <p:cNvPr id="3" name="AutoShape 3"/>
          <p:cNvSpPr/>
          <p:nvPr/>
        </p:nvSpPr>
        <p:spPr>
          <a:xfrm>
            <a:off x="762000" y="1219200"/>
            <a:ext cx="762000" cy="50800"/>
          </a:xfrm>
          <a:prstGeom prst="roundRect">
            <a:avLst>
              <a:gd name="adj" fmla="val 0"/>
            </a:avLst>
          </a:prstGeom>
          <a:solidFill>
            <a:srgbClr val="DAA520">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4" name="AutoShape 4"/>
          <p:cNvSpPr/>
          <p:nvPr/>
        </p:nvSpPr>
        <p:spPr>
          <a:xfrm>
            <a:off x="762000" y="2092863"/>
            <a:ext cx="5588000" cy="3302000"/>
          </a:xfrm>
          <a:prstGeom prst="rect">
            <a:avLst/>
          </a:prstGeom>
          <a:noFill/>
          <a:ln w="12700" cap="flat" cmpd="sng">
            <a:noFill/>
            <a:prstDash val="solid"/>
            <a:round/>
          </a:ln>
        </p:spPr>
        <p:txBody>
          <a:bodyPr vert="horz" wrap="square" lIns="0" tIns="0" rIns="0" bIns="0" rtlCol="0" anchor="ctr" anchorCtr="0"/>
          <a:lstStyle/>
          <a:p>
            <a:pPr indent="0" algn="l">
              <a:lnSpc>
                <a:spcPct val="125000"/>
              </a:lnSpc>
              <a:spcAft>
                <a:spcPts val="1500"/>
              </a:spcAft>
              <a:defRPr/>
            </a:pPr>
            <a:r>
              <a:rPr lang="en-US" sz="2000" b="1" i="0" u="none" strike="noStrike" dirty="0" err="1">
                <a:solidFill>
                  <a:srgbClr val="333333"/>
                </a:solidFill>
                <a:latin typeface="华文楷体" panose="02010600040101010101" pitchFamily="2" charset="-122"/>
                <a:ea typeface="华文楷体" panose="02010600040101010101" pitchFamily="2" charset="-122"/>
                <a:cs typeface="Noto Sans SC"/>
                <a:sym typeface="Noto Sans SC"/>
              </a:rPr>
              <a:t>古老的脊椎动物家族</a:t>
            </a:r>
            <a:br>
              <a:rPr lang="en-US" sz="2000" b="0" i="0" u="none" strike="noStrike" dirty="0">
                <a:solidFill>
                  <a:srgbClr val="1F2329"/>
                </a:solidFill>
                <a:latin typeface="华文楷体" panose="02010600040101010101" pitchFamily="2" charset="-122"/>
                <a:ea typeface="华文楷体" panose="02010600040101010101" pitchFamily="2" charset="-122"/>
                <a:cs typeface="Noto Sans SC"/>
                <a:sym typeface="Noto Sans SC"/>
              </a:rPr>
            </a:br>
            <a:r>
              <a:rPr lang="en-US" sz="1800" b="0" i="0" u="none" strike="noStrike" dirty="0">
                <a:solidFill>
                  <a:srgbClr val="555555"/>
                </a:solidFill>
                <a:latin typeface="华文楷体" panose="02010600040101010101" pitchFamily="2" charset="-122"/>
                <a:ea typeface="华文楷体" panose="02010600040101010101" pitchFamily="2" charset="-122"/>
                <a:cs typeface="Noto Sans SC"/>
                <a:sym typeface="Noto Sans SC"/>
              </a:rPr>
              <a:t>鱼类是地球上最古老的脊椎动物之一，其历史可追溯至数亿年前。它们拥有独特的流线型身体结构和鳃呼吸等生理特征，是生物多样性中不可或缺的璀璨明珠。</a:t>
            </a:r>
            <a:endParaRPr lang="en-US" dirty="0">
              <a:latin typeface="华文楷体" panose="02010600040101010101" pitchFamily="2" charset="-122"/>
              <a:ea typeface="华文楷体" panose="02010600040101010101" pitchFamily="2" charset="-122"/>
            </a:endParaRPr>
          </a:p>
          <a:p>
            <a:pPr indent="0" algn="l">
              <a:lnSpc>
                <a:spcPct val="125000"/>
              </a:lnSpc>
              <a:spcAft>
                <a:spcPts val="1500"/>
              </a:spcAft>
            </a:pPr>
            <a:r>
              <a:rPr lang="en-US" sz="2000" b="1" i="0" u="none" strike="noStrike" dirty="0" err="1">
                <a:solidFill>
                  <a:srgbClr val="333333"/>
                </a:solidFill>
                <a:latin typeface="华文楷体" panose="02010600040101010101" pitchFamily="2" charset="-122"/>
                <a:ea typeface="华文楷体" panose="02010600040101010101" pitchFamily="2" charset="-122"/>
                <a:cs typeface="Noto Sans SC"/>
                <a:sym typeface="Noto Sans SC"/>
              </a:rPr>
              <a:t>无处不在的身影</a:t>
            </a:r>
            <a:br>
              <a:rPr lang="en-US" sz="2000" b="0" i="0" u="none" strike="noStrike" dirty="0">
                <a:solidFill>
                  <a:srgbClr val="1F2329"/>
                </a:solidFill>
                <a:latin typeface="华文楷体" panose="02010600040101010101" pitchFamily="2" charset="-122"/>
                <a:ea typeface="华文楷体" panose="02010600040101010101" pitchFamily="2" charset="-122"/>
                <a:cs typeface="Noto Sans SC"/>
                <a:sym typeface="Noto Sans SC"/>
              </a:rPr>
            </a:br>
            <a:r>
              <a:rPr lang="en-US" sz="1800" b="0" i="0" u="none" strike="noStrike" dirty="0">
                <a:solidFill>
                  <a:srgbClr val="555555"/>
                </a:solidFill>
                <a:latin typeface="华文楷体" panose="02010600040101010101" pitchFamily="2" charset="-122"/>
                <a:ea typeface="华文楷体" panose="02010600040101010101" pitchFamily="2" charset="-122"/>
                <a:cs typeface="Noto Sans SC"/>
                <a:sym typeface="Noto Sans SC"/>
              </a:rPr>
              <a:t>从浩瀚无垠的海洋深渊到潺潺流淌的山间溪流，鱼类凭借极强的适应能力占据了各类水生环境。它们形态各异、习性多样，共同构成了稳定的水生生态系统。</a:t>
            </a:r>
          </a:p>
          <a:p>
            <a:pPr indent="0" algn="l">
              <a:lnSpc>
                <a:spcPct val="125000"/>
              </a:lnSpc>
            </a:pPr>
            <a:r>
              <a:rPr lang="en-US" sz="2000" b="1" i="0" u="none" strike="noStrike" dirty="0" err="1">
                <a:solidFill>
                  <a:srgbClr val="333333"/>
                </a:solidFill>
                <a:latin typeface="华文楷体" panose="02010600040101010101" pitchFamily="2" charset="-122"/>
                <a:ea typeface="华文楷体" panose="02010600040101010101" pitchFamily="2" charset="-122"/>
                <a:cs typeface="Noto Sans SC"/>
                <a:sym typeface="Noto Sans SC"/>
              </a:rPr>
              <a:t>以“鲫”为鉴</a:t>
            </a:r>
            <a:br>
              <a:rPr lang="en-US" sz="2000" b="0" i="0" u="none" strike="noStrike" dirty="0">
                <a:solidFill>
                  <a:srgbClr val="1F2329"/>
                </a:solidFill>
                <a:latin typeface="华文楷体" panose="02010600040101010101" pitchFamily="2" charset="-122"/>
                <a:ea typeface="华文楷体" panose="02010600040101010101" pitchFamily="2" charset="-122"/>
                <a:cs typeface="Noto Sans SC"/>
                <a:sym typeface="Noto Sans SC"/>
              </a:rPr>
            </a:br>
            <a:r>
              <a:rPr lang="en-US" sz="1800" b="0" i="0" u="none" strike="noStrike" dirty="0" err="1">
                <a:solidFill>
                  <a:srgbClr val="555555"/>
                </a:solidFill>
                <a:latin typeface="华文楷体" panose="02010600040101010101" pitchFamily="2" charset="-122"/>
                <a:ea typeface="华文楷体" panose="02010600040101010101" pitchFamily="2" charset="-122"/>
                <a:cs typeface="Noto Sans SC"/>
                <a:sym typeface="Noto Sans SC"/>
              </a:rPr>
              <a:t>本次报告将聚焦我们身边最常见的</a:t>
            </a:r>
            <a:r>
              <a:rPr lang="en-US" sz="1800" b="1" i="0" u="none" strike="noStrike" dirty="0" err="1">
                <a:solidFill>
                  <a:srgbClr val="DAA520"/>
                </a:solidFill>
                <a:latin typeface="华文楷体" panose="02010600040101010101" pitchFamily="2" charset="-122"/>
                <a:ea typeface="华文楷体" panose="02010600040101010101" pitchFamily="2" charset="-122"/>
                <a:cs typeface="Noto Sans SC"/>
                <a:sym typeface="Noto Sans SC"/>
              </a:rPr>
              <a:t>鲫鱼</a:t>
            </a:r>
            <a:r>
              <a:rPr lang="en-US" sz="1800" b="0" i="0" u="none" strike="noStrike" dirty="0" err="1">
                <a:solidFill>
                  <a:srgbClr val="555555"/>
                </a:solidFill>
                <a:latin typeface="华文楷体" panose="02010600040101010101" pitchFamily="2" charset="-122"/>
                <a:ea typeface="华文楷体" panose="02010600040101010101" pitchFamily="2" charset="-122"/>
                <a:cs typeface="Noto Sans SC"/>
                <a:sym typeface="Noto Sans SC"/>
              </a:rPr>
              <a:t>，深入解析其分类地位与生存智慧，探讨自然选择如何塑造了这一物种精妙的身体设计</a:t>
            </a:r>
            <a:r>
              <a:rPr lang="en-US" sz="1400" b="0" i="0" u="none" strike="noStrike" dirty="0">
                <a:solidFill>
                  <a:srgbClr val="555555"/>
                </a:solidFill>
                <a:latin typeface="Noto Sans SC"/>
                <a:ea typeface="Noto Sans SC"/>
                <a:cs typeface="Noto Sans SC"/>
                <a:sym typeface="Noto Sans SC"/>
              </a:rPr>
              <a:t>。</a:t>
            </a:r>
          </a:p>
        </p:txBody>
      </p:sp>
      <p:pic>
        <p:nvPicPr>
          <p:cNvPr id="5" name="Picture 5"/>
          <p:cNvPicPr>
            <a:picLocks noChangeAspect="1"/>
          </p:cNvPicPr>
          <p:nvPr/>
        </p:nvPicPr>
        <p:blipFill>
          <a:blip r:embed="rId3"/>
          <a:srcRect/>
          <a:stretch>
            <a:fillRect/>
          </a:stretch>
        </p:blipFill>
        <p:spPr>
          <a:xfrm>
            <a:off x="8382000" y="1524000"/>
            <a:ext cx="2794000" cy="4191000"/>
          </a:xfrm>
          <a:prstGeom prst="roundRect">
            <a:avLst>
              <a:gd name="adj" fmla="val 6818"/>
            </a:avLst>
          </a:prstGeom>
          <a:noFill/>
          <a:ln w="25400" cap="flat" cmpd="sng">
            <a:solidFill>
              <a:srgbClr val="FFFFFF">
                <a:alpha val="100000"/>
              </a:srgbClr>
            </a:solidFill>
            <a:prstDash val="solid"/>
            <a:round/>
          </a:ln>
          <a:effectLst>
            <a:outerShdw blurRad="190500" dist="101600" dir="5400000" algn="tl" rotWithShape="0">
              <a:srgbClr val="000000">
                <a:alpha val="15000"/>
              </a:srgbClr>
            </a:outerShdw>
          </a:effectLst>
        </p:spPr>
      </p:pic>
      <p:sp>
        <p:nvSpPr>
          <p:cNvPr id="6" name="AutoShape 6"/>
          <p:cNvSpPr/>
          <p:nvPr/>
        </p:nvSpPr>
        <p:spPr>
          <a:xfrm>
            <a:off x="8382000" y="5842000"/>
            <a:ext cx="2794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b="0" i="0" u="none" strike="noStrike" dirty="0" err="1">
                <a:solidFill>
                  <a:srgbClr val="808080"/>
                </a:solidFill>
                <a:latin typeface="华文楷体" panose="02010600040101010101" pitchFamily="2" charset="-122"/>
                <a:ea typeface="华文楷体" panose="02010600040101010101" pitchFamily="2" charset="-122"/>
                <a:cs typeface="Noto Sans SC"/>
                <a:sym typeface="Noto Sans SC"/>
              </a:rPr>
              <a:t>图：形态各异的鱼类多样性展示</a:t>
            </a:r>
            <a:endParaRPr lang="en-US" sz="1200" dirty="0">
              <a:latin typeface="华文楷体" panose="02010600040101010101" pitchFamily="2" charset="-122"/>
              <a:ea typeface="华文楷体" panose="02010600040101010101" pitchFamily="2" charset="-122"/>
            </a:endParaRPr>
          </a:p>
        </p:txBody>
      </p:sp>
      <p:sp>
        <p:nvSpPr>
          <p:cNvPr id="7" name="AutoShape 7"/>
          <p:cNvSpPr/>
          <p:nvPr/>
        </p:nvSpPr>
        <p:spPr>
          <a:xfrm>
            <a:off x="0" y="6731000"/>
            <a:ext cx="12192000" cy="127000"/>
          </a:xfrm>
          <a:prstGeom prst="roundRect">
            <a:avLst>
              <a:gd name="adj" fmla="val 0"/>
            </a:avLst>
          </a:prstGeom>
          <a:solidFill>
            <a:srgbClr val="DAA520">
              <a:alpha val="100000"/>
            </a:srgbClr>
          </a:solidFill>
          <a:ln w="25400" cap="flat" cmpd="sng">
            <a:noFill/>
            <a:prstDash val="solid"/>
            <a:round/>
          </a:ln>
        </p:spPr>
        <p:txBody>
          <a:bodyPr vert="horz" wrap="square" lIns="63500" tIns="63500" rIns="63500" bIns="63500" rtlCol="0" anchor="ctr"/>
          <a:lstStyle/>
          <a:p>
            <a:pPr algn="ctr">
              <a:defRPr/>
            </a:pPr>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gradFill rotWithShape="1">
          <a:gsLst>
            <a:gs pos="0">
              <a:srgbClr val="1C1C1E">
                <a:alpha val="100000"/>
              </a:srgbClr>
            </a:gs>
            <a:gs pos="100000">
              <a:srgbClr val="2C2C2E">
                <a:alpha val="100000"/>
              </a:srgbClr>
            </a:gs>
          </a:gsLst>
          <a:lin ang="2700000"/>
        </a:gradFill>
        <a:effectLst/>
      </p:bgPr>
    </p:bg>
    <p:spTree>
      <p:nvGrpSpPr>
        <p:cNvPr id="1" name=""/>
        <p:cNvGrpSpPr/>
        <p:nvPr/>
      </p:nvGrpSpPr>
      <p:grpSpPr>
        <a:xfrm>
          <a:off x="0" y="0"/>
          <a:ext cx="0" cy="0"/>
          <a:chOff x="0" y="0"/>
          <a:chExt cx="0" cy="0"/>
        </a:xfrm>
      </p:grpSpPr>
      <p:sp>
        <p:nvSpPr>
          <p:cNvPr id="2" name="AutoShape 2"/>
          <p:cNvSpPr/>
          <p:nvPr/>
        </p:nvSpPr>
        <p:spPr>
          <a:xfrm>
            <a:off x="762000" y="508000"/>
            <a:ext cx="7048500" cy="635000"/>
          </a:xfrm>
          <a:prstGeom prst="rect">
            <a:avLst/>
          </a:prstGeom>
          <a:noFill/>
          <a:ln w="12700" cap="flat" cmpd="sng">
            <a:noFill/>
            <a:prstDash val="solid"/>
            <a:round/>
          </a:ln>
        </p:spPr>
        <p:txBody>
          <a:bodyPr vert="horz" wrap="none" lIns="0" tIns="0" rIns="0" bIns="0" rtlCol="0" anchor="ctr" anchorCtr="0"/>
          <a:lstStyle/>
          <a:p>
            <a:pPr indent="0" algn="l">
              <a:lnSpc>
                <a:spcPct val="125000"/>
              </a:lnSpc>
              <a:defRPr/>
            </a:pPr>
            <a:r>
              <a:rPr lang="en-US" sz="3600" b="1" i="0" u="none" strike="noStrike" dirty="0" err="1">
                <a:solidFill>
                  <a:srgbClr val="FFD700"/>
                </a:solidFill>
                <a:latin typeface="华文新魏" panose="02010800040101010101" pitchFamily="2" charset="-122"/>
                <a:ea typeface="华文新魏" panose="02010800040101010101" pitchFamily="2" charset="-122"/>
                <a:cs typeface="Noto Sans SC"/>
                <a:sym typeface="Noto Sans SC"/>
              </a:rPr>
              <a:t>分类地位：鲫鱼的“身份证</a:t>
            </a:r>
            <a:r>
              <a:rPr lang="en-US" sz="3600" b="1" i="0" u="none" strike="noStrike" dirty="0">
                <a:solidFill>
                  <a:srgbClr val="FFD700"/>
                </a:solidFill>
                <a:latin typeface="华文新魏" panose="02010800040101010101" pitchFamily="2" charset="-122"/>
                <a:ea typeface="华文新魏" panose="02010800040101010101" pitchFamily="2" charset="-122"/>
                <a:cs typeface="Noto Sans SC"/>
                <a:sym typeface="Noto Sans SC"/>
              </a:rPr>
              <a:t>”</a:t>
            </a:r>
            <a:endParaRPr lang="en-US" sz="1100" dirty="0">
              <a:latin typeface="华文新魏" panose="02010800040101010101" pitchFamily="2" charset="-122"/>
              <a:ea typeface="华文新魏" panose="02010800040101010101" pitchFamily="2" charset="-122"/>
            </a:endParaRPr>
          </a:p>
        </p:txBody>
      </p:sp>
      <p:sp>
        <p:nvSpPr>
          <p:cNvPr id="3" name="AutoShape 3"/>
          <p:cNvSpPr/>
          <p:nvPr/>
        </p:nvSpPr>
        <p:spPr>
          <a:xfrm>
            <a:off x="762000" y="1317219"/>
            <a:ext cx="5080000" cy="3302000"/>
          </a:xfrm>
          <a:prstGeom prst="roundRect">
            <a:avLst>
              <a:gd name="adj" fmla="val 3846"/>
            </a:avLst>
          </a:prstGeom>
          <a:solidFill>
            <a:srgbClr val="FFFFFF">
              <a:alpha val="5000"/>
            </a:srgbClr>
          </a:solidFill>
          <a:ln w="12700" cap="flat" cmpd="sng">
            <a:solidFill>
              <a:srgbClr val="FFD700">
                <a:alpha val="30000"/>
              </a:srgbClr>
            </a:solidFill>
            <a:prstDash val="solid"/>
            <a:round/>
          </a:ln>
        </p:spPr>
        <p:txBody>
          <a:bodyPr vert="horz" wrap="square" lIns="63500" tIns="63500" rIns="63500" bIns="63500" rtlCol="0" anchor="ctr"/>
          <a:lstStyle/>
          <a:p>
            <a:pPr algn="ctr">
              <a:defRPr/>
            </a:pPr>
            <a:endParaRPr/>
          </a:p>
        </p:txBody>
      </p:sp>
      <p:sp>
        <p:nvSpPr>
          <p:cNvPr id="4" name="AutoShape 4"/>
          <p:cNvSpPr/>
          <p:nvPr/>
        </p:nvSpPr>
        <p:spPr>
          <a:xfrm>
            <a:off x="1016000" y="1587500"/>
            <a:ext cx="4572000" cy="3556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dirty="0">
                <a:solidFill>
                  <a:srgbClr val="FFD700"/>
                </a:solidFill>
                <a:latin typeface="华文楷体" panose="02010600040101010101" pitchFamily="2" charset="-122"/>
                <a:ea typeface="华文楷体" panose="02010600040101010101" pitchFamily="2" charset="-122"/>
                <a:cs typeface="Noto Sans SC"/>
                <a:sym typeface="Noto Sans SC"/>
              </a:rPr>
              <a:t>界 </a:t>
            </a:r>
            <a:r>
              <a:rPr lang="en-US" sz="2000" b="1" i="0" u="none" strike="noStrike" dirty="0" err="1">
                <a:solidFill>
                  <a:srgbClr val="FFD700"/>
                </a:solidFill>
                <a:latin typeface="华文楷体" panose="02010600040101010101" pitchFamily="2" charset="-122"/>
                <a:ea typeface="华文楷体" panose="02010600040101010101" pitchFamily="2" charset="-122"/>
                <a:cs typeface="Noto Sans SC"/>
                <a:sym typeface="Noto Sans SC"/>
              </a:rPr>
              <a:t>Kingdom：</a:t>
            </a:r>
            <a:r>
              <a:rPr lang="en-US" sz="2000" b="0" i="0" u="none" strike="noStrike" dirty="0" err="1">
                <a:solidFill>
                  <a:srgbClr val="E5E5EA"/>
                </a:solidFill>
                <a:latin typeface="华文楷体" panose="02010600040101010101" pitchFamily="2" charset="-122"/>
                <a:ea typeface="华文楷体" panose="02010600040101010101" pitchFamily="2" charset="-122"/>
                <a:cs typeface="Noto Sans SC"/>
                <a:sym typeface="Noto Sans SC"/>
              </a:rPr>
              <a:t>动物界</a:t>
            </a:r>
            <a:r>
              <a:rPr lang="en-US" sz="2000" b="0" i="0" u="none" strike="noStrike" dirty="0">
                <a:solidFill>
                  <a:srgbClr val="E5E5EA"/>
                </a:solidFill>
                <a:latin typeface="华文楷体" panose="02010600040101010101" pitchFamily="2" charset="-122"/>
                <a:ea typeface="华文楷体" panose="02010600040101010101" pitchFamily="2" charset="-122"/>
                <a:cs typeface="Noto Sans SC"/>
                <a:sym typeface="Noto Sans SC"/>
              </a:rPr>
              <a:t> (Animalia)</a:t>
            </a:r>
            <a:endParaRPr lang="en-US" dirty="0">
              <a:latin typeface="华文楷体" panose="02010600040101010101" pitchFamily="2" charset="-122"/>
              <a:ea typeface="华文楷体" panose="02010600040101010101" pitchFamily="2" charset="-122"/>
            </a:endParaRPr>
          </a:p>
        </p:txBody>
      </p:sp>
      <p:sp>
        <p:nvSpPr>
          <p:cNvPr id="5" name="AutoShape 5"/>
          <p:cNvSpPr/>
          <p:nvPr/>
        </p:nvSpPr>
        <p:spPr>
          <a:xfrm>
            <a:off x="1016000" y="1968500"/>
            <a:ext cx="4572000" cy="3556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dirty="0">
                <a:solidFill>
                  <a:srgbClr val="FFD700"/>
                </a:solidFill>
                <a:latin typeface="华文楷体" panose="02010600040101010101" pitchFamily="2" charset="-122"/>
                <a:ea typeface="华文楷体" panose="02010600040101010101" pitchFamily="2" charset="-122"/>
                <a:sym typeface="Noto Sans SC"/>
              </a:rPr>
              <a:t>门 </a:t>
            </a:r>
            <a:r>
              <a:rPr lang="en-US" sz="2000" dirty="0" err="1">
                <a:solidFill>
                  <a:srgbClr val="FFD700"/>
                </a:solidFill>
                <a:latin typeface="华文楷体" panose="02010600040101010101" pitchFamily="2" charset="-122"/>
                <a:ea typeface="华文楷体" panose="02010600040101010101" pitchFamily="2" charset="-122"/>
                <a:sym typeface="Noto Sans SC"/>
              </a:rPr>
              <a:t>Phylum：</a:t>
            </a:r>
            <a:r>
              <a:rPr lang="en-US" sz="2000" dirty="0" err="1">
                <a:solidFill>
                  <a:srgbClr val="E5E5EA"/>
                </a:solidFill>
                <a:latin typeface="华文楷体" panose="02010600040101010101" pitchFamily="2" charset="-122"/>
                <a:ea typeface="华文楷体" panose="02010600040101010101" pitchFamily="2" charset="-122"/>
                <a:sym typeface="Noto Sans SC"/>
              </a:rPr>
              <a:t>脊索动物门</a:t>
            </a:r>
            <a:r>
              <a:rPr lang="en-US" sz="2000" dirty="0">
                <a:solidFill>
                  <a:srgbClr val="E5E5EA"/>
                </a:solidFill>
                <a:latin typeface="华文楷体" panose="02010600040101010101" pitchFamily="2" charset="-122"/>
                <a:ea typeface="华文楷体" panose="02010600040101010101" pitchFamily="2" charset="-122"/>
                <a:sym typeface="Noto Sans SC"/>
              </a:rPr>
              <a:t> (Chordata)</a:t>
            </a:r>
            <a:endParaRPr lang="en-US" sz="2000" dirty="0">
              <a:solidFill>
                <a:srgbClr val="E5E5EA"/>
              </a:solidFill>
              <a:latin typeface="华文楷体" panose="02010600040101010101" pitchFamily="2" charset="-122"/>
              <a:ea typeface="华文楷体" panose="02010600040101010101" pitchFamily="2" charset="-122"/>
            </a:endParaRPr>
          </a:p>
        </p:txBody>
      </p:sp>
      <p:sp>
        <p:nvSpPr>
          <p:cNvPr id="6" name="AutoShape 6"/>
          <p:cNvSpPr/>
          <p:nvPr/>
        </p:nvSpPr>
        <p:spPr>
          <a:xfrm>
            <a:off x="1016000" y="2349500"/>
            <a:ext cx="4572000" cy="355600"/>
          </a:xfrm>
          <a:prstGeom prst="rect">
            <a:avLst/>
          </a:prstGeom>
          <a:noFill/>
          <a:ln w="12700" cap="flat" cmpd="sng">
            <a:noFill/>
            <a:prstDash val="solid"/>
            <a:round/>
          </a:ln>
        </p:spPr>
        <p:txBody>
          <a:bodyPr vert="horz" wrap="square" lIns="0" tIns="0" rIns="0" bIns="0" rtlCol="0" anchor="ctr" anchorCtr="0"/>
          <a:lstStyle/>
          <a:p>
            <a:pPr>
              <a:lnSpc>
                <a:spcPct val="125000"/>
              </a:lnSpc>
              <a:defRPr/>
            </a:pPr>
            <a:r>
              <a:rPr lang="en-US" sz="2000" dirty="0">
                <a:solidFill>
                  <a:srgbClr val="FFD700"/>
                </a:solidFill>
                <a:latin typeface="华文楷体" panose="02010600040101010101" pitchFamily="2" charset="-122"/>
                <a:ea typeface="华文楷体" panose="02010600040101010101" pitchFamily="2" charset="-122"/>
                <a:sym typeface="Noto Sans SC"/>
              </a:rPr>
              <a:t>纲 </a:t>
            </a:r>
            <a:r>
              <a:rPr lang="en-US" sz="2000" dirty="0" err="1">
                <a:solidFill>
                  <a:srgbClr val="FFD700"/>
                </a:solidFill>
                <a:latin typeface="华文楷体" panose="02010600040101010101" pitchFamily="2" charset="-122"/>
                <a:ea typeface="华文楷体" panose="02010600040101010101" pitchFamily="2" charset="-122"/>
                <a:sym typeface="Noto Sans SC"/>
              </a:rPr>
              <a:t>Class：</a:t>
            </a:r>
            <a:r>
              <a:rPr lang="en-US" sz="2000" dirty="0" err="1">
                <a:solidFill>
                  <a:srgbClr val="E5E5EA"/>
                </a:solidFill>
                <a:latin typeface="华文楷体" panose="02010600040101010101" pitchFamily="2" charset="-122"/>
                <a:ea typeface="华文楷体" panose="02010600040101010101" pitchFamily="2" charset="-122"/>
                <a:sym typeface="Noto Sans SC"/>
              </a:rPr>
              <a:t>辐鳍鱼纲</a:t>
            </a:r>
            <a:r>
              <a:rPr lang="en-US" sz="2000" dirty="0">
                <a:solidFill>
                  <a:srgbClr val="E5E5EA"/>
                </a:solidFill>
                <a:latin typeface="华文楷体" panose="02010600040101010101" pitchFamily="2" charset="-122"/>
                <a:ea typeface="华文楷体" panose="02010600040101010101" pitchFamily="2" charset="-122"/>
                <a:sym typeface="Noto Sans SC"/>
              </a:rPr>
              <a:t> (Actinopterygii)</a:t>
            </a:r>
            <a:endParaRPr lang="en-US" sz="2000" dirty="0">
              <a:solidFill>
                <a:srgbClr val="E5E5EA"/>
              </a:solidFill>
              <a:latin typeface="华文楷体" panose="02010600040101010101" pitchFamily="2" charset="-122"/>
              <a:ea typeface="华文楷体" panose="02010600040101010101" pitchFamily="2" charset="-122"/>
            </a:endParaRPr>
          </a:p>
        </p:txBody>
      </p:sp>
      <p:sp>
        <p:nvSpPr>
          <p:cNvPr id="7" name="AutoShape 7"/>
          <p:cNvSpPr/>
          <p:nvPr/>
        </p:nvSpPr>
        <p:spPr>
          <a:xfrm>
            <a:off x="1016000" y="2730500"/>
            <a:ext cx="4572000" cy="3556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dirty="0">
                <a:solidFill>
                  <a:srgbClr val="FFD700"/>
                </a:solidFill>
                <a:latin typeface="华文楷体" panose="02010600040101010101" pitchFamily="2" charset="-122"/>
                <a:ea typeface="华文楷体" panose="02010600040101010101" pitchFamily="2" charset="-122"/>
                <a:cs typeface="Noto Sans SC"/>
                <a:sym typeface="Noto Sans SC"/>
              </a:rPr>
              <a:t>目 </a:t>
            </a:r>
            <a:r>
              <a:rPr lang="en-US" sz="2000" b="1" i="0" u="none" strike="noStrike" dirty="0" err="1">
                <a:solidFill>
                  <a:srgbClr val="FFD700"/>
                </a:solidFill>
                <a:latin typeface="华文楷体" panose="02010600040101010101" pitchFamily="2" charset="-122"/>
                <a:ea typeface="华文楷体" panose="02010600040101010101" pitchFamily="2" charset="-122"/>
                <a:cs typeface="Noto Sans SC"/>
                <a:sym typeface="Noto Sans SC"/>
              </a:rPr>
              <a:t>Order：</a:t>
            </a:r>
            <a:r>
              <a:rPr lang="en-US" sz="2000" b="0" i="0" u="none" strike="noStrike" dirty="0" err="1">
                <a:solidFill>
                  <a:srgbClr val="E5E5EA"/>
                </a:solidFill>
                <a:latin typeface="华文楷体" panose="02010600040101010101" pitchFamily="2" charset="-122"/>
                <a:ea typeface="华文楷体" panose="02010600040101010101" pitchFamily="2" charset="-122"/>
                <a:cs typeface="Noto Sans SC"/>
                <a:sym typeface="Noto Sans SC"/>
              </a:rPr>
              <a:t>鲤形目</a:t>
            </a:r>
            <a:r>
              <a:rPr lang="en-US" sz="2000" b="0" i="0" u="none" strike="noStrike" dirty="0">
                <a:solidFill>
                  <a:srgbClr val="E5E5EA"/>
                </a:solidFill>
                <a:latin typeface="华文楷体" panose="02010600040101010101" pitchFamily="2" charset="-122"/>
                <a:ea typeface="华文楷体" panose="02010600040101010101" pitchFamily="2" charset="-122"/>
                <a:cs typeface="Noto Sans SC"/>
                <a:sym typeface="Noto Sans SC"/>
              </a:rPr>
              <a:t> (Cypriniformes)</a:t>
            </a:r>
            <a:endParaRPr lang="en-US" dirty="0">
              <a:latin typeface="华文楷体" panose="02010600040101010101" pitchFamily="2" charset="-122"/>
              <a:ea typeface="华文楷体" panose="02010600040101010101" pitchFamily="2" charset="-122"/>
            </a:endParaRPr>
          </a:p>
        </p:txBody>
      </p:sp>
      <p:sp>
        <p:nvSpPr>
          <p:cNvPr id="8" name="AutoShape 8"/>
          <p:cNvSpPr/>
          <p:nvPr/>
        </p:nvSpPr>
        <p:spPr>
          <a:xfrm>
            <a:off x="1016000" y="3111500"/>
            <a:ext cx="4572000" cy="3556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dirty="0">
                <a:solidFill>
                  <a:srgbClr val="FFD700"/>
                </a:solidFill>
                <a:latin typeface="华文楷体" panose="02010600040101010101" pitchFamily="2" charset="-122"/>
                <a:ea typeface="华文楷体" panose="02010600040101010101" pitchFamily="2" charset="-122"/>
                <a:cs typeface="Noto Sans SC"/>
                <a:sym typeface="Noto Sans SC"/>
              </a:rPr>
              <a:t>科 </a:t>
            </a:r>
            <a:r>
              <a:rPr lang="en-US" sz="2000" b="1" i="0" u="none" strike="noStrike" dirty="0" err="1">
                <a:solidFill>
                  <a:srgbClr val="FFD700"/>
                </a:solidFill>
                <a:latin typeface="华文楷体" panose="02010600040101010101" pitchFamily="2" charset="-122"/>
                <a:ea typeface="华文楷体" panose="02010600040101010101" pitchFamily="2" charset="-122"/>
                <a:cs typeface="Noto Sans SC"/>
                <a:sym typeface="Noto Sans SC"/>
              </a:rPr>
              <a:t>Family：</a:t>
            </a:r>
            <a:r>
              <a:rPr lang="en-US" sz="2000" b="0" i="0" u="none" strike="noStrike" dirty="0" err="1">
                <a:solidFill>
                  <a:srgbClr val="E5E5EA"/>
                </a:solidFill>
                <a:latin typeface="华文楷体" panose="02010600040101010101" pitchFamily="2" charset="-122"/>
                <a:ea typeface="华文楷体" panose="02010600040101010101" pitchFamily="2" charset="-122"/>
                <a:cs typeface="Noto Sans SC"/>
                <a:sym typeface="Noto Sans SC"/>
              </a:rPr>
              <a:t>鲤科</a:t>
            </a:r>
            <a:r>
              <a:rPr lang="en-US" sz="2000" b="0" i="0" u="none" strike="noStrike" dirty="0">
                <a:solidFill>
                  <a:srgbClr val="E5E5EA"/>
                </a:solidFill>
                <a:latin typeface="华文楷体" panose="02010600040101010101" pitchFamily="2" charset="-122"/>
                <a:ea typeface="华文楷体" panose="02010600040101010101" pitchFamily="2" charset="-122"/>
                <a:cs typeface="Noto Sans SC"/>
                <a:sym typeface="Noto Sans SC"/>
              </a:rPr>
              <a:t> (</a:t>
            </a:r>
            <a:r>
              <a:rPr lang="en-US" sz="2000" b="0" i="0" u="none" strike="noStrike" dirty="0" err="1">
                <a:solidFill>
                  <a:srgbClr val="E5E5EA"/>
                </a:solidFill>
                <a:latin typeface="华文楷体" panose="02010600040101010101" pitchFamily="2" charset="-122"/>
                <a:ea typeface="华文楷体" panose="02010600040101010101" pitchFamily="2" charset="-122"/>
                <a:cs typeface="Noto Sans SC"/>
                <a:sym typeface="Noto Sans SC"/>
              </a:rPr>
              <a:t>Cyprinidae</a:t>
            </a:r>
            <a:r>
              <a:rPr lang="en-US" sz="2000" b="0" i="0" u="none" strike="noStrike" dirty="0">
                <a:solidFill>
                  <a:srgbClr val="E5E5EA"/>
                </a:solidFill>
                <a:latin typeface="华文楷体" panose="02010600040101010101" pitchFamily="2" charset="-122"/>
                <a:ea typeface="华文楷体" panose="02010600040101010101" pitchFamily="2" charset="-122"/>
                <a:cs typeface="Noto Sans SC"/>
                <a:sym typeface="Noto Sans SC"/>
              </a:rPr>
              <a:t>)</a:t>
            </a:r>
            <a:endParaRPr lang="en-US" dirty="0">
              <a:latin typeface="华文楷体" panose="02010600040101010101" pitchFamily="2" charset="-122"/>
              <a:ea typeface="华文楷体" panose="02010600040101010101" pitchFamily="2" charset="-122"/>
            </a:endParaRPr>
          </a:p>
        </p:txBody>
      </p:sp>
      <p:sp>
        <p:nvSpPr>
          <p:cNvPr id="9" name="AutoShape 9"/>
          <p:cNvSpPr/>
          <p:nvPr/>
        </p:nvSpPr>
        <p:spPr>
          <a:xfrm>
            <a:off x="1016000" y="3492500"/>
            <a:ext cx="4572000" cy="3556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dirty="0">
                <a:solidFill>
                  <a:srgbClr val="FFD700"/>
                </a:solidFill>
                <a:latin typeface="华文楷体" panose="02010600040101010101" pitchFamily="2" charset="-122"/>
                <a:ea typeface="华文楷体" panose="02010600040101010101" pitchFamily="2" charset="-122"/>
                <a:cs typeface="Noto Sans SC"/>
                <a:sym typeface="Noto Sans SC"/>
              </a:rPr>
              <a:t>属 </a:t>
            </a:r>
            <a:r>
              <a:rPr lang="en-US" sz="2000" b="1" i="0" u="none" strike="noStrike" dirty="0" err="1">
                <a:solidFill>
                  <a:srgbClr val="FFD700"/>
                </a:solidFill>
                <a:latin typeface="华文楷体" panose="02010600040101010101" pitchFamily="2" charset="-122"/>
                <a:ea typeface="华文楷体" panose="02010600040101010101" pitchFamily="2" charset="-122"/>
                <a:cs typeface="Noto Sans SC"/>
                <a:sym typeface="Noto Sans SC"/>
              </a:rPr>
              <a:t>Genus：</a:t>
            </a:r>
            <a:r>
              <a:rPr lang="en-US" sz="2000" b="0" i="0" u="none" strike="noStrike" dirty="0" err="1">
                <a:solidFill>
                  <a:srgbClr val="E5E5EA"/>
                </a:solidFill>
                <a:latin typeface="华文楷体" panose="02010600040101010101" pitchFamily="2" charset="-122"/>
                <a:ea typeface="华文楷体" panose="02010600040101010101" pitchFamily="2" charset="-122"/>
                <a:cs typeface="Noto Sans SC"/>
                <a:sym typeface="Noto Sans SC"/>
              </a:rPr>
              <a:t>鲫属</a:t>
            </a:r>
            <a:r>
              <a:rPr lang="en-US" sz="2000" b="0" i="0" u="none" strike="noStrike" dirty="0">
                <a:solidFill>
                  <a:srgbClr val="E5E5EA"/>
                </a:solidFill>
                <a:latin typeface="华文楷体" panose="02010600040101010101" pitchFamily="2" charset="-122"/>
                <a:ea typeface="华文楷体" panose="02010600040101010101" pitchFamily="2" charset="-122"/>
                <a:cs typeface="Noto Sans SC"/>
                <a:sym typeface="Noto Sans SC"/>
              </a:rPr>
              <a:t> (Carassius)</a:t>
            </a:r>
            <a:endParaRPr lang="en-US" dirty="0">
              <a:latin typeface="华文楷体" panose="02010600040101010101" pitchFamily="2" charset="-122"/>
              <a:ea typeface="华文楷体" panose="02010600040101010101" pitchFamily="2" charset="-122"/>
            </a:endParaRPr>
          </a:p>
        </p:txBody>
      </p:sp>
      <p:sp>
        <p:nvSpPr>
          <p:cNvPr id="10" name="AutoShape 10"/>
          <p:cNvSpPr/>
          <p:nvPr/>
        </p:nvSpPr>
        <p:spPr>
          <a:xfrm>
            <a:off x="1016000" y="3873500"/>
            <a:ext cx="4572000" cy="3556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dirty="0">
                <a:solidFill>
                  <a:srgbClr val="FFD700"/>
                </a:solidFill>
                <a:latin typeface="华文楷体" panose="02010600040101010101" pitchFamily="2" charset="-122"/>
                <a:ea typeface="华文楷体" panose="02010600040101010101" pitchFamily="2" charset="-122"/>
                <a:cs typeface="Noto Sans SC"/>
                <a:sym typeface="Noto Sans SC"/>
              </a:rPr>
              <a:t>种 </a:t>
            </a:r>
            <a:r>
              <a:rPr lang="en-US" sz="2000" b="1" i="0" u="none" strike="noStrike" dirty="0" err="1">
                <a:solidFill>
                  <a:srgbClr val="FFD700"/>
                </a:solidFill>
                <a:latin typeface="华文楷体" panose="02010600040101010101" pitchFamily="2" charset="-122"/>
                <a:ea typeface="华文楷体" panose="02010600040101010101" pitchFamily="2" charset="-122"/>
                <a:cs typeface="Noto Sans SC"/>
                <a:sym typeface="Noto Sans SC"/>
              </a:rPr>
              <a:t>Species：</a:t>
            </a:r>
            <a:r>
              <a:rPr lang="en-US" sz="2000" b="0" i="0" u="none" strike="noStrike" dirty="0" err="1">
                <a:solidFill>
                  <a:schemeClr val="bg1"/>
                </a:solidFill>
                <a:latin typeface="华文楷体" panose="02010600040101010101" pitchFamily="2" charset="-122"/>
                <a:ea typeface="华文楷体" panose="02010600040101010101" pitchFamily="2" charset="-122"/>
                <a:cs typeface="Noto Sans SC"/>
                <a:sym typeface="Noto Sans SC"/>
              </a:rPr>
              <a:t>鲫鱼</a:t>
            </a:r>
            <a:r>
              <a:rPr lang="en-US" sz="2000" b="0" i="0" u="none" strike="noStrike" dirty="0">
                <a:solidFill>
                  <a:schemeClr val="bg1"/>
                </a:solidFill>
                <a:latin typeface="华文楷体" panose="02010600040101010101" pitchFamily="2" charset="-122"/>
                <a:ea typeface="华文楷体" panose="02010600040101010101" pitchFamily="2" charset="-122"/>
                <a:cs typeface="Noto Sans SC"/>
                <a:sym typeface="Noto Sans SC"/>
              </a:rPr>
              <a:t> (Carassius auratus)</a:t>
            </a:r>
            <a:endParaRPr lang="en-US" dirty="0">
              <a:solidFill>
                <a:schemeClr val="bg1"/>
              </a:solidFill>
              <a:latin typeface="华文楷体" panose="02010600040101010101" pitchFamily="2" charset="-122"/>
              <a:ea typeface="华文楷体" panose="02010600040101010101" pitchFamily="2" charset="-122"/>
            </a:endParaRPr>
          </a:p>
        </p:txBody>
      </p:sp>
      <p:pic>
        <p:nvPicPr>
          <p:cNvPr id="11" name="Picture 11"/>
          <p:cNvPicPr>
            <a:picLocks noChangeAspect="1"/>
          </p:cNvPicPr>
          <p:nvPr/>
        </p:nvPicPr>
        <p:blipFill>
          <a:blip r:embed="rId3"/>
          <a:srcRect l="4838" r="4838" b="9465"/>
          <a:stretch>
            <a:fillRect/>
          </a:stretch>
        </p:blipFill>
        <p:spPr>
          <a:xfrm>
            <a:off x="6350000" y="1397000"/>
            <a:ext cx="3556000" cy="2794000"/>
          </a:xfrm>
          <a:prstGeom prst="roundRect">
            <a:avLst>
              <a:gd name="adj" fmla="val 4545"/>
            </a:avLst>
          </a:prstGeom>
          <a:noFill/>
          <a:ln w="25400" cap="flat" cmpd="sng">
            <a:solidFill>
              <a:srgbClr val="FFD700">
                <a:alpha val="50000"/>
              </a:srgbClr>
            </a:solidFill>
            <a:prstDash val="solid"/>
            <a:round/>
          </a:ln>
          <a:effectLst>
            <a:outerShdw blurRad="254000" dist="127000" dir="5400000" algn="tl" rotWithShape="0">
              <a:srgbClr val="000000">
                <a:alpha val="50000"/>
              </a:srgbClr>
            </a:outerShdw>
          </a:effectLst>
        </p:spPr>
      </p:pic>
      <p:sp>
        <p:nvSpPr>
          <p:cNvPr id="12" name="AutoShape 12"/>
          <p:cNvSpPr/>
          <p:nvPr/>
        </p:nvSpPr>
        <p:spPr>
          <a:xfrm>
            <a:off x="6350000" y="4318000"/>
            <a:ext cx="3556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600" b="0" i="0" u="none" strike="noStrike" dirty="0" err="1">
                <a:solidFill>
                  <a:srgbClr val="B0B0B0"/>
                </a:solidFill>
                <a:latin typeface="华文楷体" panose="02010600040101010101" pitchFamily="2" charset="-122"/>
                <a:ea typeface="华文楷体" panose="02010600040101010101" pitchFamily="2" charset="-122"/>
                <a:cs typeface="Noto Sans SC"/>
                <a:sym typeface="Noto Sans SC"/>
              </a:rPr>
              <a:t>图：鲫鱼</a:t>
            </a:r>
            <a:r>
              <a:rPr lang="en-US" sz="1600" b="0" i="0" u="none" strike="noStrike" dirty="0">
                <a:solidFill>
                  <a:srgbClr val="B0B0B0"/>
                </a:solidFill>
                <a:latin typeface="华文楷体" panose="02010600040101010101" pitchFamily="2" charset="-122"/>
                <a:ea typeface="华文楷体" panose="02010600040101010101" pitchFamily="2" charset="-122"/>
                <a:cs typeface="Noto Sans SC"/>
                <a:sym typeface="Noto Sans SC"/>
              </a:rPr>
              <a:t> (Carassius auratus) </a:t>
            </a:r>
            <a:r>
              <a:rPr lang="en-US" sz="1600" b="0" i="0" u="none" strike="noStrike" dirty="0" err="1">
                <a:solidFill>
                  <a:srgbClr val="B0B0B0"/>
                </a:solidFill>
                <a:latin typeface="华文楷体" panose="02010600040101010101" pitchFamily="2" charset="-122"/>
                <a:ea typeface="华文楷体" panose="02010600040101010101" pitchFamily="2" charset="-122"/>
                <a:cs typeface="Noto Sans SC"/>
                <a:sym typeface="Noto Sans SC"/>
              </a:rPr>
              <a:t>形态特征</a:t>
            </a:r>
            <a:endParaRPr lang="en-US" dirty="0">
              <a:latin typeface="华文楷体" panose="02010600040101010101" pitchFamily="2" charset="-122"/>
              <a:ea typeface="华文楷体" panose="02010600040101010101" pitchFamily="2" charset="-122"/>
            </a:endParaRPr>
          </a:p>
        </p:txBody>
      </p:sp>
      <p:sp>
        <p:nvSpPr>
          <p:cNvPr id="13" name="AutoShape 13"/>
          <p:cNvSpPr/>
          <p:nvPr/>
        </p:nvSpPr>
        <p:spPr>
          <a:xfrm>
            <a:off x="762000" y="5080000"/>
            <a:ext cx="10668000" cy="1016000"/>
          </a:xfrm>
          <a:prstGeom prst="roundRect">
            <a:avLst>
              <a:gd name="adj" fmla="val 12500"/>
            </a:avLst>
          </a:prstGeom>
          <a:solidFill>
            <a:srgbClr val="FFD700">
              <a:alpha val="10000"/>
            </a:srgbClr>
          </a:solidFill>
          <a:ln w="25400" cap="flat" cmpd="sng">
            <a:noFill/>
            <a:prstDash val="solid"/>
            <a:round/>
          </a:ln>
        </p:spPr>
        <p:txBody>
          <a:bodyPr vert="horz" wrap="square" lIns="63500" tIns="63500" rIns="63500" bIns="63500" rtlCol="0" anchor="ctr"/>
          <a:lstStyle/>
          <a:p>
            <a:pPr algn="ctr">
              <a:defRPr/>
            </a:pPr>
            <a:endParaRPr/>
          </a:p>
        </p:txBody>
      </p:sp>
      <p:sp>
        <p:nvSpPr>
          <p:cNvPr id="15" name="AutoShape 15"/>
          <p:cNvSpPr/>
          <p:nvPr/>
        </p:nvSpPr>
        <p:spPr>
          <a:xfrm>
            <a:off x="957358" y="5207000"/>
            <a:ext cx="10218642" cy="762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0" i="0" u="none" strike="noStrike" dirty="0" err="1">
                <a:solidFill>
                  <a:srgbClr val="F2F2F7"/>
                </a:solidFill>
                <a:latin typeface="华文楷体" panose="02010600040101010101" pitchFamily="2" charset="-122"/>
                <a:ea typeface="华文楷体" panose="02010600040101010101" pitchFamily="2" charset="-122"/>
                <a:cs typeface="Noto Sans SC"/>
                <a:sym typeface="Noto Sans SC"/>
              </a:rPr>
              <a:t>这清晰地表明，鲫鱼是一种属于</a:t>
            </a:r>
            <a:r>
              <a:rPr lang="en-US" sz="2000" b="1" i="0" u="none" strike="noStrike" dirty="0" err="1">
                <a:solidFill>
                  <a:srgbClr val="FFD700"/>
                </a:solidFill>
                <a:latin typeface="华文楷体" panose="02010600040101010101" pitchFamily="2" charset="-122"/>
                <a:ea typeface="华文楷体" panose="02010600040101010101" pitchFamily="2" charset="-122"/>
                <a:cs typeface="Noto Sans SC"/>
                <a:sym typeface="Noto Sans SC"/>
              </a:rPr>
              <a:t>鲤形目鲤科</a:t>
            </a:r>
            <a:r>
              <a:rPr lang="en-US" sz="2000" b="0" i="0" u="none" strike="noStrike" dirty="0" err="1">
                <a:solidFill>
                  <a:srgbClr val="F2F2F7"/>
                </a:solidFill>
                <a:latin typeface="华文楷体" panose="02010600040101010101" pitchFamily="2" charset="-122"/>
                <a:ea typeface="华文楷体" panose="02010600040101010101" pitchFamily="2" charset="-122"/>
                <a:cs typeface="Noto Sans SC"/>
                <a:sym typeface="Noto Sans SC"/>
              </a:rPr>
              <a:t>的淡水辐鳍鱼，在生物分类学中占据着明确且独特的位置</a:t>
            </a:r>
            <a:r>
              <a:rPr lang="en-US" sz="2000" b="0" i="0" u="none" strike="noStrike" dirty="0">
                <a:solidFill>
                  <a:srgbClr val="F2F2F7"/>
                </a:solidFill>
                <a:latin typeface="华文楷体" panose="02010600040101010101" pitchFamily="2" charset="-122"/>
                <a:ea typeface="华文楷体" panose="02010600040101010101" pitchFamily="2" charset="-122"/>
                <a:cs typeface="Noto Sans SC"/>
                <a:sym typeface="Noto Sans SC"/>
              </a:rPr>
              <a:t>。</a:t>
            </a:r>
            <a:endParaRPr lang="en-US" dirty="0">
              <a:latin typeface="华文楷体" panose="02010600040101010101" pitchFamily="2" charset="-122"/>
              <a:ea typeface="华文楷体" panose="02010600040101010101" pitchFamily="2" charset="-122"/>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1A1A1A">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508000"/>
            <a:ext cx="3022600" cy="635000"/>
          </a:xfrm>
          <a:prstGeom prst="rect">
            <a:avLst/>
          </a:prstGeom>
          <a:noFill/>
          <a:ln w="12700" cap="flat" cmpd="sng">
            <a:noFill/>
            <a:prstDash val="solid"/>
            <a:round/>
          </a:ln>
        </p:spPr>
        <p:txBody>
          <a:bodyPr vert="horz" wrap="none" lIns="0" tIns="0" rIns="0" bIns="0" rtlCol="0" anchor="ctr" anchorCtr="0"/>
          <a:lstStyle/>
          <a:p>
            <a:pPr indent="0" algn="l">
              <a:lnSpc>
                <a:spcPct val="125000"/>
              </a:lnSpc>
              <a:defRPr/>
            </a:pPr>
            <a:r>
              <a:rPr lang="en-US" sz="3600" b="1" i="0" u="none" strike="noStrike" dirty="0" err="1">
                <a:solidFill>
                  <a:srgbClr val="FFD700"/>
                </a:solidFill>
                <a:latin typeface="华文新魏" panose="02010800040101010101" pitchFamily="2" charset="-122"/>
                <a:ea typeface="华文新魏" panose="02010800040101010101" pitchFamily="2" charset="-122"/>
                <a:cs typeface="Noto Sans SC"/>
                <a:sym typeface="Noto Sans SC"/>
              </a:rPr>
              <a:t>形态特征解析</a:t>
            </a:r>
            <a:endParaRPr lang="en-US" sz="1100" dirty="0">
              <a:latin typeface="华文新魏" panose="02010800040101010101" pitchFamily="2" charset="-122"/>
              <a:ea typeface="华文新魏" panose="02010800040101010101" pitchFamily="2" charset="-122"/>
            </a:endParaRPr>
          </a:p>
        </p:txBody>
      </p:sp>
      <p:sp>
        <p:nvSpPr>
          <p:cNvPr id="3" name="AutoShape 3"/>
          <p:cNvSpPr/>
          <p:nvPr/>
        </p:nvSpPr>
        <p:spPr>
          <a:xfrm>
            <a:off x="762000" y="1206500"/>
            <a:ext cx="10668000" cy="25400"/>
          </a:xfrm>
          <a:prstGeom prst="roundRect">
            <a:avLst>
              <a:gd name="adj" fmla="val 0"/>
            </a:avLst>
          </a:prstGeom>
          <a:solidFill>
            <a:srgbClr val="FFD700">
              <a:alpha val="30000"/>
            </a:srgbClr>
          </a:solidFill>
          <a:ln w="25400" cap="flat" cmpd="sng">
            <a:noFill/>
            <a:prstDash val="solid"/>
            <a:round/>
          </a:ln>
        </p:spPr>
        <p:txBody>
          <a:bodyPr vert="horz" wrap="square" lIns="63500" tIns="63500" rIns="63500" bIns="63500" rtlCol="0" anchor="ctr"/>
          <a:lstStyle/>
          <a:p>
            <a:pPr algn="ctr">
              <a:defRPr/>
            </a:pPr>
            <a:endParaRPr/>
          </a:p>
        </p:txBody>
      </p:sp>
      <p:sp>
        <p:nvSpPr>
          <p:cNvPr id="5" name="AutoShape 5"/>
          <p:cNvSpPr/>
          <p:nvPr/>
        </p:nvSpPr>
        <p:spPr>
          <a:xfrm>
            <a:off x="762000" y="4445000"/>
            <a:ext cx="3556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800" b="0" i="0" u="none" strike="noStrike" dirty="0" err="1">
                <a:solidFill>
                  <a:srgbClr val="B0B0B0"/>
                </a:solidFill>
                <a:latin typeface="华文楷体" panose="02010600040101010101" pitchFamily="2" charset="-122"/>
                <a:ea typeface="华文楷体" panose="02010600040101010101" pitchFamily="2" charset="-122"/>
                <a:cs typeface="Noto Sans SC"/>
                <a:sym typeface="Noto Sans SC"/>
              </a:rPr>
              <a:t>鲫鱼形态结构示意图</a:t>
            </a:r>
            <a:endParaRPr lang="en-US" dirty="0">
              <a:latin typeface="华文楷体" panose="02010600040101010101" pitchFamily="2" charset="-122"/>
              <a:ea typeface="华文楷体" panose="02010600040101010101" pitchFamily="2" charset="-122"/>
            </a:endParaRPr>
          </a:p>
        </p:txBody>
      </p:sp>
      <p:sp>
        <p:nvSpPr>
          <p:cNvPr id="6" name="AutoShape 6"/>
          <p:cNvSpPr/>
          <p:nvPr/>
        </p:nvSpPr>
        <p:spPr>
          <a:xfrm>
            <a:off x="4826000" y="1524000"/>
            <a:ext cx="6604000" cy="825500"/>
          </a:xfrm>
          <a:prstGeom prst="roundRect">
            <a:avLst>
              <a:gd name="adj" fmla="val 7692"/>
            </a:avLst>
          </a:prstGeom>
          <a:solidFill>
            <a:srgbClr val="FFFFFF">
              <a:alpha val="5000"/>
            </a:srgbClr>
          </a:solidFill>
          <a:ln w="25400" cap="flat" cmpd="sng">
            <a:noFill/>
            <a:prstDash val="solid"/>
            <a:round/>
          </a:ln>
        </p:spPr>
        <p:txBody>
          <a:bodyPr vert="horz" wrap="square" lIns="63500" tIns="63500" rIns="63500" bIns="63500" rtlCol="0" anchor="ctr"/>
          <a:lstStyle/>
          <a:p>
            <a:pPr algn="ctr">
              <a:defRPr/>
            </a:pPr>
            <a:endParaRPr/>
          </a:p>
        </p:txBody>
      </p:sp>
      <p:pic>
        <p:nvPicPr>
          <p:cNvPr id="7" name="Picture 7"/>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5016500" y="1752600"/>
            <a:ext cx="355600" cy="355600"/>
          </a:xfrm>
          <a:prstGeom prst="rect">
            <a:avLst/>
          </a:prstGeom>
        </p:spPr>
      </p:pic>
      <p:sp>
        <p:nvSpPr>
          <p:cNvPr id="8" name="AutoShape 8"/>
          <p:cNvSpPr/>
          <p:nvPr/>
        </p:nvSpPr>
        <p:spPr>
          <a:xfrm>
            <a:off x="5524500" y="1587500"/>
            <a:ext cx="5715000" cy="6985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dirty="0" err="1">
                <a:solidFill>
                  <a:srgbClr val="FFD700"/>
                </a:solidFill>
                <a:latin typeface="华文楷体" panose="02010600040101010101" pitchFamily="2" charset="-122"/>
                <a:ea typeface="华文楷体" panose="02010600040101010101" pitchFamily="2" charset="-122"/>
                <a:cs typeface="Noto Sans SC"/>
                <a:sym typeface="Noto Sans SC"/>
              </a:rPr>
              <a:t>体型结构：</a:t>
            </a:r>
            <a:r>
              <a:rPr lang="en-US" sz="1600" b="0" i="0" u="none" strike="noStrike" dirty="0" err="1">
                <a:solidFill>
                  <a:srgbClr val="E6E6E6"/>
                </a:solidFill>
                <a:latin typeface="华文楷体" panose="02010600040101010101" pitchFamily="2" charset="-122"/>
                <a:ea typeface="华文楷体" panose="02010600040101010101" pitchFamily="2" charset="-122"/>
                <a:cs typeface="Noto Sans SC"/>
                <a:sym typeface="Noto Sans SC"/>
              </a:rPr>
              <a:t>体侧扁而高，腹部圆，呈纺锤形。这种流线型体型非常适合在静水或缓流中灵活游动</a:t>
            </a:r>
            <a:r>
              <a:rPr lang="en-US" sz="1600" b="0" i="0" u="none" strike="noStrike" dirty="0">
                <a:solidFill>
                  <a:srgbClr val="E6E6E6"/>
                </a:solidFill>
                <a:latin typeface="华文楷体" panose="02010600040101010101" pitchFamily="2" charset="-122"/>
                <a:ea typeface="华文楷体" panose="02010600040101010101" pitchFamily="2" charset="-122"/>
                <a:cs typeface="Noto Sans SC"/>
                <a:sym typeface="Noto Sans SC"/>
              </a:rPr>
              <a:t>。</a:t>
            </a:r>
            <a:endParaRPr lang="en-US" sz="1200" dirty="0">
              <a:latin typeface="华文楷体" panose="02010600040101010101" pitchFamily="2" charset="-122"/>
              <a:ea typeface="华文楷体" panose="02010600040101010101" pitchFamily="2" charset="-122"/>
            </a:endParaRPr>
          </a:p>
        </p:txBody>
      </p:sp>
      <p:sp>
        <p:nvSpPr>
          <p:cNvPr id="9" name="AutoShape 9"/>
          <p:cNvSpPr/>
          <p:nvPr/>
        </p:nvSpPr>
        <p:spPr>
          <a:xfrm>
            <a:off x="4826000" y="2476500"/>
            <a:ext cx="6604000" cy="825500"/>
          </a:xfrm>
          <a:prstGeom prst="roundRect">
            <a:avLst>
              <a:gd name="adj" fmla="val 7692"/>
            </a:avLst>
          </a:prstGeom>
          <a:solidFill>
            <a:srgbClr val="FFFFFF">
              <a:alpha val="5000"/>
            </a:srgbClr>
          </a:solidFill>
          <a:ln w="25400" cap="flat" cmpd="sng">
            <a:noFill/>
            <a:prstDash val="solid"/>
            <a:round/>
          </a:ln>
        </p:spPr>
        <p:txBody>
          <a:bodyPr vert="horz" wrap="square" lIns="63500" tIns="63500" rIns="63500" bIns="63500" rtlCol="0" anchor="ctr"/>
          <a:lstStyle/>
          <a:p>
            <a:pPr algn="ctr">
              <a:defRPr/>
            </a:pPr>
            <a:endParaRPr/>
          </a:p>
        </p:txBody>
      </p:sp>
      <p:pic>
        <p:nvPicPr>
          <p:cNvPr id="10" name="Picture 10"/>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5016500" y="2705100"/>
            <a:ext cx="355600" cy="355600"/>
          </a:xfrm>
          <a:prstGeom prst="rect">
            <a:avLst/>
          </a:prstGeom>
        </p:spPr>
      </p:pic>
      <p:sp>
        <p:nvSpPr>
          <p:cNvPr id="11" name="AutoShape 11"/>
          <p:cNvSpPr/>
          <p:nvPr/>
        </p:nvSpPr>
        <p:spPr>
          <a:xfrm>
            <a:off x="5524500" y="2540000"/>
            <a:ext cx="5715000" cy="6985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dirty="0" err="1">
                <a:solidFill>
                  <a:srgbClr val="FFD700"/>
                </a:solidFill>
                <a:latin typeface="华文楷体" panose="02010600040101010101" pitchFamily="2" charset="-122"/>
                <a:ea typeface="华文楷体" panose="02010600040101010101" pitchFamily="2" charset="-122"/>
                <a:cs typeface="Noto Sans SC"/>
                <a:sym typeface="Noto Sans SC"/>
              </a:rPr>
              <a:t>保护色：</a:t>
            </a:r>
            <a:r>
              <a:rPr lang="en-US" sz="1600" b="0" i="0" u="none" strike="noStrike" dirty="0" err="1">
                <a:solidFill>
                  <a:srgbClr val="E6E6E6"/>
                </a:solidFill>
                <a:latin typeface="华文楷体" panose="02010600040101010101" pitchFamily="2" charset="-122"/>
                <a:ea typeface="华文楷体" panose="02010600040101010101" pitchFamily="2" charset="-122"/>
                <a:cs typeface="Noto Sans SC"/>
                <a:sym typeface="Noto Sans SC"/>
              </a:rPr>
              <a:t>背部青灰色，腹部银白。上方看与水底一色，下方看与水面反光一致，有效躲避天敌</a:t>
            </a:r>
            <a:r>
              <a:rPr lang="en-US" sz="1600" b="0" i="0" u="none" strike="noStrike" dirty="0">
                <a:solidFill>
                  <a:srgbClr val="E6E6E6"/>
                </a:solidFill>
                <a:latin typeface="华文楷体" panose="02010600040101010101" pitchFamily="2" charset="-122"/>
                <a:ea typeface="华文楷体" panose="02010600040101010101" pitchFamily="2" charset="-122"/>
                <a:cs typeface="Noto Sans SC"/>
                <a:sym typeface="Noto Sans SC"/>
              </a:rPr>
              <a:t>。</a:t>
            </a:r>
            <a:endParaRPr lang="en-US" sz="1200" dirty="0">
              <a:latin typeface="华文楷体" panose="02010600040101010101" pitchFamily="2" charset="-122"/>
              <a:ea typeface="华文楷体" panose="02010600040101010101" pitchFamily="2" charset="-122"/>
            </a:endParaRPr>
          </a:p>
        </p:txBody>
      </p:sp>
      <p:sp>
        <p:nvSpPr>
          <p:cNvPr id="12" name="AutoShape 12"/>
          <p:cNvSpPr/>
          <p:nvPr/>
        </p:nvSpPr>
        <p:spPr>
          <a:xfrm>
            <a:off x="4826000" y="3429000"/>
            <a:ext cx="6604000" cy="825500"/>
          </a:xfrm>
          <a:prstGeom prst="roundRect">
            <a:avLst>
              <a:gd name="adj" fmla="val 7692"/>
            </a:avLst>
          </a:prstGeom>
          <a:solidFill>
            <a:srgbClr val="FFFFFF">
              <a:alpha val="5000"/>
            </a:srgbClr>
          </a:solidFill>
          <a:ln w="25400" cap="flat" cmpd="sng">
            <a:noFill/>
            <a:prstDash val="solid"/>
            <a:round/>
          </a:ln>
        </p:spPr>
        <p:txBody>
          <a:bodyPr vert="horz" wrap="square" lIns="63500" tIns="63500" rIns="63500" bIns="63500" rtlCol="0" anchor="ctr"/>
          <a:lstStyle/>
          <a:p>
            <a:pPr algn="ctr">
              <a:defRPr/>
            </a:pPr>
            <a:endParaRPr/>
          </a:p>
        </p:txBody>
      </p:sp>
      <p:pic>
        <p:nvPicPr>
          <p:cNvPr id="13" name="Picture 13"/>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5016500" y="3657600"/>
            <a:ext cx="355600" cy="355600"/>
          </a:xfrm>
          <a:prstGeom prst="rect">
            <a:avLst/>
          </a:prstGeom>
        </p:spPr>
      </p:pic>
      <p:sp>
        <p:nvSpPr>
          <p:cNvPr id="14" name="AutoShape 14"/>
          <p:cNvSpPr/>
          <p:nvPr/>
        </p:nvSpPr>
        <p:spPr>
          <a:xfrm>
            <a:off x="5524500" y="3492500"/>
            <a:ext cx="5715000" cy="6985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dirty="0" err="1">
                <a:solidFill>
                  <a:srgbClr val="FFD700"/>
                </a:solidFill>
                <a:latin typeface="华文楷体" panose="02010600040101010101" pitchFamily="2" charset="-122"/>
                <a:ea typeface="华文楷体" panose="02010600040101010101" pitchFamily="2" charset="-122"/>
                <a:cs typeface="Noto Sans SC"/>
                <a:sym typeface="Noto Sans SC"/>
              </a:rPr>
              <a:t>鳞片特征：</a:t>
            </a:r>
            <a:r>
              <a:rPr lang="en-US" sz="1600" b="0" i="0" u="none" strike="noStrike" dirty="0" err="1">
                <a:solidFill>
                  <a:srgbClr val="E6E6E6"/>
                </a:solidFill>
                <a:latin typeface="华文楷体" panose="02010600040101010101" pitchFamily="2" charset="-122"/>
                <a:ea typeface="华文楷体" panose="02010600040101010101" pitchFamily="2" charset="-122"/>
                <a:cs typeface="Noto Sans SC"/>
                <a:sym typeface="Noto Sans SC"/>
              </a:rPr>
              <a:t>鳞片大而圆，覆盖全身。表面粘液丰富，既能保护身体免受伤害，又能大幅减少游动阻力</a:t>
            </a:r>
            <a:r>
              <a:rPr lang="en-US" sz="1600" b="0" i="0" u="none" strike="noStrike" dirty="0">
                <a:solidFill>
                  <a:srgbClr val="E6E6E6"/>
                </a:solidFill>
                <a:latin typeface="华文楷体" panose="02010600040101010101" pitchFamily="2" charset="-122"/>
                <a:ea typeface="华文楷体" panose="02010600040101010101" pitchFamily="2" charset="-122"/>
                <a:cs typeface="Noto Sans SC"/>
                <a:sym typeface="Noto Sans SC"/>
              </a:rPr>
              <a:t>。</a:t>
            </a:r>
            <a:endParaRPr lang="en-US" sz="1200" dirty="0">
              <a:latin typeface="华文楷体" panose="02010600040101010101" pitchFamily="2" charset="-122"/>
              <a:ea typeface="华文楷体" panose="02010600040101010101" pitchFamily="2" charset="-122"/>
            </a:endParaRPr>
          </a:p>
        </p:txBody>
      </p:sp>
      <p:sp>
        <p:nvSpPr>
          <p:cNvPr id="15" name="AutoShape 15"/>
          <p:cNvSpPr/>
          <p:nvPr/>
        </p:nvSpPr>
        <p:spPr>
          <a:xfrm>
            <a:off x="4826000" y="4381500"/>
            <a:ext cx="6604000" cy="825500"/>
          </a:xfrm>
          <a:prstGeom prst="roundRect">
            <a:avLst>
              <a:gd name="adj" fmla="val 7692"/>
            </a:avLst>
          </a:prstGeom>
          <a:solidFill>
            <a:srgbClr val="FFFFFF">
              <a:alpha val="5000"/>
            </a:srgbClr>
          </a:solidFill>
          <a:ln w="25400" cap="flat" cmpd="sng">
            <a:noFill/>
            <a:prstDash val="solid"/>
            <a:round/>
          </a:ln>
        </p:spPr>
        <p:txBody>
          <a:bodyPr vert="horz" wrap="square" lIns="63500" tIns="63500" rIns="63500" bIns="63500" rtlCol="0" anchor="ctr"/>
          <a:lstStyle/>
          <a:p>
            <a:pPr algn="ctr">
              <a:defRPr/>
            </a:pPr>
            <a:endParaRPr/>
          </a:p>
        </p:txBody>
      </p:sp>
      <p:pic>
        <p:nvPicPr>
          <p:cNvPr id="16" name="Picture 16"/>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5016500" y="4610100"/>
            <a:ext cx="355600" cy="355600"/>
          </a:xfrm>
          <a:prstGeom prst="rect">
            <a:avLst/>
          </a:prstGeom>
        </p:spPr>
      </p:pic>
      <p:sp>
        <p:nvSpPr>
          <p:cNvPr id="17" name="AutoShape 17"/>
          <p:cNvSpPr/>
          <p:nvPr/>
        </p:nvSpPr>
        <p:spPr>
          <a:xfrm>
            <a:off x="5524500" y="4445000"/>
            <a:ext cx="5715000" cy="6985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dirty="0" err="1">
                <a:solidFill>
                  <a:srgbClr val="FFD700"/>
                </a:solidFill>
                <a:latin typeface="华文楷体" panose="02010600040101010101" pitchFamily="2" charset="-122"/>
                <a:ea typeface="华文楷体" panose="02010600040101010101" pitchFamily="2" charset="-122"/>
                <a:cs typeface="Noto Sans SC"/>
                <a:sym typeface="Noto Sans SC"/>
              </a:rPr>
              <a:t>鳍的功能：</a:t>
            </a:r>
            <a:r>
              <a:rPr lang="en-US" sz="1600" b="0" i="0" u="none" strike="noStrike" dirty="0" err="1">
                <a:solidFill>
                  <a:srgbClr val="E6E6E6"/>
                </a:solidFill>
                <a:latin typeface="华文楷体" panose="02010600040101010101" pitchFamily="2" charset="-122"/>
                <a:ea typeface="华文楷体" panose="02010600040101010101" pitchFamily="2" charset="-122"/>
                <a:cs typeface="Noto Sans SC"/>
                <a:sym typeface="Noto Sans SC"/>
              </a:rPr>
              <a:t>背鳍臀鳍具硬刺维持平衡；尾鳍呈叉形，是主要的推进动力和转向操控器官</a:t>
            </a:r>
            <a:r>
              <a:rPr lang="en-US" sz="1600" b="0" i="0" u="none" strike="noStrike" dirty="0">
                <a:solidFill>
                  <a:srgbClr val="E6E6E6"/>
                </a:solidFill>
                <a:latin typeface="华文楷体" panose="02010600040101010101" pitchFamily="2" charset="-122"/>
                <a:ea typeface="华文楷体" panose="02010600040101010101" pitchFamily="2" charset="-122"/>
                <a:cs typeface="Noto Sans SC"/>
                <a:sym typeface="Noto Sans SC"/>
              </a:rPr>
              <a:t>。</a:t>
            </a:r>
            <a:endParaRPr lang="en-US" sz="1200" dirty="0">
              <a:latin typeface="华文楷体" panose="02010600040101010101" pitchFamily="2" charset="-122"/>
              <a:ea typeface="华文楷体" panose="02010600040101010101" pitchFamily="2" charset="-122"/>
            </a:endParaRPr>
          </a:p>
        </p:txBody>
      </p:sp>
      <p:sp>
        <p:nvSpPr>
          <p:cNvPr id="18" name="AutoShape 18"/>
          <p:cNvSpPr/>
          <p:nvPr/>
        </p:nvSpPr>
        <p:spPr>
          <a:xfrm>
            <a:off x="4826000" y="5334000"/>
            <a:ext cx="6604000" cy="825500"/>
          </a:xfrm>
          <a:prstGeom prst="roundRect">
            <a:avLst>
              <a:gd name="adj" fmla="val 7692"/>
            </a:avLst>
          </a:prstGeom>
          <a:solidFill>
            <a:srgbClr val="FFFFFF">
              <a:alpha val="5000"/>
            </a:srgbClr>
          </a:solidFill>
          <a:ln w="25400" cap="flat" cmpd="sng">
            <a:noFill/>
            <a:prstDash val="solid"/>
            <a:round/>
          </a:ln>
        </p:spPr>
        <p:txBody>
          <a:bodyPr vert="horz" wrap="square" lIns="63500" tIns="63500" rIns="63500" bIns="63500" rtlCol="0" anchor="ctr"/>
          <a:lstStyle/>
          <a:p>
            <a:pPr algn="ctr">
              <a:defRPr/>
            </a:pPr>
            <a:endParaRPr/>
          </a:p>
        </p:txBody>
      </p:sp>
      <p:pic>
        <p:nvPicPr>
          <p:cNvPr id="19" name="Picture 19"/>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5016500" y="5562600"/>
            <a:ext cx="355600" cy="355600"/>
          </a:xfrm>
          <a:prstGeom prst="rect">
            <a:avLst/>
          </a:prstGeom>
        </p:spPr>
      </p:pic>
      <p:sp>
        <p:nvSpPr>
          <p:cNvPr id="20" name="AutoShape 20"/>
          <p:cNvSpPr/>
          <p:nvPr/>
        </p:nvSpPr>
        <p:spPr>
          <a:xfrm>
            <a:off x="5524500" y="5397500"/>
            <a:ext cx="5715000" cy="6985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dirty="0" err="1">
                <a:solidFill>
                  <a:srgbClr val="FFD700"/>
                </a:solidFill>
                <a:latin typeface="华文楷体" panose="02010600040101010101" pitchFamily="2" charset="-122"/>
                <a:ea typeface="华文楷体" panose="02010600040101010101" pitchFamily="2" charset="-122"/>
                <a:cs typeface="Noto Sans SC"/>
                <a:sym typeface="Noto Sans SC"/>
              </a:rPr>
              <a:t>口部特征：</a:t>
            </a:r>
            <a:r>
              <a:rPr lang="en-US" sz="1600" b="0" i="0" u="none" strike="noStrike" dirty="0" err="1">
                <a:solidFill>
                  <a:srgbClr val="E6E6E6"/>
                </a:solidFill>
                <a:latin typeface="华文楷体" panose="02010600040101010101" pitchFamily="2" charset="-122"/>
                <a:ea typeface="华文楷体" panose="02010600040101010101" pitchFamily="2" charset="-122"/>
                <a:cs typeface="Noto Sans SC"/>
                <a:sym typeface="Noto Sans SC"/>
              </a:rPr>
              <a:t>口端位，无须。这是区分鲫鱼与鲤鱼最直观的外部形态特征</a:t>
            </a:r>
            <a:r>
              <a:rPr lang="en-US" sz="1600" b="0" i="0" u="none" strike="noStrike" dirty="0">
                <a:solidFill>
                  <a:srgbClr val="E6E6E6"/>
                </a:solidFill>
                <a:latin typeface="华文楷体" panose="02010600040101010101" pitchFamily="2" charset="-122"/>
                <a:ea typeface="华文楷体" panose="02010600040101010101" pitchFamily="2" charset="-122"/>
                <a:cs typeface="Noto Sans SC"/>
                <a:sym typeface="Noto Sans SC"/>
              </a:rPr>
              <a:t>。</a:t>
            </a:r>
            <a:endParaRPr lang="en-US" sz="1200" dirty="0">
              <a:latin typeface="华文楷体" panose="02010600040101010101" pitchFamily="2" charset="-122"/>
              <a:ea typeface="华文楷体" panose="02010600040101010101" pitchFamily="2" charset="-122"/>
            </a:endParaRPr>
          </a:p>
        </p:txBody>
      </p:sp>
      <p:pic>
        <p:nvPicPr>
          <p:cNvPr id="24" name="图片 23">
            <a:extLst>
              <a:ext uri="{FF2B5EF4-FFF2-40B4-BE49-F238E27FC236}">
                <a16:creationId xmlns:a16="http://schemas.microsoft.com/office/drawing/2014/main" id="{9855CF0D-7312-74FB-6C0D-ABACD4BCD1E5}"/>
              </a:ext>
            </a:extLst>
          </p:cNvPr>
          <p:cNvPicPr>
            <a:picLocks/>
          </p:cNvPicPr>
          <p:nvPr/>
        </p:nvPicPr>
        <p:blipFill>
          <a:blip r:embed="rId13"/>
          <a:srcRect l="5928" r="3925" b="7979"/>
          <a:stretch>
            <a:fillRect/>
          </a:stretch>
        </p:blipFill>
        <p:spPr>
          <a:xfrm>
            <a:off x="186665" y="1752600"/>
            <a:ext cx="4385165" cy="2516941"/>
          </a:xfrm>
          <a:prstGeom prst="round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gradFill rotWithShape="1">
          <a:gsLst>
            <a:gs pos="0">
              <a:srgbClr val="141E30">
                <a:alpha val="100000"/>
              </a:srgbClr>
            </a:gs>
            <a:gs pos="100000">
              <a:srgbClr val="243B55">
                <a:alpha val="100000"/>
              </a:srgbClr>
            </a:gs>
          </a:gsLst>
          <a:lin ang="2700000"/>
        </a:gradFill>
        <a:effectLst/>
      </p:bgPr>
    </p:bg>
    <p:spTree>
      <p:nvGrpSpPr>
        <p:cNvPr id="1" name=""/>
        <p:cNvGrpSpPr/>
        <p:nvPr/>
      </p:nvGrpSpPr>
      <p:grpSpPr>
        <a:xfrm>
          <a:off x="0" y="0"/>
          <a:ext cx="0" cy="0"/>
          <a:chOff x="0" y="0"/>
          <a:chExt cx="0" cy="0"/>
        </a:xfrm>
      </p:grpSpPr>
      <p:sp>
        <p:nvSpPr>
          <p:cNvPr id="2" name="AutoShape 2"/>
          <p:cNvSpPr/>
          <p:nvPr/>
        </p:nvSpPr>
        <p:spPr>
          <a:xfrm>
            <a:off x="762000" y="508000"/>
            <a:ext cx="5537200" cy="635000"/>
          </a:xfrm>
          <a:prstGeom prst="rect">
            <a:avLst/>
          </a:prstGeom>
          <a:noFill/>
          <a:ln w="12700" cap="flat" cmpd="sng">
            <a:noFill/>
            <a:prstDash val="solid"/>
            <a:round/>
          </a:ln>
        </p:spPr>
        <p:txBody>
          <a:bodyPr vert="horz" wrap="none" lIns="0" tIns="0" rIns="0" bIns="0" rtlCol="0" anchor="ctr" anchorCtr="0"/>
          <a:lstStyle/>
          <a:p>
            <a:pPr indent="0" algn="l">
              <a:lnSpc>
                <a:spcPct val="125000"/>
              </a:lnSpc>
              <a:defRPr/>
            </a:pPr>
            <a:r>
              <a:rPr lang="en-US" sz="3600" b="1" i="0" u="none" strike="noStrike" dirty="0" err="1">
                <a:solidFill>
                  <a:srgbClr val="FFD700"/>
                </a:solidFill>
                <a:latin typeface="华文楷体" panose="02010600040101010101" pitchFamily="2" charset="-122"/>
                <a:ea typeface="华文楷体" panose="02010600040101010101" pitchFamily="2" charset="-122"/>
                <a:cs typeface="Noto Sans SC"/>
                <a:sym typeface="Noto Sans SC"/>
              </a:rPr>
              <a:t>生态环境：鲫鱼的“家园</a:t>
            </a:r>
            <a:r>
              <a:rPr lang="en-US" sz="3600" b="1" i="0" u="none" strike="noStrike" dirty="0">
                <a:solidFill>
                  <a:srgbClr val="FFD700"/>
                </a:solidFill>
                <a:latin typeface="华文楷体" panose="02010600040101010101" pitchFamily="2" charset="-122"/>
                <a:ea typeface="华文楷体" panose="02010600040101010101" pitchFamily="2" charset="-122"/>
                <a:cs typeface="Noto Sans SC"/>
                <a:sym typeface="Noto Sans SC"/>
              </a:rPr>
              <a:t>”</a:t>
            </a:r>
            <a:endParaRPr lang="en-US" sz="1100" dirty="0">
              <a:latin typeface="华文楷体" panose="02010600040101010101" pitchFamily="2" charset="-122"/>
              <a:ea typeface="华文楷体" panose="02010600040101010101" pitchFamily="2" charset="-122"/>
            </a:endParaRPr>
          </a:p>
        </p:txBody>
      </p:sp>
      <p:pic>
        <p:nvPicPr>
          <p:cNvPr id="4" name="Picture 4"/>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762000" y="3810000"/>
            <a:ext cx="304800" cy="304800"/>
          </a:xfrm>
          <a:prstGeom prst="rect">
            <a:avLst/>
          </a:prstGeom>
        </p:spPr>
      </p:pic>
      <p:sp>
        <p:nvSpPr>
          <p:cNvPr id="5" name="AutoShape 5"/>
          <p:cNvSpPr/>
          <p:nvPr/>
        </p:nvSpPr>
        <p:spPr>
          <a:xfrm>
            <a:off x="1143000" y="3759200"/>
            <a:ext cx="4572000" cy="3556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dirty="0" err="1">
                <a:solidFill>
                  <a:srgbClr val="FFD700"/>
                </a:solidFill>
                <a:latin typeface="华文楷体" panose="02010600040101010101" pitchFamily="2" charset="-122"/>
                <a:ea typeface="华文楷体" panose="02010600040101010101" pitchFamily="2" charset="-122"/>
                <a:cs typeface="Noto Sans SC"/>
                <a:sym typeface="Noto Sans SC"/>
              </a:rPr>
              <a:t>分布范围：全球淡水水域的“生存者</a:t>
            </a:r>
            <a:r>
              <a:rPr lang="en-US" sz="2000" b="1" i="0" u="none" strike="noStrike" dirty="0">
                <a:solidFill>
                  <a:srgbClr val="FFD700"/>
                </a:solidFill>
                <a:latin typeface="华文楷体" panose="02010600040101010101" pitchFamily="2" charset="-122"/>
                <a:ea typeface="华文楷体" panose="02010600040101010101" pitchFamily="2" charset="-122"/>
                <a:cs typeface="Noto Sans SC"/>
                <a:sym typeface="Noto Sans SC"/>
              </a:rPr>
              <a:t>”</a:t>
            </a:r>
            <a:endParaRPr lang="en-US" sz="1200" dirty="0">
              <a:latin typeface="华文楷体" panose="02010600040101010101" pitchFamily="2" charset="-122"/>
              <a:ea typeface="华文楷体" panose="02010600040101010101" pitchFamily="2" charset="-122"/>
            </a:endParaRPr>
          </a:p>
        </p:txBody>
      </p:sp>
      <p:sp>
        <p:nvSpPr>
          <p:cNvPr id="6" name="AutoShape 6"/>
          <p:cNvSpPr/>
          <p:nvPr/>
        </p:nvSpPr>
        <p:spPr>
          <a:xfrm>
            <a:off x="762000" y="4191000"/>
            <a:ext cx="5080000" cy="1270000"/>
          </a:xfrm>
          <a:prstGeom prst="rect">
            <a:avLst/>
          </a:prstGeom>
          <a:noFill/>
          <a:ln w="12700" cap="flat" cmpd="sng">
            <a:noFill/>
            <a:prstDash val="solid"/>
            <a:round/>
          </a:ln>
        </p:spPr>
        <p:txBody>
          <a:bodyPr vert="horz" wrap="square" lIns="0" tIns="0" rIns="0" bIns="0" rtlCol="0" anchor="ctr" anchorCtr="0"/>
          <a:lstStyle/>
          <a:p>
            <a:pPr indent="0" algn="l">
              <a:lnSpc>
                <a:spcPct val="108333"/>
              </a:lnSpc>
              <a:defRPr/>
            </a:pPr>
            <a:r>
              <a:rPr lang="en-US" sz="1800" b="0" i="0" u="none" strike="noStrike" dirty="0">
                <a:solidFill>
                  <a:srgbClr val="DCDCDC"/>
                </a:solidFill>
                <a:latin typeface="华文楷体" panose="02010600040101010101" pitchFamily="2" charset="-122"/>
                <a:ea typeface="华文楷体" panose="02010600040101010101" pitchFamily="2" charset="-122"/>
                <a:cs typeface="Noto Sans SC"/>
                <a:sym typeface="Noto Sans SC"/>
              </a:rPr>
              <a:t>原产于亚洲东部，如今已被广泛引入欧洲、美洲、非洲等地。在中国，除青藏高原外，几乎所有的江河、湖泊、池塘及水库中都能发现它的身影，是名副其实的全球性淡水鱼。</a:t>
            </a:r>
            <a:endParaRPr lang="en-US" dirty="0">
              <a:latin typeface="华文楷体" panose="02010600040101010101" pitchFamily="2" charset="-122"/>
              <a:ea typeface="华文楷体" panose="02010600040101010101" pitchFamily="2" charset="-122"/>
            </a:endParaRPr>
          </a:p>
        </p:txBody>
      </p:sp>
      <p:pic>
        <p:nvPicPr>
          <p:cNvPr id="7" name="Picture 7"/>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6350000" y="3810000"/>
            <a:ext cx="304800" cy="304800"/>
          </a:xfrm>
          <a:prstGeom prst="rect">
            <a:avLst/>
          </a:prstGeom>
        </p:spPr>
      </p:pic>
      <p:sp>
        <p:nvSpPr>
          <p:cNvPr id="8" name="AutoShape 8"/>
          <p:cNvSpPr/>
          <p:nvPr/>
        </p:nvSpPr>
        <p:spPr>
          <a:xfrm>
            <a:off x="6731000" y="3759200"/>
            <a:ext cx="4572000" cy="3556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dirty="0" err="1">
                <a:solidFill>
                  <a:srgbClr val="FFD700"/>
                </a:solidFill>
                <a:latin typeface="华文楷体" panose="02010600040101010101" pitchFamily="2" charset="-122"/>
                <a:ea typeface="华文楷体" panose="02010600040101010101" pitchFamily="2" charset="-122"/>
                <a:cs typeface="Noto Sans SC"/>
                <a:sym typeface="Noto Sans SC"/>
              </a:rPr>
              <a:t>栖息环境：适应性极强的“浅水区居民</a:t>
            </a:r>
            <a:r>
              <a:rPr lang="en-US" sz="2000" b="1" i="0" u="none" strike="noStrike" dirty="0">
                <a:solidFill>
                  <a:srgbClr val="FFD700"/>
                </a:solidFill>
                <a:latin typeface="华文楷体" panose="02010600040101010101" pitchFamily="2" charset="-122"/>
                <a:ea typeface="华文楷体" panose="02010600040101010101" pitchFamily="2" charset="-122"/>
                <a:cs typeface="Noto Sans SC"/>
                <a:sym typeface="Noto Sans SC"/>
              </a:rPr>
              <a:t>”</a:t>
            </a:r>
            <a:endParaRPr lang="en-US" sz="1200" dirty="0">
              <a:latin typeface="华文楷体" panose="02010600040101010101" pitchFamily="2" charset="-122"/>
              <a:ea typeface="华文楷体" panose="02010600040101010101" pitchFamily="2" charset="-122"/>
            </a:endParaRPr>
          </a:p>
        </p:txBody>
      </p:sp>
      <p:sp>
        <p:nvSpPr>
          <p:cNvPr id="9" name="AutoShape 9"/>
          <p:cNvSpPr/>
          <p:nvPr/>
        </p:nvSpPr>
        <p:spPr>
          <a:xfrm>
            <a:off x="6350000" y="4191000"/>
            <a:ext cx="5080000" cy="1270000"/>
          </a:xfrm>
          <a:prstGeom prst="rect">
            <a:avLst/>
          </a:prstGeom>
          <a:noFill/>
          <a:ln w="12700" cap="flat" cmpd="sng">
            <a:noFill/>
            <a:prstDash val="solid"/>
            <a:round/>
          </a:ln>
        </p:spPr>
        <p:txBody>
          <a:bodyPr vert="horz" wrap="square" lIns="0" tIns="0" rIns="0" bIns="0" rtlCol="0" anchor="ctr" anchorCtr="0"/>
          <a:lstStyle/>
          <a:p>
            <a:pPr indent="0" algn="l">
              <a:lnSpc>
                <a:spcPct val="108333"/>
              </a:lnSpc>
              <a:defRPr/>
            </a:pPr>
            <a:r>
              <a:rPr lang="en-US" sz="1800" b="0" i="0" u="none" strike="noStrike" dirty="0">
                <a:solidFill>
                  <a:srgbClr val="DCDCDC"/>
                </a:solidFill>
                <a:latin typeface="华文楷体" panose="02010600040101010101" pitchFamily="2" charset="-122"/>
                <a:ea typeface="华文楷体" panose="02010600040101010101" pitchFamily="2" charset="-122"/>
                <a:cs typeface="Noto Sans SC"/>
                <a:sym typeface="Noto Sans SC"/>
              </a:rPr>
              <a:t>偏好栖息在水草丛生、水流缓慢的浅水区。无论是清澈溪流还是浑浊池塘，甚至在轻度污染的水域中，它都能凭借极强的适应能力顽强生存，展现出惊人的生命力。</a:t>
            </a:r>
            <a:endParaRPr lang="en-US" dirty="0">
              <a:latin typeface="华文楷体" panose="02010600040101010101" pitchFamily="2" charset="-122"/>
              <a:ea typeface="华文楷体" panose="02010600040101010101" pitchFamily="2" charset="-122"/>
            </a:endParaRPr>
          </a:p>
        </p:txBody>
      </p:sp>
      <p:sp>
        <p:nvSpPr>
          <p:cNvPr id="10" name="AutoShape 10"/>
          <p:cNvSpPr/>
          <p:nvPr/>
        </p:nvSpPr>
        <p:spPr>
          <a:xfrm>
            <a:off x="762000" y="5842000"/>
            <a:ext cx="10668000" cy="12700"/>
          </a:xfrm>
          <a:prstGeom prst="roundRect">
            <a:avLst>
              <a:gd name="adj" fmla="val 0"/>
            </a:avLst>
          </a:prstGeom>
          <a:solidFill>
            <a:srgbClr val="FFD700">
              <a:alpha val="30000"/>
            </a:srgbClr>
          </a:solidFill>
          <a:ln w="25400" cap="flat" cmpd="sng">
            <a:noFill/>
            <a:prstDash val="solid"/>
            <a:round/>
          </a:ln>
        </p:spPr>
        <p:txBody>
          <a:bodyPr vert="horz" wrap="square" lIns="63500" tIns="63500" rIns="63500" bIns="63500" rtlCol="0" anchor="ctr"/>
          <a:lstStyle/>
          <a:p>
            <a:pPr algn="ctr">
              <a:defRPr/>
            </a:pPr>
            <a:endParaRPr/>
          </a:p>
        </p:txBody>
      </p:sp>
      <p:pic>
        <p:nvPicPr>
          <p:cNvPr id="12" name="图片 11">
            <a:extLst>
              <a:ext uri="{FF2B5EF4-FFF2-40B4-BE49-F238E27FC236}">
                <a16:creationId xmlns:a16="http://schemas.microsoft.com/office/drawing/2014/main" id="{00ED6C79-8B8B-32F4-DA35-74137138FD8C}"/>
              </a:ext>
            </a:extLst>
          </p:cNvPr>
          <p:cNvPicPr>
            <a:picLocks noChangeAspect="1"/>
          </p:cNvPicPr>
          <p:nvPr/>
        </p:nvPicPr>
        <p:blipFill>
          <a:blip r:embed="rId7"/>
          <a:stretch>
            <a:fillRect/>
          </a:stretch>
        </p:blipFill>
        <p:spPr>
          <a:xfrm>
            <a:off x="4649787" y="1326242"/>
            <a:ext cx="2892425" cy="2300515"/>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gradFill rotWithShape="1">
          <a:gsLst>
            <a:gs pos="0">
              <a:srgbClr val="1E1E1E">
                <a:alpha val="100000"/>
              </a:srgbClr>
            </a:gs>
            <a:gs pos="100000">
              <a:srgbClr val="2D2D32">
                <a:alpha val="100000"/>
              </a:srgbClr>
            </a:gs>
          </a:gsLst>
          <a:lin ang="2700000"/>
        </a:gradFill>
        <a:effectLst/>
      </p:bgPr>
    </p:bg>
    <p:spTree>
      <p:nvGrpSpPr>
        <p:cNvPr id="1" name=""/>
        <p:cNvGrpSpPr/>
        <p:nvPr/>
      </p:nvGrpSpPr>
      <p:grpSpPr>
        <a:xfrm>
          <a:off x="0" y="0"/>
          <a:ext cx="0" cy="0"/>
          <a:chOff x="0" y="0"/>
          <a:chExt cx="0" cy="0"/>
        </a:xfrm>
      </p:grpSpPr>
      <p:sp>
        <p:nvSpPr>
          <p:cNvPr id="2" name="AutoShape 2"/>
          <p:cNvSpPr/>
          <p:nvPr/>
        </p:nvSpPr>
        <p:spPr>
          <a:xfrm>
            <a:off x="762000" y="508000"/>
            <a:ext cx="4025900" cy="508000"/>
          </a:xfrm>
          <a:prstGeom prst="rect">
            <a:avLst/>
          </a:prstGeom>
          <a:noFill/>
          <a:ln w="12700" cap="flat" cmpd="sng">
            <a:noFill/>
            <a:prstDash val="solid"/>
            <a:round/>
          </a:ln>
        </p:spPr>
        <p:txBody>
          <a:bodyPr vert="horz" wrap="none" lIns="0" tIns="0" rIns="0" bIns="0" rtlCol="0" anchor="ctr" anchorCtr="0"/>
          <a:lstStyle/>
          <a:p>
            <a:pPr indent="0" algn="l">
              <a:lnSpc>
                <a:spcPct val="125000"/>
              </a:lnSpc>
              <a:defRPr/>
            </a:pPr>
            <a:r>
              <a:rPr lang="en-US" sz="3600" b="1" i="0" u="none" strike="noStrike" dirty="0" err="1">
                <a:solidFill>
                  <a:srgbClr val="FFD700"/>
                </a:solidFill>
                <a:latin typeface="华文新魏" panose="02010800040101010101" pitchFamily="2" charset="-122"/>
                <a:ea typeface="华文新魏" panose="02010800040101010101" pitchFamily="2" charset="-122"/>
                <a:cs typeface="Noto Sans SC"/>
                <a:sym typeface="Noto Sans SC"/>
              </a:rPr>
              <a:t>水质与温度适应</a:t>
            </a:r>
            <a:endParaRPr lang="en-US" sz="1100" dirty="0">
              <a:latin typeface="华文新魏" panose="02010800040101010101" pitchFamily="2" charset="-122"/>
              <a:ea typeface="华文新魏" panose="02010800040101010101" pitchFamily="2" charset="-122"/>
            </a:endParaRPr>
          </a:p>
        </p:txBody>
      </p:sp>
      <p:sp>
        <p:nvSpPr>
          <p:cNvPr id="3" name="AutoShape 3"/>
          <p:cNvSpPr/>
          <p:nvPr/>
        </p:nvSpPr>
        <p:spPr>
          <a:xfrm>
            <a:off x="762000" y="1143000"/>
            <a:ext cx="762000" cy="50800"/>
          </a:xfrm>
          <a:prstGeom prst="roundRect">
            <a:avLst>
              <a:gd name="adj" fmla="val 0"/>
            </a:avLst>
          </a:prstGeom>
          <a:solidFill>
            <a:srgbClr val="FFD700">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4" name="Picture 4"/>
          <p:cNvPicPr>
            <a:picLocks noChangeAspect="1"/>
          </p:cNvPicPr>
          <p:nvPr/>
        </p:nvPicPr>
        <p:blipFill>
          <a:blip r:embed="rId3"/>
          <a:srcRect/>
          <a:stretch>
            <a:fillRect/>
          </a:stretch>
        </p:blipFill>
        <p:spPr>
          <a:xfrm>
            <a:off x="4314761" y="457200"/>
            <a:ext cx="762000" cy="762000"/>
          </a:xfrm>
          <a:prstGeom prst="ellipse">
            <a:avLst/>
          </a:prstGeom>
          <a:noFill/>
          <a:ln w="25400" cap="flat" cmpd="sng">
            <a:noFill/>
            <a:prstDash val="solid"/>
            <a:round/>
          </a:ln>
        </p:spPr>
      </p:pic>
      <p:sp>
        <p:nvSpPr>
          <p:cNvPr id="5" name="AutoShape 5"/>
          <p:cNvSpPr/>
          <p:nvPr/>
        </p:nvSpPr>
        <p:spPr>
          <a:xfrm>
            <a:off x="762000" y="1651000"/>
            <a:ext cx="5080000" cy="3302000"/>
          </a:xfrm>
          <a:prstGeom prst="roundRect">
            <a:avLst>
              <a:gd name="adj" fmla="val 3846"/>
            </a:avLst>
          </a:prstGeom>
          <a:solidFill>
            <a:srgbClr val="FFFFFF">
              <a:alpha val="8000"/>
            </a:srgbClr>
          </a:solidFill>
          <a:ln w="12700" cap="flat" cmpd="sng">
            <a:solidFill>
              <a:srgbClr val="FFD700">
                <a:alpha val="30000"/>
              </a:srgbClr>
            </a:solidFill>
            <a:prstDash val="solid"/>
            <a:round/>
          </a:ln>
        </p:spPr>
        <p:txBody>
          <a:bodyPr vert="horz" wrap="square" lIns="63500" tIns="63500" rIns="63500" bIns="63500" rtlCol="0" anchor="ctr"/>
          <a:lstStyle/>
          <a:p>
            <a:pPr algn="ctr">
              <a:defRPr/>
            </a:pPr>
            <a:endParaRPr/>
          </a:p>
        </p:txBody>
      </p:sp>
      <p:pic>
        <p:nvPicPr>
          <p:cNvPr id="6" name="Picture 6"/>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016000" y="1905000"/>
            <a:ext cx="406400" cy="406400"/>
          </a:xfrm>
          <a:prstGeom prst="rect">
            <a:avLst/>
          </a:prstGeom>
        </p:spPr>
      </p:pic>
      <p:sp>
        <p:nvSpPr>
          <p:cNvPr id="7" name="AutoShape 7"/>
          <p:cNvSpPr/>
          <p:nvPr/>
        </p:nvSpPr>
        <p:spPr>
          <a:xfrm>
            <a:off x="1524000" y="1854200"/>
            <a:ext cx="4064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400" b="1" i="0" u="none" strike="noStrike" dirty="0" err="1">
                <a:solidFill>
                  <a:srgbClr val="FFFFFF"/>
                </a:solidFill>
                <a:latin typeface="华文楷体" panose="02010600040101010101" pitchFamily="2" charset="-122"/>
                <a:ea typeface="华文楷体" panose="02010600040101010101" pitchFamily="2" charset="-122"/>
                <a:cs typeface="Noto Sans SC"/>
                <a:sym typeface="Noto Sans SC"/>
              </a:rPr>
              <a:t>水质适应能力</a:t>
            </a:r>
            <a:endParaRPr lang="en-US" sz="1200" dirty="0">
              <a:latin typeface="华文楷体" panose="02010600040101010101" pitchFamily="2" charset="-122"/>
              <a:ea typeface="华文楷体" panose="02010600040101010101" pitchFamily="2" charset="-122"/>
            </a:endParaRPr>
          </a:p>
        </p:txBody>
      </p:sp>
      <p:sp>
        <p:nvSpPr>
          <p:cNvPr id="8" name="AutoShape 8"/>
          <p:cNvSpPr/>
          <p:nvPr/>
        </p:nvSpPr>
        <p:spPr>
          <a:xfrm>
            <a:off x="1016000" y="2136835"/>
            <a:ext cx="4572000" cy="2286000"/>
          </a:xfrm>
          <a:prstGeom prst="rect">
            <a:avLst/>
          </a:prstGeom>
          <a:noFill/>
          <a:ln w="12700" cap="flat" cmpd="sng">
            <a:noFill/>
            <a:prstDash val="solid"/>
            <a:round/>
          </a:ln>
        </p:spPr>
        <p:txBody>
          <a:bodyPr vert="horz" wrap="square" lIns="0" tIns="0" rIns="0" bIns="0" rtlCol="0" anchor="t" anchorCtr="0"/>
          <a:lstStyle/>
          <a:p>
            <a:pPr indent="0">
              <a:lnSpc>
                <a:spcPct val="250000"/>
              </a:lnSpc>
              <a:defRPr/>
            </a:pPr>
            <a:r>
              <a:rPr lang="en-US" sz="1800" dirty="0" err="1">
                <a:solidFill>
                  <a:srgbClr val="B0B0B0"/>
                </a:solidFill>
                <a:latin typeface="华文楷体" panose="02010600040101010101" pitchFamily="2" charset="-122"/>
                <a:ea typeface="华文楷体" panose="02010600040101010101" pitchFamily="2" charset="-122"/>
                <a:sym typeface="Noto Sans SC"/>
              </a:rPr>
              <a:t>对水质要求不高，耐受能力极强</a:t>
            </a:r>
            <a:r>
              <a:rPr lang="en-US" sz="1800" dirty="0">
                <a:solidFill>
                  <a:srgbClr val="B0B0B0"/>
                </a:solidFill>
                <a:latin typeface="华文楷体" panose="02010600040101010101" pitchFamily="2" charset="-122"/>
                <a:ea typeface="华文楷体" panose="02010600040101010101" pitchFamily="2" charset="-122"/>
                <a:sym typeface="Noto Sans SC"/>
              </a:rPr>
              <a:t>：</a:t>
            </a:r>
            <a:endParaRPr lang="en-US" sz="1800" dirty="0">
              <a:solidFill>
                <a:srgbClr val="B0B0B0"/>
              </a:solidFill>
              <a:latin typeface="华文楷体" panose="02010600040101010101" pitchFamily="2" charset="-122"/>
              <a:ea typeface="华文楷体" panose="02010600040101010101" pitchFamily="2" charset="-122"/>
            </a:endParaRPr>
          </a:p>
          <a:p>
            <a:pPr marL="177800" indent="-177800">
              <a:lnSpc>
                <a:spcPct val="250000"/>
              </a:lnSpc>
              <a:buClr>
                <a:srgbClr val="DCDCDC"/>
              </a:buClr>
              <a:buFont typeface="Wingdings"/>
              <a:buChar char="v"/>
            </a:pPr>
            <a:r>
              <a:rPr lang="en-US" sz="1800" dirty="0">
                <a:solidFill>
                  <a:srgbClr val="B0B0B0"/>
                </a:solidFill>
                <a:latin typeface="华文楷体" panose="02010600040101010101" pitchFamily="2" charset="-122"/>
                <a:ea typeface="华文楷体" panose="02010600040101010101" pitchFamily="2" charset="-122"/>
                <a:sym typeface="Noto Sans SC"/>
              </a:rPr>
              <a:t>溶氧量低至0.1毫克/</a:t>
            </a:r>
            <a:r>
              <a:rPr lang="en-US" sz="1800" dirty="0" err="1">
                <a:solidFill>
                  <a:srgbClr val="B0B0B0"/>
                </a:solidFill>
                <a:latin typeface="华文楷体" panose="02010600040101010101" pitchFamily="2" charset="-122"/>
                <a:ea typeface="华文楷体" panose="02010600040101010101" pitchFamily="2" charset="-122"/>
                <a:sym typeface="Noto Sans SC"/>
              </a:rPr>
              <a:t>升仍可存活</a:t>
            </a:r>
            <a:endParaRPr lang="en-US" sz="1800" dirty="0">
              <a:solidFill>
                <a:srgbClr val="B0B0B0"/>
              </a:solidFill>
              <a:latin typeface="华文楷体" panose="02010600040101010101" pitchFamily="2" charset="-122"/>
              <a:ea typeface="华文楷体" panose="02010600040101010101" pitchFamily="2" charset="-122"/>
              <a:sym typeface="Noto Sans SC"/>
            </a:endParaRPr>
          </a:p>
          <a:p>
            <a:pPr marL="177800" indent="-177800">
              <a:lnSpc>
                <a:spcPct val="250000"/>
              </a:lnSpc>
              <a:buClr>
                <a:srgbClr val="DCDCDC"/>
              </a:buClr>
              <a:buFont typeface="Wingdings"/>
              <a:buChar char="v"/>
            </a:pPr>
            <a:r>
              <a:rPr lang="en-US" sz="1800" dirty="0">
                <a:solidFill>
                  <a:srgbClr val="B0B0B0"/>
                </a:solidFill>
                <a:latin typeface="华文楷体" panose="02010600040101010101" pitchFamily="2" charset="-122"/>
                <a:ea typeface="华文楷体" panose="02010600040101010101" pitchFamily="2" charset="-122"/>
                <a:sym typeface="Noto Sans SC"/>
              </a:rPr>
              <a:t>适应pH值范围：4.0 ~ 9.0</a:t>
            </a:r>
          </a:p>
          <a:p>
            <a:pPr marL="177800" indent="-177800">
              <a:lnSpc>
                <a:spcPct val="250000"/>
              </a:lnSpc>
              <a:buClr>
                <a:srgbClr val="DCDCDC"/>
              </a:buClr>
              <a:buFont typeface="Wingdings"/>
              <a:buChar char="v"/>
            </a:pPr>
            <a:r>
              <a:rPr lang="en-US" sz="1800" dirty="0" err="1">
                <a:solidFill>
                  <a:srgbClr val="B0B0B0"/>
                </a:solidFill>
                <a:latin typeface="华文楷体" panose="02010600040101010101" pitchFamily="2" charset="-122"/>
                <a:ea typeface="华文楷体" panose="02010600040101010101" pitchFamily="2" charset="-122"/>
                <a:sym typeface="Noto Sans SC"/>
              </a:rPr>
              <a:t>可在碱性较强或轻度污染水域生存</a:t>
            </a:r>
            <a:endParaRPr lang="en-US" sz="1800" dirty="0">
              <a:solidFill>
                <a:srgbClr val="B0B0B0"/>
              </a:solidFill>
              <a:latin typeface="华文楷体" panose="02010600040101010101" pitchFamily="2" charset="-122"/>
              <a:ea typeface="华文楷体" panose="02010600040101010101" pitchFamily="2" charset="-122"/>
              <a:sym typeface="Noto Sans SC"/>
            </a:endParaRPr>
          </a:p>
        </p:txBody>
      </p:sp>
      <p:sp>
        <p:nvSpPr>
          <p:cNvPr id="9" name="AutoShape 9"/>
          <p:cNvSpPr/>
          <p:nvPr/>
        </p:nvSpPr>
        <p:spPr>
          <a:xfrm>
            <a:off x="6350000" y="1651000"/>
            <a:ext cx="5080000" cy="3302000"/>
          </a:xfrm>
          <a:prstGeom prst="roundRect">
            <a:avLst>
              <a:gd name="adj" fmla="val 3846"/>
            </a:avLst>
          </a:prstGeom>
          <a:solidFill>
            <a:srgbClr val="FFFFFF">
              <a:alpha val="8000"/>
            </a:srgbClr>
          </a:solidFill>
          <a:ln w="12700" cap="flat" cmpd="sng">
            <a:solidFill>
              <a:srgbClr val="FFD700">
                <a:alpha val="30000"/>
              </a:srgbClr>
            </a:solidFill>
            <a:prstDash val="solid"/>
            <a:round/>
          </a:ln>
        </p:spPr>
        <p:txBody>
          <a:bodyPr vert="horz" wrap="square" lIns="63500" tIns="63500" rIns="63500" bIns="63500" rtlCol="0" anchor="ctr"/>
          <a:lstStyle/>
          <a:p>
            <a:pPr algn="ctr">
              <a:defRPr/>
            </a:pPr>
            <a:endParaRPr/>
          </a:p>
        </p:txBody>
      </p:sp>
      <p:pic>
        <p:nvPicPr>
          <p:cNvPr id="10" name="Picture 10"/>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6604000" y="1905000"/>
            <a:ext cx="406400" cy="406400"/>
          </a:xfrm>
          <a:prstGeom prst="rect">
            <a:avLst/>
          </a:prstGeom>
        </p:spPr>
      </p:pic>
      <p:sp>
        <p:nvSpPr>
          <p:cNvPr id="11" name="AutoShape 11"/>
          <p:cNvSpPr/>
          <p:nvPr/>
        </p:nvSpPr>
        <p:spPr>
          <a:xfrm>
            <a:off x="7112000" y="1854200"/>
            <a:ext cx="4064000" cy="381000"/>
          </a:xfrm>
          <a:prstGeom prst="rect">
            <a:avLst/>
          </a:prstGeom>
          <a:noFill/>
          <a:ln w="12700" cap="flat" cmpd="sng">
            <a:noFill/>
            <a:prstDash val="solid"/>
            <a:round/>
          </a:ln>
        </p:spPr>
        <p:txBody>
          <a:bodyPr vert="horz" wrap="square" lIns="0" tIns="0" rIns="0" bIns="0" rtlCol="0" anchor="ctr" anchorCtr="0"/>
          <a:lstStyle/>
          <a:p>
            <a:pPr>
              <a:lnSpc>
                <a:spcPct val="125000"/>
              </a:lnSpc>
              <a:defRPr/>
            </a:pPr>
            <a:r>
              <a:rPr lang="en-US" sz="2400" b="1" dirty="0" err="1">
                <a:solidFill>
                  <a:srgbClr val="FFFFFF"/>
                </a:solidFill>
                <a:latin typeface="华文楷体" panose="02010600040101010101" pitchFamily="2" charset="-122"/>
                <a:ea typeface="华文楷体" panose="02010600040101010101" pitchFamily="2" charset="-122"/>
                <a:sym typeface="Noto Sans SC"/>
              </a:rPr>
              <a:t>温度适应能力</a:t>
            </a:r>
            <a:endParaRPr lang="en-US" sz="2400" b="1" dirty="0">
              <a:solidFill>
                <a:srgbClr val="FFFFFF"/>
              </a:solidFill>
              <a:latin typeface="华文楷体" panose="02010600040101010101" pitchFamily="2" charset="-122"/>
              <a:ea typeface="华文楷体" panose="02010600040101010101" pitchFamily="2" charset="-122"/>
            </a:endParaRPr>
          </a:p>
        </p:txBody>
      </p:sp>
      <p:sp>
        <p:nvSpPr>
          <p:cNvPr id="12" name="AutoShape 12"/>
          <p:cNvSpPr/>
          <p:nvPr/>
        </p:nvSpPr>
        <p:spPr>
          <a:xfrm>
            <a:off x="6604000" y="2136835"/>
            <a:ext cx="4572000" cy="2286000"/>
          </a:xfrm>
          <a:prstGeom prst="rect">
            <a:avLst/>
          </a:prstGeom>
          <a:noFill/>
          <a:ln w="12700" cap="flat" cmpd="sng">
            <a:noFill/>
            <a:prstDash val="solid"/>
            <a:round/>
          </a:ln>
        </p:spPr>
        <p:txBody>
          <a:bodyPr vert="horz" wrap="square" lIns="0" tIns="0" rIns="0" bIns="0" rtlCol="0" anchor="t" anchorCtr="0"/>
          <a:lstStyle/>
          <a:p>
            <a:pPr indent="0">
              <a:lnSpc>
                <a:spcPct val="250000"/>
              </a:lnSpc>
              <a:defRPr/>
            </a:pPr>
            <a:r>
              <a:rPr lang="en-US" sz="1800" dirty="0" err="1">
                <a:solidFill>
                  <a:srgbClr val="B0B0B0"/>
                </a:solidFill>
                <a:latin typeface="华文楷体" panose="02010600040101010101" pitchFamily="2" charset="-122"/>
                <a:ea typeface="华文楷体" panose="02010600040101010101" pitchFamily="2" charset="-122"/>
                <a:sym typeface="Noto Sans SC"/>
              </a:rPr>
              <a:t>典型的广温性鱼类，适应范围广</a:t>
            </a:r>
            <a:r>
              <a:rPr lang="en-US" sz="1800" dirty="0">
                <a:solidFill>
                  <a:srgbClr val="B0B0B0"/>
                </a:solidFill>
                <a:latin typeface="华文楷体" panose="02010600040101010101" pitchFamily="2" charset="-122"/>
                <a:ea typeface="华文楷体" panose="02010600040101010101" pitchFamily="2" charset="-122"/>
                <a:sym typeface="Noto Sans SC"/>
              </a:rPr>
              <a:t>：</a:t>
            </a:r>
            <a:endParaRPr lang="en-US" sz="1800" dirty="0">
              <a:solidFill>
                <a:srgbClr val="B0B0B0"/>
              </a:solidFill>
              <a:latin typeface="华文楷体" panose="02010600040101010101" pitchFamily="2" charset="-122"/>
              <a:ea typeface="华文楷体" panose="02010600040101010101" pitchFamily="2" charset="-122"/>
            </a:endParaRPr>
          </a:p>
          <a:p>
            <a:pPr marL="177800" indent="-177800">
              <a:lnSpc>
                <a:spcPct val="250000"/>
              </a:lnSpc>
              <a:buClr>
                <a:srgbClr val="DCDCDC"/>
              </a:buClr>
              <a:buFont typeface="Wingdings"/>
              <a:buChar char="v"/>
            </a:pPr>
            <a:r>
              <a:rPr lang="en-US" sz="1800" dirty="0">
                <a:solidFill>
                  <a:srgbClr val="B0B0B0"/>
                </a:solidFill>
                <a:latin typeface="华文楷体" panose="02010600040101010101" pitchFamily="2" charset="-122"/>
                <a:ea typeface="华文楷体" panose="02010600040101010101" pitchFamily="2" charset="-122"/>
                <a:sym typeface="Noto Sans SC"/>
              </a:rPr>
              <a:t>生存水温：0℃ ~ 32℃</a:t>
            </a:r>
          </a:p>
          <a:p>
            <a:pPr marL="177800" indent="-177800">
              <a:lnSpc>
                <a:spcPct val="250000"/>
              </a:lnSpc>
              <a:buClr>
                <a:srgbClr val="DCDCDC"/>
              </a:buClr>
              <a:buFont typeface="Wingdings"/>
              <a:buChar char="v"/>
            </a:pPr>
            <a:r>
              <a:rPr lang="en-US" sz="1800" dirty="0">
                <a:solidFill>
                  <a:srgbClr val="B0B0B0"/>
                </a:solidFill>
                <a:latin typeface="华文楷体" panose="02010600040101010101" pitchFamily="2" charset="-122"/>
                <a:ea typeface="华文楷体" panose="02010600040101010101" pitchFamily="2" charset="-122"/>
                <a:sym typeface="Noto Sans SC"/>
              </a:rPr>
              <a:t>最佳生长温度：15℃ ~ 25℃</a:t>
            </a:r>
          </a:p>
          <a:p>
            <a:pPr marL="177800" indent="-177800">
              <a:lnSpc>
                <a:spcPct val="250000"/>
              </a:lnSpc>
              <a:buClr>
                <a:srgbClr val="DCDCDC"/>
              </a:buClr>
              <a:buFont typeface="Wingdings"/>
              <a:buChar char="v"/>
            </a:pPr>
            <a:r>
              <a:rPr lang="en-US" sz="1800" dirty="0" err="1">
                <a:solidFill>
                  <a:srgbClr val="B0B0B0"/>
                </a:solidFill>
                <a:latin typeface="华文楷体" panose="02010600040101010101" pitchFamily="2" charset="-122"/>
                <a:ea typeface="华文楷体" panose="02010600040101010101" pitchFamily="2" charset="-122"/>
                <a:sym typeface="Noto Sans SC"/>
              </a:rPr>
              <a:t>冬季水面结冰下仍可存活（非完全冻结</a:t>
            </a:r>
            <a:r>
              <a:rPr lang="en-US" sz="1400" b="0" i="0" u="none" strike="noStrike" dirty="0">
                <a:solidFill>
                  <a:srgbClr val="DCDCDC"/>
                </a:solidFill>
                <a:latin typeface="Noto Sans SC"/>
                <a:ea typeface="Noto Sans SC"/>
                <a:cs typeface="Noto Sans SC"/>
                <a:sym typeface="Noto Sans SC"/>
              </a:rPr>
              <a:t>）</a:t>
            </a:r>
          </a:p>
        </p:txBody>
      </p:sp>
      <p:sp>
        <p:nvSpPr>
          <p:cNvPr id="13" name="AutoShape 13"/>
          <p:cNvSpPr/>
          <p:nvPr/>
        </p:nvSpPr>
        <p:spPr>
          <a:xfrm>
            <a:off x="762000" y="5334000"/>
            <a:ext cx="10668000" cy="762000"/>
          </a:xfrm>
          <a:prstGeom prst="roundRect">
            <a:avLst>
              <a:gd name="adj" fmla="val 16666"/>
            </a:avLst>
          </a:prstGeom>
          <a:solidFill>
            <a:srgbClr val="FFD700">
              <a:alpha val="10000"/>
            </a:srgbClr>
          </a:solidFill>
          <a:ln w="25400" cap="flat" cmpd="sng">
            <a:noFill/>
            <a:prstDash val="solid"/>
            <a:round/>
          </a:ln>
        </p:spPr>
        <p:txBody>
          <a:bodyPr vert="horz" wrap="square" lIns="63500" tIns="63500" rIns="63500" bIns="63500" rtlCol="0" anchor="ctr"/>
          <a:lstStyle/>
          <a:p>
            <a:pPr algn="ctr">
              <a:defRPr/>
            </a:pPr>
            <a:endParaRPr/>
          </a:p>
        </p:txBody>
      </p:sp>
      <p:sp>
        <p:nvSpPr>
          <p:cNvPr id="14" name="AutoShape 14"/>
          <p:cNvSpPr/>
          <p:nvPr/>
        </p:nvSpPr>
        <p:spPr>
          <a:xfrm>
            <a:off x="1016000" y="5461000"/>
            <a:ext cx="10160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dirty="0" err="1">
                <a:solidFill>
                  <a:srgbClr val="FFFFFF"/>
                </a:solidFill>
                <a:latin typeface="华文楷体" panose="02010600040101010101" pitchFamily="2" charset="-122"/>
                <a:ea typeface="华文楷体" panose="02010600040101010101" pitchFamily="2" charset="-122"/>
                <a:cs typeface="Noto Sans SC"/>
                <a:sym typeface="Noto Sans SC"/>
              </a:rPr>
              <a:t>核心结论：</a:t>
            </a:r>
            <a:r>
              <a:rPr lang="en-US" sz="2000" b="0" i="0" u="none" strike="noStrike" dirty="0" err="1">
                <a:solidFill>
                  <a:srgbClr val="DCDCDC"/>
                </a:solidFill>
                <a:latin typeface="华文楷体" panose="02010600040101010101" pitchFamily="2" charset="-122"/>
                <a:ea typeface="华文楷体" panose="02010600040101010101" pitchFamily="2" charset="-122"/>
                <a:cs typeface="Noto Sans SC"/>
                <a:sym typeface="Noto Sans SC"/>
              </a:rPr>
              <a:t>鲫鱼凭借极强的水质耐受力和广温性特征，成为分布最广泛的淡水鱼类之一</a:t>
            </a:r>
            <a:r>
              <a:rPr lang="en-US" sz="2000" b="0" i="0" u="none" strike="noStrike" dirty="0">
                <a:solidFill>
                  <a:srgbClr val="DCDCDC"/>
                </a:solidFill>
                <a:latin typeface="华文楷体" panose="02010600040101010101" pitchFamily="2" charset="-122"/>
                <a:ea typeface="华文楷体" panose="02010600040101010101" pitchFamily="2" charset="-122"/>
                <a:cs typeface="Noto Sans SC"/>
                <a:sym typeface="Noto Sans SC"/>
              </a:rPr>
              <a:t>。</a:t>
            </a:r>
            <a:endParaRPr lang="en-US" dirty="0">
              <a:latin typeface="华文楷体" panose="02010600040101010101" pitchFamily="2" charset="-122"/>
              <a:ea typeface="华文楷体" panose="02010600040101010101" pitchFamily="2" charset="-122"/>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141419">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508000"/>
            <a:ext cx="3517900" cy="635000"/>
          </a:xfrm>
          <a:prstGeom prst="rect">
            <a:avLst/>
          </a:prstGeom>
          <a:noFill/>
          <a:ln w="12700" cap="flat" cmpd="sng">
            <a:noFill/>
            <a:prstDash val="solid"/>
            <a:round/>
          </a:ln>
        </p:spPr>
        <p:txBody>
          <a:bodyPr vert="horz" wrap="none" lIns="0" tIns="0" rIns="0" bIns="0" rtlCol="0" anchor="ctr" anchorCtr="0"/>
          <a:lstStyle/>
          <a:p>
            <a:pPr indent="0" algn="l">
              <a:lnSpc>
                <a:spcPct val="125000"/>
              </a:lnSpc>
              <a:defRPr/>
            </a:pPr>
            <a:r>
              <a:rPr lang="en-US" sz="3600" b="1" i="0" u="none" strike="noStrike" dirty="0" err="1">
                <a:solidFill>
                  <a:srgbClr val="FFD700"/>
                </a:solidFill>
                <a:latin typeface="华文新魏" panose="02010800040101010101" pitchFamily="2" charset="-122"/>
                <a:ea typeface="华文新魏" panose="02010800040101010101" pitchFamily="2" charset="-122"/>
                <a:cs typeface="Noto Sans SC"/>
                <a:sym typeface="Noto Sans SC"/>
              </a:rPr>
              <a:t>食性与摄食行为</a:t>
            </a:r>
            <a:endParaRPr lang="en-US" sz="1100" dirty="0">
              <a:latin typeface="华文新魏" panose="02010800040101010101" pitchFamily="2" charset="-122"/>
              <a:ea typeface="华文新魏" panose="02010800040101010101" pitchFamily="2" charset="-122"/>
            </a:endParaRPr>
          </a:p>
        </p:txBody>
      </p:sp>
      <p:cxnSp>
        <p:nvCxnSpPr>
          <p:cNvPr id="3" name="Connector 3"/>
          <p:cNvCxnSpPr/>
          <p:nvPr/>
        </p:nvCxnSpPr>
        <p:spPr>
          <a:xfrm rot="-4092">
            <a:off x="762004" y="1263650"/>
            <a:ext cx="10668000" cy="12700"/>
          </a:xfrm>
          <a:prstGeom prst="line">
            <a:avLst/>
          </a:prstGeom>
          <a:solidFill>
            <a:srgbClr val="DEE0E3">
              <a:alpha val="100000"/>
            </a:srgbClr>
          </a:solidFill>
          <a:ln w="25400" cap="flat" cmpd="sng">
            <a:solidFill>
              <a:srgbClr val="FFD700">
                <a:alpha val="50000"/>
              </a:srgbClr>
            </a:solidFill>
            <a:prstDash val="solid"/>
            <a:round/>
            <a:headEnd type="none" w="lg" len="lg"/>
            <a:tailEnd type="none" w="lg" len="lg"/>
          </a:ln>
        </p:spPr>
      </p:cxnSp>
      <p:sp>
        <p:nvSpPr>
          <p:cNvPr id="4" name="AutoShape 4"/>
          <p:cNvSpPr/>
          <p:nvPr/>
        </p:nvSpPr>
        <p:spPr>
          <a:xfrm>
            <a:off x="762000" y="1651000"/>
            <a:ext cx="5143500" cy="2794000"/>
          </a:xfrm>
          <a:prstGeom prst="roundRect">
            <a:avLst>
              <a:gd name="adj" fmla="val 4545"/>
            </a:avLst>
          </a:prstGeom>
          <a:solidFill>
            <a:srgbClr val="FFFFFF">
              <a:alpha val="5000"/>
            </a:srgbClr>
          </a:solidFill>
          <a:ln w="12700" cap="flat" cmpd="sng">
            <a:solidFill>
              <a:srgbClr val="FFD700">
                <a:alpha val="30000"/>
              </a:srgbClr>
            </a:solidFill>
            <a:prstDash val="solid"/>
            <a:round/>
          </a:ln>
        </p:spPr>
        <p:txBody>
          <a:bodyPr vert="horz" wrap="square" lIns="63500" tIns="63500" rIns="63500" bIns="63500" rtlCol="0" anchor="ctr"/>
          <a:lstStyle/>
          <a:p>
            <a:pPr algn="ctr">
              <a:defRPr/>
            </a:pPr>
            <a:endParaRPr/>
          </a:p>
        </p:txBody>
      </p:sp>
      <p:pic>
        <p:nvPicPr>
          <p:cNvPr id="5" name="Picture 5"/>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16000" y="1800671"/>
            <a:ext cx="406400" cy="406400"/>
          </a:xfrm>
          <a:prstGeom prst="rect">
            <a:avLst/>
          </a:prstGeom>
        </p:spPr>
      </p:pic>
      <p:sp>
        <p:nvSpPr>
          <p:cNvPr id="6" name="AutoShape 6"/>
          <p:cNvSpPr/>
          <p:nvPr/>
        </p:nvSpPr>
        <p:spPr>
          <a:xfrm>
            <a:off x="1524000" y="1749871"/>
            <a:ext cx="4064000" cy="4445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400" b="1" i="0" u="none" strike="noStrike" dirty="0" err="1">
                <a:solidFill>
                  <a:srgbClr val="FFFFFF"/>
                </a:solidFill>
                <a:latin typeface="华文楷体" panose="02010600040101010101" pitchFamily="2" charset="-122"/>
                <a:ea typeface="华文楷体" panose="02010600040101010101" pitchFamily="2" charset="-122"/>
                <a:cs typeface="Noto Sans SC"/>
                <a:sym typeface="Noto Sans SC"/>
              </a:rPr>
              <a:t>食物来源：广食性杂家</a:t>
            </a:r>
            <a:endParaRPr lang="en-US" sz="1200" dirty="0">
              <a:latin typeface="华文楷体" panose="02010600040101010101" pitchFamily="2" charset="-122"/>
              <a:ea typeface="华文楷体" panose="02010600040101010101" pitchFamily="2" charset="-122"/>
            </a:endParaRPr>
          </a:p>
        </p:txBody>
      </p:sp>
      <p:sp>
        <p:nvSpPr>
          <p:cNvPr id="7" name="AutoShape 7"/>
          <p:cNvSpPr/>
          <p:nvPr/>
        </p:nvSpPr>
        <p:spPr>
          <a:xfrm>
            <a:off x="1016000" y="2413000"/>
            <a:ext cx="4635500" cy="1778000"/>
          </a:xfrm>
          <a:prstGeom prst="rect">
            <a:avLst/>
          </a:prstGeom>
          <a:noFill/>
          <a:ln w="12700" cap="flat" cmpd="sng">
            <a:noFill/>
            <a:prstDash val="solid"/>
            <a:round/>
          </a:ln>
        </p:spPr>
        <p:txBody>
          <a:bodyPr vert="horz" wrap="square" lIns="0" tIns="0" rIns="0" bIns="0" rtlCol="0" anchor="ctr" anchorCtr="0"/>
          <a:lstStyle/>
          <a:p>
            <a:pPr indent="0" algn="l">
              <a:lnSpc>
                <a:spcPct val="116666"/>
              </a:lnSpc>
              <a:defRPr/>
            </a:pPr>
            <a:r>
              <a:rPr lang="en-US" sz="2000" b="0" i="0" u="none" strike="noStrike" dirty="0" err="1">
                <a:solidFill>
                  <a:srgbClr val="B0B0B0"/>
                </a:solidFill>
                <a:latin typeface="华文楷体" panose="02010600040101010101" pitchFamily="2" charset="-122"/>
                <a:ea typeface="华文楷体" panose="02010600040101010101" pitchFamily="2" charset="-122"/>
                <a:cs typeface="Noto Sans SC"/>
                <a:sym typeface="Noto Sans SC"/>
              </a:rPr>
              <a:t>鲫鱼是典型的杂食性鱼类，食谱极为广泛</a:t>
            </a:r>
            <a:r>
              <a:rPr lang="en-US" sz="2000" b="0" i="0" u="none" strike="noStrike" dirty="0">
                <a:solidFill>
                  <a:srgbClr val="B0B0B0"/>
                </a:solidFill>
                <a:latin typeface="华文楷体" panose="02010600040101010101" pitchFamily="2" charset="-122"/>
                <a:ea typeface="华文楷体" panose="02010600040101010101" pitchFamily="2" charset="-122"/>
                <a:cs typeface="Noto Sans SC"/>
                <a:sym typeface="Noto Sans SC"/>
              </a:rPr>
              <a:t>。</a:t>
            </a:r>
            <a:endParaRPr lang="en-US" dirty="0">
              <a:latin typeface="华文楷体" panose="02010600040101010101" pitchFamily="2" charset="-122"/>
              <a:ea typeface="华文楷体" panose="02010600040101010101" pitchFamily="2" charset="-122"/>
            </a:endParaRPr>
          </a:p>
          <a:p>
            <a:pPr indent="0" algn="l">
              <a:lnSpc>
                <a:spcPct val="116666"/>
              </a:lnSpc>
            </a:pPr>
            <a:r>
              <a:rPr lang="en-US" sz="2000" b="0" i="0" u="none" strike="noStrike" dirty="0">
                <a:solidFill>
                  <a:srgbClr val="B0B0B0"/>
                </a:solidFill>
                <a:latin typeface="华文楷体" panose="02010600040101010101" pitchFamily="2" charset="-122"/>
                <a:ea typeface="华文楷体" panose="02010600040101010101" pitchFamily="2" charset="-122"/>
                <a:cs typeface="Noto Sans SC"/>
                <a:sym typeface="Noto Sans SC"/>
              </a:rPr>
              <a:t>• </a:t>
            </a:r>
            <a:r>
              <a:rPr lang="en-US" sz="2000" b="0" i="0" u="none" strike="noStrike" dirty="0" err="1">
                <a:solidFill>
                  <a:srgbClr val="B0B0B0"/>
                </a:solidFill>
                <a:latin typeface="华文楷体" panose="02010600040101010101" pitchFamily="2" charset="-122"/>
                <a:ea typeface="华文楷体" panose="02010600040101010101" pitchFamily="2" charset="-122"/>
                <a:cs typeface="Noto Sans SC"/>
                <a:sym typeface="Noto Sans SC"/>
              </a:rPr>
              <a:t>主要摄食：浮游植物、浮游动物、水生昆虫幼虫、水草嫩叶及种子</a:t>
            </a:r>
            <a:r>
              <a:rPr lang="en-US" sz="2000" b="0" i="0" u="none" strike="noStrike" dirty="0">
                <a:solidFill>
                  <a:srgbClr val="B0B0B0"/>
                </a:solidFill>
                <a:latin typeface="华文楷体" panose="02010600040101010101" pitchFamily="2" charset="-122"/>
                <a:ea typeface="华文楷体" panose="02010600040101010101" pitchFamily="2" charset="-122"/>
                <a:cs typeface="Noto Sans SC"/>
                <a:sym typeface="Noto Sans SC"/>
              </a:rPr>
              <a:t>。</a:t>
            </a:r>
          </a:p>
          <a:p>
            <a:pPr indent="0" algn="l">
              <a:lnSpc>
                <a:spcPct val="116666"/>
              </a:lnSpc>
            </a:pPr>
            <a:r>
              <a:rPr lang="en-US" sz="2000" b="0" i="0" u="none" strike="noStrike" dirty="0">
                <a:solidFill>
                  <a:srgbClr val="B0B0B0"/>
                </a:solidFill>
                <a:latin typeface="华文楷体" panose="02010600040101010101" pitchFamily="2" charset="-122"/>
                <a:ea typeface="华文楷体" panose="02010600040101010101" pitchFamily="2" charset="-122"/>
                <a:cs typeface="Noto Sans SC"/>
                <a:sym typeface="Noto Sans SC"/>
              </a:rPr>
              <a:t>• </a:t>
            </a:r>
            <a:r>
              <a:rPr lang="en-US" sz="2000" b="0" i="0" u="none" strike="noStrike" dirty="0" err="1">
                <a:solidFill>
                  <a:srgbClr val="B0B0B0"/>
                </a:solidFill>
                <a:latin typeface="华文楷体" panose="02010600040101010101" pitchFamily="2" charset="-122"/>
                <a:ea typeface="华文楷体" panose="02010600040101010101" pitchFamily="2" charset="-122"/>
                <a:cs typeface="Noto Sans SC"/>
                <a:sym typeface="Noto Sans SC"/>
              </a:rPr>
              <a:t>机会觅食：水底的有机碎屑、腐殖质等，只要可食用，几乎不挑</a:t>
            </a:r>
            <a:r>
              <a:rPr lang="en-US" sz="2000" b="0" i="0" u="none" strike="noStrike" dirty="0">
                <a:solidFill>
                  <a:srgbClr val="B0B0B0"/>
                </a:solidFill>
                <a:latin typeface="华文楷体" panose="02010600040101010101" pitchFamily="2" charset="-122"/>
                <a:ea typeface="华文楷体" panose="02010600040101010101" pitchFamily="2" charset="-122"/>
                <a:cs typeface="Noto Sans SC"/>
                <a:sym typeface="Noto Sans SC"/>
              </a:rPr>
              <a:t>。</a:t>
            </a:r>
          </a:p>
        </p:txBody>
      </p:sp>
      <p:sp>
        <p:nvSpPr>
          <p:cNvPr id="8" name="AutoShape 8"/>
          <p:cNvSpPr/>
          <p:nvPr/>
        </p:nvSpPr>
        <p:spPr>
          <a:xfrm>
            <a:off x="6286500" y="1651000"/>
            <a:ext cx="5143500" cy="2794000"/>
          </a:xfrm>
          <a:prstGeom prst="roundRect">
            <a:avLst>
              <a:gd name="adj" fmla="val 4545"/>
            </a:avLst>
          </a:prstGeom>
          <a:solidFill>
            <a:srgbClr val="FFFFFF">
              <a:alpha val="5000"/>
            </a:srgbClr>
          </a:solidFill>
          <a:ln w="12700" cap="flat" cmpd="sng">
            <a:solidFill>
              <a:srgbClr val="FFD700">
                <a:alpha val="30000"/>
              </a:srgbClr>
            </a:solidFill>
            <a:prstDash val="solid"/>
            <a:round/>
          </a:ln>
        </p:spPr>
        <p:txBody>
          <a:bodyPr vert="horz" wrap="square" lIns="63500" tIns="63500" rIns="63500" bIns="63500" rtlCol="0" anchor="ctr"/>
          <a:lstStyle/>
          <a:p>
            <a:pPr algn="ctr">
              <a:defRPr/>
            </a:pPr>
            <a:endParaRPr/>
          </a:p>
        </p:txBody>
      </p:sp>
      <p:pic>
        <p:nvPicPr>
          <p:cNvPr id="9" name="Picture 9"/>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6540500" y="1800671"/>
            <a:ext cx="406400" cy="406400"/>
          </a:xfrm>
          <a:prstGeom prst="rect">
            <a:avLst/>
          </a:prstGeom>
        </p:spPr>
      </p:pic>
      <p:sp>
        <p:nvSpPr>
          <p:cNvPr id="10" name="AutoShape 10"/>
          <p:cNvSpPr/>
          <p:nvPr/>
        </p:nvSpPr>
        <p:spPr>
          <a:xfrm>
            <a:off x="7048500" y="1749871"/>
            <a:ext cx="4064000" cy="4445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400" b="1" i="0" u="none" strike="noStrike" dirty="0" err="1">
                <a:solidFill>
                  <a:srgbClr val="FFFFFF"/>
                </a:solidFill>
                <a:latin typeface="华文楷体" panose="02010600040101010101" pitchFamily="2" charset="-122"/>
                <a:ea typeface="华文楷体" panose="02010600040101010101" pitchFamily="2" charset="-122"/>
                <a:cs typeface="Noto Sans SC"/>
                <a:sym typeface="Noto Sans SC"/>
              </a:rPr>
              <a:t>摄食行为：独特的“拱食</a:t>
            </a:r>
            <a:r>
              <a:rPr lang="en-US" sz="2400" b="1" i="0" u="none" strike="noStrike" dirty="0">
                <a:solidFill>
                  <a:srgbClr val="FFFFFF"/>
                </a:solidFill>
                <a:latin typeface="华文楷体" panose="02010600040101010101" pitchFamily="2" charset="-122"/>
                <a:ea typeface="华文楷体" panose="02010600040101010101" pitchFamily="2" charset="-122"/>
                <a:cs typeface="Noto Sans SC"/>
                <a:sym typeface="Noto Sans SC"/>
              </a:rPr>
              <a:t>”</a:t>
            </a:r>
            <a:endParaRPr lang="en-US" sz="1200" dirty="0">
              <a:latin typeface="华文楷体" panose="02010600040101010101" pitchFamily="2" charset="-122"/>
              <a:ea typeface="华文楷体" panose="02010600040101010101" pitchFamily="2" charset="-122"/>
            </a:endParaRPr>
          </a:p>
        </p:txBody>
      </p:sp>
      <p:sp>
        <p:nvSpPr>
          <p:cNvPr id="11" name="AutoShape 11"/>
          <p:cNvSpPr/>
          <p:nvPr/>
        </p:nvSpPr>
        <p:spPr>
          <a:xfrm>
            <a:off x="6540500" y="2413000"/>
            <a:ext cx="4635500" cy="1778000"/>
          </a:xfrm>
          <a:prstGeom prst="rect">
            <a:avLst/>
          </a:prstGeom>
          <a:noFill/>
          <a:ln w="12700" cap="flat" cmpd="sng">
            <a:noFill/>
            <a:prstDash val="solid"/>
            <a:round/>
          </a:ln>
        </p:spPr>
        <p:txBody>
          <a:bodyPr vert="horz" wrap="square" lIns="0" tIns="0" rIns="0" bIns="0" rtlCol="0" anchor="ctr" anchorCtr="0"/>
          <a:lstStyle/>
          <a:p>
            <a:pPr indent="0" algn="l">
              <a:lnSpc>
                <a:spcPct val="116666"/>
              </a:lnSpc>
              <a:defRPr/>
            </a:pPr>
            <a:r>
              <a:rPr lang="en-US" sz="2000" b="0" i="0" u="none" strike="noStrike" dirty="0" err="1">
                <a:solidFill>
                  <a:srgbClr val="B0B0B0"/>
                </a:solidFill>
                <a:latin typeface="华文楷体" panose="02010600040101010101" pitchFamily="2" charset="-122"/>
                <a:ea typeface="华文楷体" panose="02010600040101010101" pitchFamily="2" charset="-122"/>
                <a:cs typeface="Noto Sans SC"/>
                <a:sym typeface="Noto Sans SC"/>
              </a:rPr>
              <a:t>鲫鱼主要在水体中下层活动，具有独特的觅食技巧</a:t>
            </a:r>
            <a:r>
              <a:rPr lang="en-US" sz="2000" b="0" i="0" u="none" strike="noStrike" dirty="0">
                <a:solidFill>
                  <a:srgbClr val="B0B0B0"/>
                </a:solidFill>
                <a:latin typeface="华文楷体" panose="02010600040101010101" pitchFamily="2" charset="-122"/>
                <a:ea typeface="华文楷体" panose="02010600040101010101" pitchFamily="2" charset="-122"/>
                <a:cs typeface="Noto Sans SC"/>
                <a:sym typeface="Noto Sans SC"/>
              </a:rPr>
              <a:t>。</a:t>
            </a:r>
            <a:endParaRPr lang="en-US" dirty="0">
              <a:latin typeface="华文楷体" panose="02010600040101010101" pitchFamily="2" charset="-122"/>
              <a:ea typeface="华文楷体" panose="02010600040101010101" pitchFamily="2" charset="-122"/>
            </a:endParaRPr>
          </a:p>
          <a:p>
            <a:pPr indent="0" algn="l">
              <a:lnSpc>
                <a:spcPct val="116666"/>
              </a:lnSpc>
            </a:pPr>
            <a:r>
              <a:rPr lang="en-US" sz="2000" b="0" i="0" u="none" strike="noStrike" dirty="0">
                <a:solidFill>
                  <a:srgbClr val="B0B0B0"/>
                </a:solidFill>
                <a:latin typeface="华文楷体" panose="02010600040101010101" pitchFamily="2" charset="-122"/>
                <a:ea typeface="华文楷体" panose="02010600040101010101" pitchFamily="2" charset="-122"/>
                <a:cs typeface="Noto Sans SC"/>
                <a:sym typeface="Noto Sans SC"/>
              </a:rPr>
              <a:t>• </a:t>
            </a:r>
            <a:r>
              <a:rPr lang="en-US" sz="2000" b="0" i="0" u="none" strike="noStrike" dirty="0" err="1">
                <a:solidFill>
                  <a:srgbClr val="B0B0B0"/>
                </a:solidFill>
                <a:latin typeface="华文楷体" panose="02010600040101010101" pitchFamily="2" charset="-122"/>
                <a:ea typeface="华文楷体" panose="02010600040101010101" pitchFamily="2" charset="-122"/>
                <a:cs typeface="Noto Sans SC"/>
                <a:sym typeface="Noto Sans SC"/>
              </a:rPr>
              <a:t>底层觅食：利用嘴巴在水底淤泥中翻掘，即俗称的“拱食</a:t>
            </a:r>
            <a:r>
              <a:rPr lang="en-US" sz="2000" b="0" i="0" u="none" strike="noStrike" dirty="0">
                <a:solidFill>
                  <a:srgbClr val="B0B0B0"/>
                </a:solidFill>
                <a:latin typeface="华文楷体" panose="02010600040101010101" pitchFamily="2" charset="-122"/>
                <a:ea typeface="华文楷体" panose="02010600040101010101" pitchFamily="2" charset="-122"/>
                <a:cs typeface="Noto Sans SC"/>
                <a:sym typeface="Noto Sans SC"/>
              </a:rPr>
              <a:t>”。</a:t>
            </a:r>
          </a:p>
          <a:p>
            <a:pPr indent="0" algn="l">
              <a:lnSpc>
                <a:spcPct val="116666"/>
              </a:lnSpc>
            </a:pPr>
            <a:r>
              <a:rPr lang="en-US" sz="2000" b="0" i="0" u="none" strike="noStrike" dirty="0">
                <a:solidFill>
                  <a:srgbClr val="B0B0B0"/>
                </a:solidFill>
                <a:latin typeface="华文楷体" panose="02010600040101010101" pitchFamily="2" charset="-122"/>
                <a:ea typeface="华文楷体" panose="02010600040101010101" pitchFamily="2" charset="-122"/>
                <a:cs typeface="Noto Sans SC"/>
                <a:sym typeface="Noto Sans SC"/>
              </a:rPr>
              <a:t>• </a:t>
            </a:r>
            <a:r>
              <a:rPr lang="en-US" sz="2000" b="0" i="0" u="none" strike="noStrike" dirty="0" err="1">
                <a:solidFill>
                  <a:srgbClr val="B0B0B0"/>
                </a:solidFill>
                <a:latin typeface="华文楷体" panose="02010600040101010101" pitchFamily="2" charset="-122"/>
                <a:ea typeface="华文楷体" panose="02010600040101010101" pitchFamily="2" charset="-122"/>
                <a:cs typeface="Noto Sans SC"/>
                <a:sym typeface="Noto Sans SC"/>
              </a:rPr>
              <a:t>生存优势：这种方式能有效利用隐藏在泥沙中的食物，适应资源匮乏环境</a:t>
            </a:r>
            <a:r>
              <a:rPr lang="en-US" sz="2000" b="0" i="0" u="none" strike="noStrike" dirty="0">
                <a:solidFill>
                  <a:srgbClr val="B0B0B0"/>
                </a:solidFill>
                <a:latin typeface="华文楷体" panose="02010600040101010101" pitchFamily="2" charset="-122"/>
                <a:ea typeface="华文楷体" panose="02010600040101010101" pitchFamily="2" charset="-122"/>
                <a:cs typeface="Noto Sans SC"/>
                <a:sym typeface="Noto Sans SC"/>
              </a:rPr>
              <a:t>。</a:t>
            </a:r>
          </a:p>
        </p:txBody>
      </p:sp>
      <p:sp>
        <p:nvSpPr>
          <p:cNvPr id="12" name="AutoShape 12"/>
          <p:cNvSpPr/>
          <p:nvPr/>
        </p:nvSpPr>
        <p:spPr>
          <a:xfrm>
            <a:off x="762000" y="4699000"/>
            <a:ext cx="10668000" cy="1270000"/>
          </a:xfrm>
          <a:prstGeom prst="roundRect">
            <a:avLst>
              <a:gd name="adj" fmla="val 10000"/>
            </a:avLst>
          </a:prstGeom>
          <a:solidFill>
            <a:srgbClr val="FFD700">
              <a:alpha val="10000"/>
            </a:srgbClr>
          </a:solidFill>
          <a:ln cap="flat" cmpd="sng">
            <a:solidFill>
              <a:srgbClr val="E6C100">
                <a:alpha val="10000"/>
              </a:srgbClr>
            </a:solidFill>
            <a:prstDash val="solid"/>
            <a:round/>
          </a:ln>
        </p:spPr>
        <p:txBody>
          <a:bodyPr vert="horz" wrap="square" lIns="63500" tIns="63500" rIns="63500" bIns="63500" rtlCol="0" anchor="ctr"/>
          <a:lstStyle/>
          <a:p>
            <a:pPr algn="ctr">
              <a:defRPr/>
            </a:pPr>
            <a:endParaRPr/>
          </a:p>
        </p:txBody>
      </p:sp>
      <p:pic>
        <p:nvPicPr>
          <p:cNvPr id="13" name="Picture 13"/>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1016000" y="5016500"/>
            <a:ext cx="508000" cy="508000"/>
          </a:xfrm>
          <a:prstGeom prst="rect">
            <a:avLst/>
          </a:prstGeom>
        </p:spPr>
      </p:pic>
      <p:sp>
        <p:nvSpPr>
          <p:cNvPr id="14" name="AutoShape 14"/>
          <p:cNvSpPr/>
          <p:nvPr/>
        </p:nvSpPr>
        <p:spPr>
          <a:xfrm>
            <a:off x="1651000" y="4889500"/>
            <a:ext cx="9525000" cy="889000"/>
          </a:xfrm>
          <a:prstGeom prst="rect">
            <a:avLst/>
          </a:prstGeom>
          <a:noFill/>
          <a:ln w="12700" cap="flat" cmpd="sng">
            <a:noFill/>
            <a:prstDash val="solid"/>
            <a:round/>
          </a:ln>
        </p:spPr>
        <p:txBody>
          <a:bodyPr vert="horz" wrap="square" lIns="0" tIns="0" rIns="0" bIns="0" rtlCol="0" anchor="ctr" anchorCtr="0"/>
          <a:lstStyle/>
          <a:p>
            <a:pPr indent="0" algn="l">
              <a:lnSpc>
                <a:spcPct val="108333"/>
              </a:lnSpc>
              <a:defRPr/>
            </a:pPr>
            <a:r>
              <a:rPr lang="en-US" sz="2400" b="1" i="0" u="none" strike="noStrike" dirty="0" err="1">
                <a:solidFill>
                  <a:srgbClr val="FFFFFF"/>
                </a:solidFill>
                <a:latin typeface="华文楷体" panose="02010600040101010101" pitchFamily="2" charset="-122"/>
                <a:ea typeface="华文楷体" panose="02010600040101010101" pitchFamily="2" charset="-122"/>
                <a:cs typeface="Noto Sans SC"/>
                <a:sym typeface="Noto Sans SC"/>
              </a:rPr>
              <a:t>生态适应与生存智慧</a:t>
            </a:r>
            <a:endParaRPr lang="en-US" dirty="0">
              <a:latin typeface="华文楷体" panose="02010600040101010101" pitchFamily="2" charset="-122"/>
              <a:ea typeface="华文楷体" panose="02010600040101010101" pitchFamily="2" charset="-122"/>
            </a:endParaRPr>
          </a:p>
          <a:p>
            <a:pPr indent="0" algn="l">
              <a:lnSpc>
                <a:spcPct val="108333"/>
              </a:lnSpc>
            </a:pPr>
            <a:r>
              <a:rPr lang="en-US" sz="2000" b="0" i="0" u="none" strike="noStrike" dirty="0" err="1">
                <a:solidFill>
                  <a:srgbClr val="B0B0B0"/>
                </a:solidFill>
                <a:latin typeface="华文楷体" panose="02010600040101010101" pitchFamily="2" charset="-122"/>
                <a:ea typeface="华文楷体" panose="02010600040101010101" pitchFamily="2" charset="-122"/>
                <a:cs typeface="Noto Sans SC"/>
                <a:sym typeface="Noto Sans SC"/>
              </a:rPr>
              <a:t>不挑剔的食性配合独特的“拱食”技能，使鲫鱼在各种水域环境中都能找到生存空间，成为分布最广、数量最多的淡水鱼类之一</a:t>
            </a:r>
            <a:r>
              <a:rPr lang="en-US" sz="2000" b="0" i="0" u="none" strike="noStrike" dirty="0">
                <a:solidFill>
                  <a:srgbClr val="B0B0B0"/>
                </a:solidFill>
                <a:latin typeface="华文楷体" panose="02010600040101010101" pitchFamily="2" charset="-122"/>
                <a:ea typeface="华文楷体" panose="02010600040101010101" pitchFamily="2" charset="-122"/>
                <a:cs typeface="Noto Sans SC"/>
                <a:sym typeface="Noto Sans SC"/>
              </a:rPr>
              <a:t>。</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gradFill rotWithShape="1">
          <a:gsLst>
            <a:gs pos="0">
              <a:srgbClr val="1A1C20">
                <a:alpha val="100000"/>
              </a:srgbClr>
            </a:gs>
            <a:gs pos="100000">
              <a:srgbClr val="2D3037">
                <a:alpha val="100000"/>
              </a:srgbClr>
            </a:gs>
          </a:gsLst>
          <a:lin ang="2700000"/>
        </a:gradFill>
        <a:effectLst/>
      </p:bgPr>
    </p:bg>
    <p:spTree>
      <p:nvGrpSpPr>
        <p:cNvPr id="1" name=""/>
        <p:cNvGrpSpPr/>
        <p:nvPr/>
      </p:nvGrpSpPr>
      <p:grpSpPr>
        <a:xfrm>
          <a:off x="0" y="0"/>
          <a:ext cx="0" cy="0"/>
          <a:chOff x="0" y="0"/>
          <a:chExt cx="0" cy="0"/>
        </a:xfrm>
      </p:grpSpPr>
      <p:sp>
        <p:nvSpPr>
          <p:cNvPr id="2" name="AutoShape 2"/>
          <p:cNvSpPr/>
          <p:nvPr/>
        </p:nvSpPr>
        <p:spPr>
          <a:xfrm>
            <a:off x="762000" y="508000"/>
            <a:ext cx="10668000" cy="635000"/>
          </a:xfrm>
          <a:prstGeom prst="rect">
            <a:avLst/>
          </a:prstGeom>
          <a:noFill/>
          <a:ln w="12700" cap="flat" cmpd="sng">
            <a:noFill/>
            <a:prstDash val="solid"/>
            <a:round/>
          </a:ln>
        </p:spPr>
        <p:txBody>
          <a:bodyPr vert="horz" wrap="none" lIns="0" tIns="0" rIns="0" bIns="0" rtlCol="0" anchor="ctr" anchorCtr="0"/>
          <a:lstStyle/>
          <a:p>
            <a:pPr indent="0" algn="l">
              <a:lnSpc>
                <a:spcPct val="125000"/>
              </a:lnSpc>
              <a:defRPr/>
            </a:pPr>
            <a:r>
              <a:rPr lang="en-US" sz="3600" b="1" i="0" u="none" strike="noStrike" dirty="0" err="1">
                <a:solidFill>
                  <a:srgbClr val="FFD700"/>
                </a:solidFill>
                <a:latin typeface="华文新魏" panose="02010800040101010101" pitchFamily="2" charset="-122"/>
                <a:ea typeface="华文新魏" panose="02010800040101010101" pitchFamily="2" charset="-122"/>
                <a:cs typeface="Noto Sans SC"/>
                <a:sym typeface="Noto Sans SC"/>
              </a:rPr>
              <a:t>适应关系：形态结构的适应性（一</a:t>
            </a:r>
            <a:r>
              <a:rPr lang="en-US" sz="3600" b="1" i="0" u="none" strike="noStrike" dirty="0">
                <a:solidFill>
                  <a:srgbClr val="FFD700"/>
                </a:solidFill>
                <a:latin typeface="华文新魏" panose="02010800040101010101" pitchFamily="2" charset="-122"/>
                <a:ea typeface="华文新魏" panose="02010800040101010101" pitchFamily="2" charset="-122"/>
                <a:cs typeface="Noto Sans SC"/>
                <a:sym typeface="Noto Sans SC"/>
              </a:rPr>
              <a:t>）——</a:t>
            </a:r>
            <a:r>
              <a:rPr lang="en-US" sz="3600" b="1" i="0" u="none" strike="noStrike" dirty="0" err="1">
                <a:solidFill>
                  <a:srgbClr val="FFD700"/>
                </a:solidFill>
                <a:latin typeface="华文新魏" panose="02010800040101010101" pitchFamily="2" charset="-122"/>
                <a:ea typeface="华文新魏" panose="02010800040101010101" pitchFamily="2" charset="-122"/>
                <a:cs typeface="Noto Sans SC"/>
                <a:sym typeface="Noto Sans SC"/>
              </a:rPr>
              <a:t>鱼鳍的功能</a:t>
            </a:r>
            <a:endParaRPr lang="en-US" sz="1100" dirty="0">
              <a:latin typeface="华文新魏" panose="02010800040101010101" pitchFamily="2" charset="-122"/>
              <a:ea typeface="华文新魏" panose="02010800040101010101" pitchFamily="2" charset="-122"/>
            </a:endParaRPr>
          </a:p>
        </p:txBody>
      </p:sp>
      <p:pic>
        <p:nvPicPr>
          <p:cNvPr id="3" name="Picture 3"/>
          <p:cNvPicPr>
            <a:picLocks noChangeAspect="1"/>
          </p:cNvPicPr>
          <p:nvPr/>
        </p:nvPicPr>
        <p:blipFill>
          <a:blip r:embed="rId3"/>
          <a:srcRect l="73" r="73"/>
          <a:stretch>
            <a:fillRect/>
          </a:stretch>
        </p:blipFill>
        <p:spPr>
          <a:xfrm>
            <a:off x="762000" y="1524000"/>
            <a:ext cx="3810000" cy="2146300"/>
          </a:xfrm>
          <a:prstGeom prst="roundRect">
            <a:avLst>
              <a:gd name="adj" fmla="val 5917"/>
            </a:avLst>
          </a:prstGeom>
          <a:noFill/>
          <a:ln w="12700" cap="flat" cmpd="sng">
            <a:solidFill>
              <a:srgbClr val="FFD700">
                <a:alpha val="30000"/>
              </a:srgbClr>
            </a:solidFill>
            <a:prstDash val="solid"/>
            <a:round/>
          </a:ln>
          <a:effectLst>
            <a:outerShdw blurRad="127000" dist="63500" dir="2700000" algn="tl" rotWithShape="0">
              <a:srgbClr val="000000">
                <a:alpha val="50000"/>
              </a:srgbClr>
            </a:outerShdw>
          </a:effectLst>
        </p:spPr>
      </p:pic>
      <p:sp>
        <p:nvSpPr>
          <p:cNvPr id="4" name="AutoShape 4"/>
          <p:cNvSpPr/>
          <p:nvPr/>
        </p:nvSpPr>
        <p:spPr>
          <a:xfrm>
            <a:off x="762000" y="3810000"/>
            <a:ext cx="3810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800" b="0" i="0" u="none" strike="noStrike" dirty="0" err="1">
                <a:solidFill>
                  <a:srgbClr val="B0B0B0"/>
                </a:solidFill>
                <a:latin typeface="华文楷体" panose="02010600040101010101" pitchFamily="2" charset="-122"/>
                <a:ea typeface="华文楷体" panose="02010600040101010101" pitchFamily="2" charset="-122"/>
                <a:cs typeface="Noto Sans SC"/>
                <a:sym typeface="Noto Sans SC"/>
              </a:rPr>
              <a:t>鲫鱼形态结构示意图</a:t>
            </a:r>
            <a:endParaRPr lang="en-US" dirty="0">
              <a:latin typeface="华文楷体" panose="02010600040101010101" pitchFamily="2" charset="-122"/>
              <a:ea typeface="华文楷体" panose="02010600040101010101" pitchFamily="2" charset="-122"/>
            </a:endParaRPr>
          </a:p>
        </p:txBody>
      </p:sp>
      <p:sp>
        <p:nvSpPr>
          <p:cNvPr id="5" name="AutoShape 5"/>
          <p:cNvSpPr/>
          <p:nvPr/>
        </p:nvSpPr>
        <p:spPr>
          <a:xfrm>
            <a:off x="4953000" y="1524000"/>
            <a:ext cx="6477000" cy="1079500"/>
          </a:xfrm>
          <a:prstGeom prst="roundRect">
            <a:avLst>
              <a:gd name="adj" fmla="val 11764"/>
            </a:avLst>
          </a:prstGeom>
          <a:solidFill>
            <a:srgbClr val="FFFFFF">
              <a:alpha val="8000"/>
            </a:srgbClr>
          </a:solidFill>
          <a:ln w="12700" cap="flat" cmpd="sng">
            <a:solidFill>
              <a:srgbClr val="FFD700">
                <a:alpha val="20000"/>
              </a:srgbClr>
            </a:solidFill>
            <a:prstDash val="solid"/>
            <a:round/>
          </a:ln>
        </p:spPr>
        <p:txBody>
          <a:bodyPr vert="horz" wrap="square" lIns="63500" tIns="63500" rIns="63500" bIns="63500" rtlCol="0" anchor="ctr"/>
          <a:lstStyle/>
          <a:p>
            <a:pPr algn="ctr">
              <a:defRPr/>
            </a:pPr>
            <a:endParaRPr/>
          </a:p>
        </p:txBody>
      </p:sp>
      <p:pic>
        <p:nvPicPr>
          <p:cNvPr id="6" name="Picture 6"/>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5207000" y="1778000"/>
            <a:ext cx="508000" cy="508000"/>
          </a:xfrm>
          <a:prstGeom prst="rect">
            <a:avLst/>
          </a:prstGeom>
        </p:spPr>
      </p:pic>
      <p:sp>
        <p:nvSpPr>
          <p:cNvPr id="7" name="AutoShape 7"/>
          <p:cNvSpPr/>
          <p:nvPr/>
        </p:nvSpPr>
        <p:spPr>
          <a:xfrm>
            <a:off x="5842000" y="1651000"/>
            <a:ext cx="5334000" cy="8255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400" b="1" i="0" u="none" strike="noStrike" dirty="0" err="1">
                <a:solidFill>
                  <a:srgbClr val="FFD700"/>
                </a:solidFill>
                <a:latin typeface="华文楷体" panose="02010600040101010101" pitchFamily="2" charset="-122"/>
                <a:ea typeface="华文楷体" panose="02010600040101010101" pitchFamily="2" charset="-122"/>
                <a:cs typeface="Noto Sans SC"/>
                <a:sym typeface="Noto Sans SC"/>
              </a:rPr>
              <a:t>尾鳍：动力与转向</a:t>
            </a:r>
            <a:endParaRPr lang="en-US" dirty="0">
              <a:latin typeface="华文楷体" panose="02010600040101010101" pitchFamily="2" charset="-122"/>
              <a:ea typeface="华文楷体" panose="02010600040101010101" pitchFamily="2" charset="-122"/>
            </a:endParaRPr>
          </a:p>
          <a:p>
            <a:pPr indent="0" algn="l">
              <a:lnSpc>
                <a:spcPct val="125000"/>
              </a:lnSpc>
            </a:pPr>
            <a:r>
              <a:rPr lang="en-US" sz="1800" b="0" i="0" u="none" strike="noStrike" dirty="0" err="1">
                <a:solidFill>
                  <a:srgbClr val="E5E7EB"/>
                </a:solidFill>
                <a:latin typeface="华文楷体" panose="02010600040101010101" pitchFamily="2" charset="-122"/>
                <a:ea typeface="华文楷体" panose="02010600040101010101" pitchFamily="2" charset="-122"/>
                <a:cs typeface="Noto Sans SC"/>
                <a:sym typeface="Noto Sans SC"/>
              </a:rPr>
              <a:t>主要推进器官，通过摆动产生动力并控制方向，兼具“螺旋桨”与“船舵”功能</a:t>
            </a:r>
            <a:r>
              <a:rPr lang="en-US" sz="1800" b="0" i="0" u="none" strike="noStrike" dirty="0">
                <a:solidFill>
                  <a:srgbClr val="E5E7EB"/>
                </a:solidFill>
                <a:latin typeface="华文楷体" panose="02010600040101010101" pitchFamily="2" charset="-122"/>
                <a:ea typeface="华文楷体" panose="02010600040101010101" pitchFamily="2" charset="-122"/>
                <a:cs typeface="Noto Sans SC"/>
                <a:sym typeface="Noto Sans SC"/>
              </a:rPr>
              <a:t>。</a:t>
            </a:r>
          </a:p>
        </p:txBody>
      </p:sp>
      <p:sp>
        <p:nvSpPr>
          <p:cNvPr id="8" name="AutoShape 8"/>
          <p:cNvSpPr/>
          <p:nvPr/>
        </p:nvSpPr>
        <p:spPr>
          <a:xfrm>
            <a:off x="4953000" y="2730500"/>
            <a:ext cx="6477000" cy="1079500"/>
          </a:xfrm>
          <a:prstGeom prst="roundRect">
            <a:avLst>
              <a:gd name="adj" fmla="val 11764"/>
            </a:avLst>
          </a:prstGeom>
          <a:solidFill>
            <a:srgbClr val="FFFFFF">
              <a:alpha val="8000"/>
            </a:srgbClr>
          </a:solidFill>
          <a:ln w="12700" cap="flat" cmpd="sng">
            <a:solidFill>
              <a:srgbClr val="FFD700">
                <a:alpha val="20000"/>
              </a:srgbClr>
            </a:solidFill>
            <a:prstDash val="solid"/>
            <a:round/>
          </a:ln>
        </p:spPr>
        <p:txBody>
          <a:bodyPr vert="horz" wrap="square" lIns="63500" tIns="63500" rIns="63500" bIns="63500" rtlCol="0" anchor="ctr"/>
          <a:lstStyle/>
          <a:p>
            <a:pPr algn="ctr">
              <a:defRPr/>
            </a:pPr>
            <a:endParaRPr/>
          </a:p>
        </p:txBody>
      </p:sp>
      <p:pic>
        <p:nvPicPr>
          <p:cNvPr id="9" name="Picture 9"/>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5207000" y="2984500"/>
            <a:ext cx="508000" cy="508000"/>
          </a:xfrm>
          <a:prstGeom prst="rect">
            <a:avLst/>
          </a:prstGeom>
        </p:spPr>
      </p:pic>
      <p:sp>
        <p:nvSpPr>
          <p:cNvPr id="10" name="AutoShape 10"/>
          <p:cNvSpPr/>
          <p:nvPr/>
        </p:nvSpPr>
        <p:spPr>
          <a:xfrm>
            <a:off x="5842000" y="2857500"/>
            <a:ext cx="5334000" cy="8255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400" b="1" i="0" u="none" strike="noStrike" dirty="0" err="1">
                <a:solidFill>
                  <a:srgbClr val="FFD700"/>
                </a:solidFill>
                <a:latin typeface="华文楷体" panose="02010600040101010101" pitchFamily="2" charset="-122"/>
                <a:ea typeface="华文楷体" panose="02010600040101010101" pitchFamily="2" charset="-122"/>
                <a:cs typeface="Noto Sans SC"/>
                <a:sym typeface="Noto Sans SC"/>
              </a:rPr>
              <a:t>背鳍</a:t>
            </a:r>
            <a:r>
              <a:rPr lang="en-US" sz="2400" b="1" i="0" u="none" strike="noStrike" dirty="0">
                <a:solidFill>
                  <a:srgbClr val="FFD700"/>
                </a:solidFill>
                <a:latin typeface="华文楷体" panose="02010600040101010101" pitchFamily="2" charset="-122"/>
                <a:ea typeface="华文楷体" panose="02010600040101010101" pitchFamily="2" charset="-122"/>
                <a:cs typeface="Noto Sans SC"/>
                <a:sym typeface="Noto Sans SC"/>
              </a:rPr>
              <a:t> &amp; </a:t>
            </a:r>
            <a:r>
              <a:rPr lang="en-US" sz="2400" b="1" i="0" u="none" strike="noStrike" dirty="0" err="1">
                <a:solidFill>
                  <a:srgbClr val="FFD700"/>
                </a:solidFill>
                <a:latin typeface="华文楷体" panose="02010600040101010101" pitchFamily="2" charset="-122"/>
                <a:ea typeface="华文楷体" panose="02010600040101010101" pitchFamily="2" charset="-122"/>
                <a:cs typeface="Noto Sans SC"/>
                <a:sym typeface="Noto Sans SC"/>
              </a:rPr>
              <a:t>臀鳍：平衡稳定</a:t>
            </a:r>
            <a:endParaRPr lang="en-US" dirty="0">
              <a:latin typeface="华文楷体" panose="02010600040101010101" pitchFamily="2" charset="-122"/>
              <a:ea typeface="华文楷体" panose="02010600040101010101" pitchFamily="2" charset="-122"/>
            </a:endParaRPr>
          </a:p>
          <a:p>
            <a:pPr indent="0" algn="l">
              <a:lnSpc>
                <a:spcPct val="125000"/>
              </a:lnSpc>
            </a:pPr>
            <a:r>
              <a:rPr lang="en-US" sz="1800" b="0" i="0" u="none" strike="noStrike" dirty="0" err="1">
                <a:solidFill>
                  <a:srgbClr val="E5E7EB"/>
                </a:solidFill>
                <a:latin typeface="华文楷体" panose="02010600040101010101" pitchFamily="2" charset="-122"/>
                <a:ea typeface="华文楷体" panose="02010600040101010101" pitchFamily="2" charset="-122"/>
                <a:cs typeface="Noto Sans SC"/>
                <a:sym typeface="Noto Sans SC"/>
              </a:rPr>
              <a:t>维持身体直立平衡，防止游动中侧翻，是鱼体的“稳定器</a:t>
            </a:r>
            <a:r>
              <a:rPr lang="en-US" sz="1800" b="0" i="0" u="none" strike="noStrike" dirty="0">
                <a:solidFill>
                  <a:srgbClr val="E5E7EB"/>
                </a:solidFill>
                <a:latin typeface="华文楷体" panose="02010600040101010101" pitchFamily="2" charset="-122"/>
                <a:ea typeface="华文楷体" panose="02010600040101010101" pitchFamily="2" charset="-122"/>
                <a:cs typeface="Noto Sans SC"/>
                <a:sym typeface="Noto Sans SC"/>
              </a:rPr>
              <a:t>”。</a:t>
            </a:r>
          </a:p>
        </p:txBody>
      </p:sp>
      <p:sp>
        <p:nvSpPr>
          <p:cNvPr id="11" name="AutoShape 11"/>
          <p:cNvSpPr/>
          <p:nvPr/>
        </p:nvSpPr>
        <p:spPr>
          <a:xfrm>
            <a:off x="4953000" y="3937000"/>
            <a:ext cx="6477000" cy="1079500"/>
          </a:xfrm>
          <a:prstGeom prst="roundRect">
            <a:avLst>
              <a:gd name="adj" fmla="val 11764"/>
            </a:avLst>
          </a:prstGeom>
          <a:solidFill>
            <a:srgbClr val="FFFFFF">
              <a:alpha val="8000"/>
            </a:srgbClr>
          </a:solidFill>
          <a:ln w="12700" cap="flat" cmpd="sng">
            <a:solidFill>
              <a:srgbClr val="FFD700">
                <a:alpha val="20000"/>
              </a:srgbClr>
            </a:solidFill>
            <a:prstDash val="solid"/>
            <a:round/>
          </a:ln>
        </p:spPr>
        <p:txBody>
          <a:bodyPr vert="horz" wrap="square" lIns="63500" tIns="63500" rIns="63500" bIns="63500" rtlCol="0" anchor="ctr"/>
          <a:lstStyle/>
          <a:p>
            <a:pPr algn="ctr">
              <a:defRPr/>
            </a:pPr>
            <a:endParaRPr/>
          </a:p>
        </p:txBody>
      </p:sp>
      <p:pic>
        <p:nvPicPr>
          <p:cNvPr id="12" name="Picture 12"/>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5207000" y="4191000"/>
            <a:ext cx="508000" cy="508000"/>
          </a:xfrm>
          <a:prstGeom prst="rect">
            <a:avLst/>
          </a:prstGeom>
        </p:spPr>
      </p:pic>
      <p:sp>
        <p:nvSpPr>
          <p:cNvPr id="13" name="AutoShape 13"/>
          <p:cNvSpPr/>
          <p:nvPr/>
        </p:nvSpPr>
        <p:spPr>
          <a:xfrm>
            <a:off x="5842000" y="4064000"/>
            <a:ext cx="5334000" cy="8255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400" b="1" i="0" u="none" strike="noStrike" dirty="0" err="1">
                <a:solidFill>
                  <a:srgbClr val="FFD700"/>
                </a:solidFill>
                <a:latin typeface="华文楷体" panose="02010600040101010101" pitchFamily="2" charset="-122"/>
                <a:ea typeface="华文楷体" panose="02010600040101010101" pitchFamily="2" charset="-122"/>
                <a:cs typeface="Noto Sans SC"/>
                <a:sym typeface="Noto Sans SC"/>
              </a:rPr>
              <a:t>胸鳍：制动与微调</a:t>
            </a:r>
            <a:endParaRPr lang="en-US" dirty="0">
              <a:latin typeface="华文楷体" panose="02010600040101010101" pitchFamily="2" charset="-122"/>
              <a:ea typeface="华文楷体" panose="02010600040101010101" pitchFamily="2" charset="-122"/>
            </a:endParaRPr>
          </a:p>
          <a:p>
            <a:pPr indent="0" algn="l">
              <a:lnSpc>
                <a:spcPct val="125000"/>
              </a:lnSpc>
            </a:pPr>
            <a:r>
              <a:rPr lang="en-US" sz="1800" b="0" i="0" u="none" strike="noStrike" dirty="0" err="1">
                <a:solidFill>
                  <a:srgbClr val="E5E7EB"/>
                </a:solidFill>
                <a:latin typeface="华文楷体" panose="02010600040101010101" pitchFamily="2" charset="-122"/>
                <a:ea typeface="华文楷体" panose="02010600040101010101" pitchFamily="2" charset="-122"/>
                <a:cs typeface="Noto Sans SC"/>
                <a:sym typeface="Noto Sans SC"/>
              </a:rPr>
              <a:t>如同船桨，主要用于控制方向、减速和紧急制动，辅助维持平衡</a:t>
            </a:r>
            <a:r>
              <a:rPr lang="en-US" sz="1800" b="0" i="0" u="none" strike="noStrike" dirty="0">
                <a:solidFill>
                  <a:srgbClr val="E5E7EB"/>
                </a:solidFill>
                <a:latin typeface="华文楷体" panose="02010600040101010101" pitchFamily="2" charset="-122"/>
                <a:ea typeface="华文楷体" panose="02010600040101010101" pitchFamily="2" charset="-122"/>
                <a:cs typeface="Noto Sans SC"/>
                <a:sym typeface="Noto Sans SC"/>
              </a:rPr>
              <a:t>。</a:t>
            </a:r>
          </a:p>
        </p:txBody>
      </p:sp>
      <p:sp>
        <p:nvSpPr>
          <p:cNvPr id="14" name="AutoShape 14"/>
          <p:cNvSpPr/>
          <p:nvPr/>
        </p:nvSpPr>
        <p:spPr>
          <a:xfrm>
            <a:off x="4953000" y="5143500"/>
            <a:ext cx="6477000" cy="1079500"/>
          </a:xfrm>
          <a:prstGeom prst="roundRect">
            <a:avLst>
              <a:gd name="adj" fmla="val 11764"/>
            </a:avLst>
          </a:prstGeom>
          <a:solidFill>
            <a:srgbClr val="FFFFFF">
              <a:alpha val="8000"/>
            </a:srgbClr>
          </a:solidFill>
          <a:ln w="12700" cap="flat" cmpd="sng">
            <a:solidFill>
              <a:srgbClr val="FFD700">
                <a:alpha val="20000"/>
              </a:srgbClr>
            </a:solidFill>
            <a:prstDash val="solid"/>
            <a:round/>
          </a:ln>
        </p:spPr>
        <p:txBody>
          <a:bodyPr vert="horz" wrap="square" lIns="63500" tIns="63500" rIns="63500" bIns="63500" rtlCol="0" anchor="ctr"/>
          <a:lstStyle/>
          <a:p>
            <a:pPr algn="ctr">
              <a:defRPr/>
            </a:pPr>
            <a:endParaRPr/>
          </a:p>
        </p:txBody>
      </p:sp>
      <p:pic>
        <p:nvPicPr>
          <p:cNvPr id="15" name="Picture 15"/>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5207000" y="5397500"/>
            <a:ext cx="508000" cy="508000"/>
          </a:xfrm>
          <a:prstGeom prst="rect">
            <a:avLst/>
          </a:prstGeom>
        </p:spPr>
      </p:pic>
      <p:sp>
        <p:nvSpPr>
          <p:cNvPr id="16" name="AutoShape 16"/>
          <p:cNvSpPr/>
          <p:nvPr/>
        </p:nvSpPr>
        <p:spPr>
          <a:xfrm>
            <a:off x="5842000" y="5270500"/>
            <a:ext cx="5334000" cy="8255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400" b="1" i="0" u="none" strike="noStrike" dirty="0" err="1">
                <a:solidFill>
                  <a:srgbClr val="FFD700"/>
                </a:solidFill>
                <a:latin typeface="华文楷体" panose="02010600040101010101" pitchFamily="2" charset="-122"/>
                <a:ea typeface="华文楷体" panose="02010600040101010101" pitchFamily="2" charset="-122"/>
                <a:cs typeface="Noto Sans SC"/>
                <a:sym typeface="Noto Sans SC"/>
              </a:rPr>
              <a:t>腹鳍：辅助支撑</a:t>
            </a:r>
            <a:endParaRPr lang="en-US" dirty="0">
              <a:latin typeface="华文楷体" panose="02010600040101010101" pitchFamily="2" charset="-122"/>
              <a:ea typeface="华文楷体" panose="02010600040101010101" pitchFamily="2" charset="-122"/>
            </a:endParaRPr>
          </a:p>
          <a:p>
            <a:pPr indent="0" algn="l">
              <a:lnSpc>
                <a:spcPct val="125000"/>
              </a:lnSpc>
            </a:pPr>
            <a:r>
              <a:rPr lang="en-US" sz="1800" b="0" i="0" u="none" strike="noStrike" dirty="0" err="1">
                <a:solidFill>
                  <a:srgbClr val="E5E7EB"/>
                </a:solidFill>
                <a:latin typeface="华文楷体" panose="02010600040101010101" pitchFamily="2" charset="-122"/>
                <a:ea typeface="华文楷体" panose="02010600040101010101" pitchFamily="2" charset="-122"/>
                <a:cs typeface="Noto Sans SC"/>
                <a:sym typeface="Noto Sans SC"/>
              </a:rPr>
              <a:t>辅助胸鳍和背鳍，协助鱼体在复杂水流中保持稳定姿态</a:t>
            </a:r>
            <a:r>
              <a:rPr lang="en-US" sz="1800" b="0" i="0" u="none" strike="noStrike" dirty="0">
                <a:solidFill>
                  <a:srgbClr val="E5E7EB"/>
                </a:solidFill>
                <a:latin typeface="华文楷体" panose="02010600040101010101" pitchFamily="2" charset="-122"/>
                <a:ea typeface="华文楷体" panose="02010600040101010101" pitchFamily="2" charset="-122"/>
                <a:cs typeface="Noto Sans SC"/>
                <a:sym typeface="Noto Sans SC"/>
              </a:rPr>
              <a:t>。</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gradFill rotWithShape="1">
          <a:gsLst>
            <a:gs pos="0">
              <a:srgbClr val="141414">
                <a:alpha val="100000"/>
              </a:srgbClr>
            </a:gs>
            <a:gs pos="100000">
              <a:srgbClr val="2D2D32">
                <a:alpha val="100000"/>
              </a:srgbClr>
            </a:gs>
          </a:gsLst>
          <a:lin ang="2700000"/>
        </a:gradFill>
        <a:effectLst/>
      </p:bgPr>
    </p:bg>
    <p:spTree>
      <p:nvGrpSpPr>
        <p:cNvPr id="1" name=""/>
        <p:cNvGrpSpPr/>
        <p:nvPr/>
      </p:nvGrpSpPr>
      <p:grpSpPr>
        <a:xfrm>
          <a:off x="0" y="0"/>
          <a:ext cx="0" cy="0"/>
          <a:chOff x="0" y="0"/>
          <a:chExt cx="0" cy="0"/>
        </a:xfrm>
      </p:grpSpPr>
      <p:sp>
        <p:nvSpPr>
          <p:cNvPr id="2" name="AutoShape 2"/>
          <p:cNvSpPr/>
          <p:nvPr/>
        </p:nvSpPr>
        <p:spPr>
          <a:xfrm>
            <a:off x="762000" y="508000"/>
            <a:ext cx="10668000" cy="635000"/>
          </a:xfrm>
          <a:prstGeom prst="rect">
            <a:avLst/>
          </a:prstGeom>
          <a:noFill/>
          <a:ln w="12700" cap="flat" cmpd="sng">
            <a:noFill/>
            <a:prstDash val="solid"/>
            <a:round/>
          </a:ln>
        </p:spPr>
        <p:txBody>
          <a:bodyPr vert="horz" wrap="none" lIns="0" tIns="0" rIns="0" bIns="0" rtlCol="0" anchor="ctr" anchorCtr="0"/>
          <a:lstStyle/>
          <a:p>
            <a:pPr indent="0" algn="l">
              <a:lnSpc>
                <a:spcPct val="125000"/>
              </a:lnSpc>
              <a:defRPr/>
            </a:pPr>
            <a:r>
              <a:rPr lang="en-US" sz="3200" b="1" i="0" u="none" strike="noStrike" dirty="0" err="1">
                <a:solidFill>
                  <a:srgbClr val="FFD700"/>
                </a:solidFill>
                <a:latin typeface="华文新魏" panose="02010800040101010101" pitchFamily="2" charset="-122"/>
                <a:ea typeface="华文新魏" panose="02010800040101010101" pitchFamily="2" charset="-122"/>
                <a:cs typeface="Noto Sans SC"/>
                <a:sym typeface="Noto Sans SC"/>
              </a:rPr>
              <a:t>适应关系：形态结构的适应性（二</a:t>
            </a:r>
            <a:r>
              <a:rPr lang="en-US" sz="3200" b="1" i="0" u="none" strike="noStrike" dirty="0">
                <a:solidFill>
                  <a:srgbClr val="FFD700"/>
                </a:solidFill>
                <a:latin typeface="华文新魏" panose="02010800040101010101" pitchFamily="2" charset="-122"/>
                <a:ea typeface="华文新魏" panose="02010800040101010101" pitchFamily="2" charset="-122"/>
                <a:cs typeface="Noto Sans SC"/>
                <a:sym typeface="Noto Sans SC"/>
              </a:rPr>
              <a:t>）——</a:t>
            </a:r>
            <a:r>
              <a:rPr lang="en-US" sz="3200" b="1" i="0" u="none" strike="noStrike" dirty="0" err="1">
                <a:solidFill>
                  <a:srgbClr val="FFD700"/>
                </a:solidFill>
                <a:latin typeface="华文新魏" panose="02010800040101010101" pitchFamily="2" charset="-122"/>
                <a:ea typeface="华文新魏" panose="02010800040101010101" pitchFamily="2" charset="-122"/>
                <a:cs typeface="Noto Sans SC"/>
                <a:sym typeface="Noto Sans SC"/>
              </a:rPr>
              <a:t>流线型与鳞片</a:t>
            </a:r>
            <a:endParaRPr lang="en-US" sz="1100" dirty="0">
              <a:latin typeface="华文新魏" panose="02010800040101010101" pitchFamily="2" charset="-122"/>
              <a:ea typeface="华文新魏" panose="02010800040101010101" pitchFamily="2" charset="-122"/>
            </a:endParaRPr>
          </a:p>
        </p:txBody>
      </p:sp>
      <p:sp>
        <p:nvSpPr>
          <p:cNvPr id="3" name="AutoShape 3"/>
          <p:cNvSpPr/>
          <p:nvPr/>
        </p:nvSpPr>
        <p:spPr>
          <a:xfrm>
            <a:off x="762000" y="1397000"/>
            <a:ext cx="5080000" cy="3556000"/>
          </a:xfrm>
          <a:prstGeom prst="roundRect">
            <a:avLst>
              <a:gd name="adj" fmla="val 3571"/>
            </a:avLst>
          </a:prstGeom>
          <a:solidFill>
            <a:srgbClr val="FFFFFF">
              <a:alpha val="5000"/>
            </a:srgbClr>
          </a:solidFill>
          <a:ln w="12700" cap="flat" cmpd="sng">
            <a:solidFill>
              <a:srgbClr val="FFD700">
                <a:alpha val="30000"/>
              </a:srgbClr>
            </a:solidFill>
            <a:prstDash val="solid"/>
            <a:round/>
          </a:ln>
        </p:spPr>
        <p:txBody>
          <a:bodyPr vert="horz" wrap="square" lIns="63500" tIns="63500" rIns="63500" bIns="63500" rtlCol="0" anchor="ctr"/>
          <a:lstStyle/>
          <a:p>
            <a:pPr algn="ctr">
              <a:defRPr/>
            </a:pPr>
            <a:endParaRPr/>
          </a:p>
        </p:txBody>
      </p:sp>
      <p:sp>
        <p:nvSpPr>
          <p:cNvPr id="4" name="AutoShape 4"/>
          <p:cNvSpPr/>
          <p:nvPr/>
        </p:nvSpPr>
        <p:spPr>
          <a:xfrm>
            <a:off x="1016000" y="3365500"/>
            <a:ext cx="4572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2400" b="1" i="0" u="none" strike="noStrike" dirty="0" err="1">
                <a:solidFill>
                  <a:srgbClr val="FFD700"/>
                </a:solidFill>
                <a:latin typeface="华文楷体" panose="02010600040101010101" pitchFamily="2" charset="-122"/>
                <a:ea typeface="华文楷体" panose="02010600040101010101" pitchFamily="2" charset="-122"/>
                <a:cs typeface="Noto Sans SC"/>
                <a:sym typeface="Noto Sans SC"/>
              </a:rPr>
              <a:t>流线型身体：减阻增效</a:t>
            </a:r>
            <a:endParaRPr lang="en-US" sz="1200" dirty="0">
              <a:latin typeface="华文楷体" panose="02010600040101010101" pitchFamily="2" charset="-122"/>
              <a:ea typeface="华文楷体" panose="02010600040101010101" pitchFamily="2" charset="-122"/>
            </a:endParaRPr>
          </a:p>
        </p:txBody>
      </p:sp>
      <p:sp>
        <p:nvSpPr>
          <p:cNvPr id="5" name="AutoShape 5"/>
          <p:cNvSpPr/>
          <p:nvPr/>
        </p:nvSpPr>
        <p:spPr>
          <a:xfrm>
            <a:off x="1016000" y="3810000"/>
            <a:ext cx="4572000" cy="1016000"/>
          </a:xfrm>
          <a:prstGeom prst="rect">
            <a:avLst/>
          </a:prstGeom>
          <a:noFill/>
          <a:ln w="12700" cap="flat" cmpd="sng">
            <a:noFill/>
            <a:prstDash val="solid"/>
            <a:round/>
          </a:ln>
        </p:spPr>
        <p:txBody>
          <a:bodyPr vert="horz" wrap="square" lIns="0" tIns="0" rIns="0" bIns="0" rtlCol="0" anchor="ctr" anchorCtr="0"/>
          <a:lstStyle/>
          <a:p>
            <a:pPr indent="0" algn="just">
              <a:lnSpc>
                <a:spcPct val="108333"/>
              </a:lnSpc>
              <a:defRPr/>
            </a:pPr>
            <a:r>
              <a:rPr lang="en-US" sz="1800" b="0" i="0" u="none" strike="noStrike" dirty="0" err="1">
                <a:solidFill>
                  <a:srgbClr val="DCDCDC"/>
                </a:solidFill>
                <a:latin typeface="华文楷体" panose="02010600040101010101" pitchFamily="2" charset="-122"/>
                <a:ea typeface="华文楷体" panose="02010600040101010101" pitchFamily="2" charset="-122"/>
                <a:cs typeface="Noto Sans SC"/>
                <a:sym typeface="Noto Sans SC"/>
              </a:rPr>
              <a:t>鲫鱼身体呈纺锤形，这种流线型设计能最大限度减少水中游动阻力，使其游得更快、更省力，是对水生环境的完美适应</a:t>
            </a:r>
            <a:r>
              <a:rPr lang="en-US" sz="1800" b="0" i="0" u="none" strike="noStrike" dirty="0">
                <a:solidFill>
                  <a:srgbClr val="DCDCDC"/>
                </a:solidFill>
                <a:latin typeface="华文楷体" panose="02010600040101010101" pitchFamily="2" charset="-122"/>
                <a:ea typeface="华文楷体" panose="02010600040101010101" pitchFamily="2" charset="-122"/>
                <a:cs typeface="Noto Sans SC"/>
                <a:sym typeface="Noto Sans SC"/>
              </a:rPr>
              <a:t>。</a:t>
            </a:r>
            <a:endParaRPr lang="en-US" dirty="0">
              <a:latin typeface="华文楷体" panose="02010600040101010101" pitchFamily="2" charset="-122"/>
              <a:ea typeface="华文楷体" panose="02010600040101010101" pitchFamily="2" charset="-122"/>
            </a:endParaRPr>
          </a:p>
        </p:txBody>
      </p:sp>
      <p:sp>
        <p:nvSpPr>
          <p:cNvPr id="6" name="AutoShape 6"/>
          <p:cNvSpPr/>
          <p:nvPr/>
        </p:nvSpPr>
        <p:spPr>
          <a:xfrm>
            <a:off x="6350000" y="1397000"/>
            <a:ext cx="5080000" cy="3556000"/>
          </a:xfrm>
          <a:prstGeom prst="roundRect">
            <a:avLst>
              <a:gd name="adj" fmla="val 3571"/>
            </a:avLst>
          </a:prstGeom>
          <a:solidFill>
            <a:srgbClr val="FFFFFF">
              <a:alpha val="5000"/>
            </a:srgbClr>
          </a:solidFill>
          <a:ln w="12700" cap="flat" cmpd="sng">
            <a:solidFill>
              <a:srgbClr val="FFD700">
                <a:alpha val="30000"/>
              </a:srgbClr>
            </a:solidFill>
            <a:prstDash val="solid"/>
            <a:round/>
          </a:ln>
        </p:spPr>
        <p:txBody>
          <a:bodyPr vert="horz" wrap="square" lIns="63500" tIns="63500" rIns="63500" bIns="63500" rtlCol="0" anchor="ctr"/>
          <a:lstStyle/>
          <a:p>
            <a:pPr algn="ctr">
              <a:defRPr/>
            </a:pPr>
            <a:endParaRPr/>
          </a:p>
        </p:txBody>
      </p:sp>
      <p:pic>
        <p:nvPicPr>
          <p:cNvPr id="7" name="Picture 7"/>
          <p:cNvPicPr>
            <a:picLocks noChangeAspect="1"/>
          </p:cNvPicPr>
          <p:nvPr/>
        </p:nvPicPr>
        <p:blipFill>
          <a:blip r:embed="rId3"/>
          <a:srcRect l="9533" r="9533"/>
          <a:stretch>
            <a:fillRect/>
          </a:stretch>
        </p:blipFill>
        <p:spPr>
          <a:xfrm>
            <a:off x="7454900" y="1587500"/>
            <a:ext cx="2870200" cy="1651000"/>
          </a:xfrm>
          <a:prstGeom prst="roundRect">
            <a:avLst>
              <a:gd name="adj" fmla="val 7692"/>
            </a:avLst>
          </a:prstGeom>
          <a:noFill/>
          <a:ln w="25400" cap="flat" cmpd="sng">
            <a:noFill/>
            <a:prstDash val="solid"/>
            <a:round/>
          </a:ln>
        </p:spPr>
      </p:pic>
      <p:sp>
        <p:nvSpPr>
          <p:cNvPr id="8" name="AutoShape 8"/>
          <p:cNvSpPr/>
          <p:nvPr/>
        </p:nvSpPr>
        <p:spPr>
          <a:xfrm>
            <a:off x="6604000" y="3365500"/>
            <a:ext cx="4572000" cy="381000"/>
          </a:xfrm>
          <a:prstGeom prst="rect">
            <a:avLst/>
          </a:prstGeom>
          <a:noFill/>
          <a:ln w="12700" cap="flat" cmpd="sng">
            <a:noFill/>
            <a:prstDash val="solid"/>
            <a:round/>
          </a:ln>
        </p:spPr>
        <p:txBody>
          <a:bodyPr vert="horz" wrap="square" lIns="0" tIns="0" rIns="0" bIns="0" rtlCol="0" anchor="ctr" anchorCtr="0"/>
          <a:lstStyle/>
          <a:p>
            <a:pPr algn="ctr">
              <a:lnSpc>
                <a:spcPct val="125000"/>
              </a:lnSpc>
              <a:defRPr/>
            </a:pPr>
            <a:r>
              <a:rPr lang="en-US" sz="2400" b="1" dirty="0" err="1">
                <a:solidFill>
                  <a:srgbClr val="FFD700"/>
                </a:solidFill>
                <a:latin typeface="华文楷体" panose="02010600040101010101" pitchFamily="2" charset="-122"/>
                <a:ea typeface="华文楷体" panose="02010600040101010101" pitchFamily="2" charset="-122"/>
                <a:sym typeface="Noto Sans SC"/>
              </a:rPr>
              <a:t>鳞片与粘液：双重防护</a:t>
            </a:r>
            <a:endParaRPr lang="en-US" sz="2400" b="1" dirty="0">
              <a:solidFill>
                <a:srgbClr val="FFD700"/>
              </a:solidFill>
              <a:latin typeface="华文楷体" panose="02010600040101010101" pitchFamily="2" charset="-122"/>
              <a:ea typeface="华文楷体" panose="02010600040101010101" pitchFamily="2" charset="-122"/>
            </a:endParaRPr>
          </a:p>
        </p:txBody>
      </p:sp>
      <p:sp>
        <p:nvSpPr>
          <p:cNvPr id="9" name="AutoShape 9"/>
          <p:cNvSpPr/>
          <p:nvPr/>
        </p:nvSpPr>
        <p:spPr>
          <a:xfrm>
            <a:off x="6604000" y="3810000"/>
            <a:ext cx="4572000" cy="1016000"/>
          </a:xfrm>
          <a:prstGeom prst="rect">
            <a:avLst/>
          </a:prstGeom>
          <a:noFill/>
          <a:ln w="12700" cap="flat" cmpd="sng">
            <a:noFill/>
            <a:prstDash val="solid"/>
            <a:round/>
          </a:ln>
        </p:spPr>
        <p:txBody>
          <a:bodyPr vert="horz" wrap="square" lIns="0" tIns="0" rIns="0" bIns="0" rtlCol="0" anchor="ctr" anchorCtr="0"/>
          <a:lstStyle/>
          <a:p>
            <a:pPr algn="just">
              <a:lnSpc>
                <a:spcPct val="108333"/>
              </a:lnSpc>
              <a:defRPr/>
            </a:pPr>
            <a:r>
              <a:rPr lang="en-US" sz="1800" dirty="0" err="1">
                <a:solidFill>
                  <a:srgbClr val="DCDCDC"/>
                </a:solidFill>
                <a:latin typeface="华文楷体" panose="02010600040101010101" pitchFamily="2" charset="-122"/>
                <a:ea typeface="华文楷体" panose="02010600040101010101" pitchFamily="2" charset="-122"/>
                <a:sym typeface="Noto Sans SC"/>
              </a:rPr>
              <a:t>鳞片构成物理盔甲保护身体，表面分泌的粘液进一步润滑身体降低摩擦，同时抵御细菌和寄生虫，兼顾了运动效率与生存防御</a:t>
            </a:r>
            <a:r>
              <a:rPr lang="en-US" sz="1800" dirty="0">
                <a:solidFill>
                  <a:srgbClr val="DCDCDC"/>
                </a:solidFill>
                <a:latin typeface="华文楷体" panose="02010600040101010101" pitchFamily="2" charset="-122"/>
                <a:ea typeface="华文楷体" panose="02010600040101010101" pitchFamily="2" charset="-122"/>
                <a:sym typeface="Noto Sans SC"/>
              </a:rPr>
              <a:t>。</a:t>
            </a:r>
            <a:endParaRPr lang="en-US" sz="1800" dirty="0">
              <a:solidFill>
                <a:srgbClr val="DCDCDC"/>
              </a:solidFill>
              <a:latin typeface="华文楷体" panose="02010600040101010101" pitchFamily="2" charset="-122"/>
              <a:ea typeface="华文楷体" panose="02010600040101010101" pitchFamily="2" charset="-122"/>
            </a:endParaRPr>
          </a:p>
        </p:txBody>
      </p:sp>
      <p:sp>
        <p:nvSpPr>
          <p:cNvPr id="10" name="AutoShape 10"/>
          <p:cNvSpPr/>
          <p:nvPr/>
        </p:nvSpPr>
        <p:spPr>
          <a:xfrm>
            <a:off x="762000" y="5207000"/>
            <a:ext cx="10668000" cy="889000"/>
          </a:xfrm>
          <a:prstGeom prst="roundRect">
            <a:avLst>
              <a:gd name="adj" fmla="val 14285"/>
            </a:avLst>
          </a:prstGeom>
          <a:solidFill>
            <a:srgbClr val="FFD700">
              <a:alpha val="10000"/>
            </a:srgbClr>
          </a:solidFill>
          <a:ln w="25400" cap="flat" cmpd="sng">
            <a:noFill/>
            <a:prstDash val="solid"/>
            <a:round/>
          </a:ln>
        </p:spPr>
        <p:txBody>
          <a:bodyPr vert="horz" wrap="square" lIns="63500" tIns="63500" rIns="63500" bIns="63500" rtlCol="0" anchor="ctr"/>
          <a:lstStyle/>
          <a:p>
            <a:pPr algn="ctr">
              <a:defRPr/>
            </a:pPr>
            <a:endParaRPr/>
          </a:p>
        </p:txBody>
      </p:sp>
      <p:pic>
        <p:nvPicPr>
          <p:cNvPr id="11" name="Picture 11"/>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016000" y="5397500"/>
            <a:ext cx="508000" cy="508000"/>
          </a:xfrm>
          <a:prstGeom prst="rect">
            <a:avLst/>
          </a:prstGeom>
        </p:spPr>
      </p:pic>
      <p:sp>
        <p:nvSpPr>
          <p:cNvPr id="12" name="AutoShape 12"/>
          <p:cNvSpPr/>
          <p:nvPr/>
        </p:nvSpPr>
        <p:spPr>
          <a:xfrm>
            <a:off x="1651000" y="5334000"/>
            <a:ext cx="9525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dirty="0" err="1">
                <a:solidFill>
                  <a:srgbClr val="FFFFFF"/>
                </a:solidFill>
                <a:latin typeface="华文楷体" panose="02010600040101010101" pitchFamily="2" charset="-122"/>
                <a:ea typeface="华文楷体" panose="02010600040101010101" pitchFamily="2" charset="-122"/>
                <a:cs typeface="Noto Sans SC"/>
                <a:sym typeface="Noto Sans SC"/>
              </a:rPr>
              <a:t>核心启示：</a:t>
            </a:r>
            <a:r>
              <a:rPr lang="en-US" sz="1800" b="0" i="0" u="none" strike="noStrike" dirty="0" err="1">
                <a:solidFill>
                  <a:srgbClr val="C8C8C8"/>
                </a:solidFill>
                <a:latin typeface="华文楷体" panose="02010600040101010101" pitchFamily="2" charset="-122"/>
                <a:ea typeface="华文楷体" panose="02010600040101010101" pitchFamily="2" charset="-122"/>
                <a:cs typeface="Noto Sans SC"/>
                <a:sym typeface="Noto Sans SC"/>
              </a:rPr>
              <a:t>生物体的形态结构与其生活环境和生理功能是高度统一的，每一个细节都是自然选择的精妙设计</a:t>
            </a:r>
            <a:r>
              <a:rPr lang="en-US" sz="1800" b="0" i="0" u="none" strike="noStrike" dirty="0">
                <a:solidFill>
                  <a:srgbClr val="C8C8C8"/>
                </a:solidFill>
                <a:latin typeface="华文楷体" panose="02010600040101010101" pitchFamily="2" charset="-122"/>
                <a:ea typeface="华文楷体" panose="02010600040101010101" pitchFamily="2" charset="-122"/>
                <a:cs typeface="Noto Sans SC"/>
                <a:sym typeface="Noto Sans SC"/>
              </a:rPr>
              <a:t>。</a:t>
            </a:r>
            <a:endParaRPr lang="en-US" sz="1200" dirty="0">
              <a:latin typeface="华文楷体" panose="02010600040101010101" pitchFamily="2" charset="-122"/>
              <a:ea typeface="华文楷体" panose="02010600040101010101" pitchFamily="2" charset="-122"/>
            </a:endParaRPr>
          </a:p>
        </p:txBody>
      </p:sp>
      <p:pic>
        <p:nvPicPr>
          <p:cNvPr id="13" name="Picture 7">
            <a:extLst>
              <a:ext uri="{FF2B5EF4-FFF2-40B4-BE49-F238E27FC236}">
                <a16:creationId xmlns:a16="http://schemas.microsoft.com/office/drawing/2014/main" id="{C97ADB37-C57C-3686-D292-3E920618B09D}"/>
              </a:ext>
            </a:extLst>
          </p:cNvPr>
          <p:cNvPicPr>
            <a:picLocks noChangeAspect="1"/>
          </p:cNvPicPr>
          <p:nvPr/>
        </p:nvPicPr>
        <p:blipFill>
          <a:blip r:embed="rId6"/>
          <a:srcRect t="3762" b="3762"/>
          <a:stretch/>
        </p:blipFill>
        <p:spPr>
          <a:xfrm>
            <a:off x="1866900" y="1587500"/>
            <a:ext cx="2870200" cy="1651000"/>
          </a:xfrm>
          <a:prstGeom prst="roundRect">
            <a:avLst>
              <a:gd name="adj" fmla="val 7692"/>
            </a:avLst>
          </a:prstGeom>
          <a:noFill/>
          <a:ln w="25400" cap="flat" cmpd="sng">
            <a:noFill/>
            <a:prstDash val="solid"/>
            <a:round/>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gradFill rotWithShape="1">
          <a:gsLst>
            <a:gs pos="0">
              <a:srgbClr val="1A1A1A">
                <a:alpha val="100000"/>
              </a:srgbClr>
            </a:gs>
            <a:gs pos="100000">
              <a:srgbClr val="2D2D2D">
                <a:alpha val="100000"/>
              </a:srgbClr>
            </a:gs>
          </a:gsLst>
          <a:lin ang="2700000"/>
        </a:gradFill>
        <a:effectLst/>
      </p:bgPr>
    </p:bg>
    <p:spTree>
      <p:nvGrpSpPr>
        <p:cNvPr id="1" name=""/>
        <p:cNvGrpSpPr/>
        <p:nvPr/>
      </p:nvGrpSpPr>
      <p:grpSpPr>
        <a:xfrm>
          <a:off x="0" y="0"/>
          <a:ext cx="0" cy="0"/>
          <a:chOff x="0" y="0"/>
          <a:chExt cx="0" cy="0"/>
        </a:xfrm>
      </p:grpSpPr>
      <p:sp>
        <p:nvSpPr>
          <p:cNvPr id="2" name="AutoShape 2"/>
          <p:cNvSpPr/>
          <p:nvPr/>
        </p:nvSpPr>
        <p:spPr>
          <a:xfrm>
            <a:off x="762000" y="508000"/>
            <a:ext cx="10668000" cy="584200"/>
          </a:xfrm>
          <a:prstGeom prst="rect">
            <a:avLst/>
          </a:prstGeom>
          <a:noFill/>
          <a:ln w="12700" cap="flat" cmpd="sng">
            <a:noFill/>
            <a:prstDash val="solid"/>
            <a:round/>
          </a:ln>
        </p:spPr>
        <p:txBody>
          <a:bodyPr vert="horz" wrap="none" lIns="0" tIns="0" rIns="0" bIns="0" rtlCol="0" anchor="ctr" anchorCtr="0"/>
          <a:lstStyle/>
          <a:p>
            <a:pPr indent="0" algn="l">
              <a:lnSpc>
                <a:spcPct val="125000"/>
              </a:lnSpc>
              <a:defRPr/>
            </a:pPr>
            <a:r>
              <a:rPr lang="en-US" sz="3600" b="1" i="0" u="none" strike="noStrike" dirty="0" err="1">
                <a:solidFill>
                  <a:srgbClr val="FFD700"/>
                </a:solidFill>
                <a:latin typeface="华文新魏" panose="02010800040101010101" pitchFamily="2" charset="-122"/>
                <a:ea typeface="华文新魏" panose="02010800040101010101" pitchFamily="2" charset="-122"/>
                <a:cs typeface="Noto Sans SC"/>
                <a:sym typeface="Noto Sans SC"/>
              </a:rPr>
              <a:t>适应关系：生理功能的适应性（一</a:t>
            </a:r>
            <a:r>
              <a:rPr lang="en-US" sz="3600" b="1" i="0" u="none" strike="noStrike" dirty="0">
                <a:solidFill>
                  <a:srgbClr val="FFD700"/>
                </a:solidFill>
                <a:latin typeface="华文新魏" panose="02010800040101010101" pitchFamily="2" charset="-122"/>
                <a:ea typeface="华文新魏" panose="02010800040101010101" pitchFamily="2" charset="-122"/>
                <a:cs typeface="Noto Sans SC"/>
                <a:sym typeface="Noto Sans SC"/>
              </a:rPr>
              <a:t>）——</a:t>
            </a:r>
            <a:r>
              <a:rPr lang="en-US" sz="3600" b="1" i="0" u="none" strike="noStrike" dirty="0" err="1">
                <a:solidFill>
                  <a:srgbClr val="FFD700"/>
                </a:solidFill>
                <a:latin typeface="华文新魏" panose="02010800040101010101" pitchFamily="2" charset="-122"/>
                <a:ea typeface="华文新魏" panose="02010800040101010101" pitchFamily="2" charset="-122"/>
                <a:cs typeface="Noto Sans SC"/>
                <a:sym typeface="Noto Sans SC"/>
              </a:rPr>
              <a:t>鳃的呼吸</a:t>
            </a:r>
            <a:endParaRPr lang="en-US" sz="1100" dirty="0">
              <a:latin typeface="华文新魏" panose="02010800040101010101" pitchFamily="2" charset="-122"/>
              <a:ea typeface="华文新魏" panose="02010800040101010101" pitchFamily="2" charset="-122"/>
            </a:endParaRPr>
          </a:p>
        </p:txBody>
      </p:sp>
      <p:sp>
        <p:nvSpPr>
          <p:cNvPr id="3" name="AutoShape 3"/>
          <p:cNvSpPr/>
          <p:nvPr/>
        </p:nvSpPr>
        <p:spPr>
          <a:xfrm>
            <a:off x="762000" y="1219200"/>
            <a:ext cx="10668000" cy="25400"/>
          </a:xfrm>
          <a:prstGeom prst="roundRect">
            <a:avLst>
              <a:gd name="adj" fmla="val 0"/>
            </a:avLst>
          </a:prstGeom>
          <a:solidFill>
            <a:srgbClr val="FFD700">
              <a:alpha val="50000"/>
            </a:srgbClr>
          </a:solidFill>
          <a:ln w="25400" cap="flat" cmpd="sng">
            <a:noFill/>
            <a:prstDash val="solid"/>
            <a:round/>
          </a:ln>
        </p:spPr>
        <p:txBody>
          <a:bodyPr vert="horz" wrap="square" lIns="63500" tIns="63500" rIns="63500" bIns="63500" rtlCol="0" anchor="ctr"/>
          <a:lstStyle/>
          <a:p>
            <a:pPr algn="ctr">
              <a:defRPr/>
            </a:pPr>
            <a:endParaRPr/>
          </a:p>
        </p:txBody>
      </p:sp>
      <p:pic>
        <p:nvPicPr>
          <p:cNvPr id="4" name="Picture 4"/>
          <p:cNvPicPr>
            <a:picLocks noChangeAspect="1"/>
          </p:cNvPicPr>
          <p:nvPr/>
        </p:nvPicPr>
        <p:blipFill>
          <a:blip r:embed="rId3"/>
          <a:srcRect/>
          <a:stretch>
            <a:fillRect/>
          </a:stretch>
        </p:blipFill>
        <p:spPr>
          <a:xfrm>
            <a:off x="762000" y="1524000"/>
            <a:ext cx="4572000" cy="2565400"/>
          </a:xfrm>
          <a:prstGeom prst="roundRect">
            <a:avLst>
              <a:gd name="adj" fmla="val 4950"/>
            </a:avLst>
          </a:prstGeom>
          <a:noFill/>
          <a:ln w="12700" cap="flat" cmpd="sng">
            <a:solidFill>
              <a:srgbClr val="FFD700">
                <a:alpha val="100000"/>
              </a:srgbClr>
            </a:solidFill>
            <a:prstDash val="solid"/>
            <a:round/>
          </a:ln>
          <a:effectLst>
            <a:outerShdw blurRad="127000" dist="63500" dir="2700000" algn="tl" rotWithShape="0">
              <a:srgbClr val="000000">
                <a:alpha val="50000"/>
              </a:srgbClr>
            </a:outerShdw>
          </a:effectLst>
        </p:spPr>
      </p:pic>
      <p:sp>
        <p:nvSpPr>
          <p:cNvPr id="5" name="AutoShape 5"/>
          <p:cNvSpPr/>
          <p:nvPr/>
        </p:nvSpPr>
        <p:spPr>
          <a:xfrm>
            <a:off x="762000" y="4191000"/>
            <a:ext cx="4572000" cy="3048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600" b="0" i="0" u="none" strike="noStrike" dirty="0" err="1">
                <a:solidFill>
                  <a:srgbClr val="B0B0B0"/>
                </a:solidFill>
                <a:latin typeface="华文楷体" panose="02010600040101010101" pitchFamily="2" charset="-122"/>
                <a:ea typeface="华文楷体" panose="02010600040101010101" pitchFamily="2" charset="-122"/>
                <a:cs typeface="Noto Sans SC"/>
                <a:sym typeface="Noto Sans SC"/>
              </a:rPr>
              <a:t>图：鲫鱼鳃部结构及水流方向示意图</a:t>
            </a:r>
            <a:endParaRPr lang="en-US" dirty="0">
              <a:latin typeface="华文楷体" panose="02010600040101010101" pitchFamily="2" charset="-122"/>
              <a:ea typeface="华文楷体" panose="02010600040101010101" pitchFamily="2" charset="-122"/>
            </a:endParaRPr>
          </a:p>
        </p:txBody>
      </p:sp>
      <p:sp>
        <p:nvSpPr>
          <p:cNvPr id="6" name="AutoShape 6"/>
          <p:cNvSpPr/>
          <p:nvPr/>
        </p:nvSpPr>
        <p:spPr>
          <a:xfrm>
            <a:off x="5715000" y="1524000"/>
            <a:ext cx="5715000" cy="1651000"/>
          </a:xfrm>
          <a:prstGeom prst="roundRect">
            <a:avLst>
              <a:gd name="adj" fmla="val 7692"/>
            </a:avLst>
          </a:prstGeom>
          <a:solidFill>
            <a:srgbClr val="FFFFFF">
              <a:alpha val="8000"/>
            </a:srgbClr>
          </a:solidFill>
          <a:ln w="12700" cap="flat" cmpd="sng">
            <a:solidFill>
              <a:srgbClr val="FFD700">
                <a:alpha val="30000"/>
              </a:srgbClr>
            </a:solidFill>
            <a:prstDash val="solid"/>
            <a:round/>
          </a:ln>
        </p:spPr>
        <p:txBody>
          <a:bodyPr vert="horz" wrap="square" lIns="63500" tIns="63500" rIns="63500" bIns="63500" rtlCol="0" anchor="ctr"/>
          <a:lstStyle/>
          <a:p>
            <a:pPr algn="ctr">
              <a:defRPr/>
            </a:pPr>
            <a:endParaRPr/>
          </a:p>
        </p:txBody>
      </p:sp>
      <p:pic>
        <p:nvPicPr>
          <p:cNvPr id="7" name="Picture 7"/>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5905500" y="1714500"/>
            <a:ext cx="304800" cy="304800"/>
          </a:xfrm>
          <a:prstGeom prst="rect">
            <a:avLst/>
          </a:prstGeom>
        </p:spPr>
      </p:pic>
      <p:sp>
        <p:nvSpPr>
          <p:cNvPr id="8" name="AutoShape 8"/>
          <p:cNvSpPr/>
          <p:nvPr/>
        </p:nvSpPr>
        <p:spPr>
          <a:xfrm>
            <a:off x="6350000" y="1676400"/>
            <a:ext cx="4826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400" b="1" i="0" u="none" strike="noStrike" dirty="0" err="1">
                <a:solidFill>
                  <a:srgbClr val="FFD700"/>
                </a:solidFill>
                <a:latin typeface="华文楷体" panose="02010600040101010101" pitchFamily="2" charset="-122"/>
                <a:ea typeface="华文楷体" panose="02010600040101010101" pitchFamily="2" charset="-122"/>
                <a:cs typeface="Noto Sans SC"/>
                <a:sym typeface="Noto Sans SC"/>
              </a:rPr>
              <a:t>精巧的结构基础</a:t>
            </a:r>
            <a:endParaRPr lang="en-US" sz="1200" dirty="0">
              <a:latin typeface="华文楷体" panose="02010600040101010101" pitchFamily="2" charset="-122"/>
              <a:ea typeface="华文楷体" panose="02010600040101010101" pitchFamily="2" charset="-122"/>
            </a:endParaRPr>
          </a:p>
        </p:txBody>
      </p:sp>
      <p:sp>
        <p:nvSpPr>
          <p:cNvPr id="9" name="AutoShape 9"/>
          <p:cNvSpPr/>
          <p:nvPr/>
        </p:nvSpPr>
        <p:spPr>
          <a:xfrm>
            <a:off x="5905500" y="2095500"/>
            <a:ext cx="5334000" cy="952500"/>
          </a:xfrm>
          <a:prstGeom prst="rect">
            <a:avLst/>
          </a:prstGeom>
          <a:noFill/>
          <a:ln w="12700" cap="flat" cmpd="sng">
            <a:noFill/>
            <a:prstDash val="solid"/>
            <a:round/>
          </a:ln>
        </p:spPr>
        <p:txBody>
          <a:bodyPr vert="horz" wrap="square" lIns="0" tIns="0" rIns="0" bIns="0" rtlCol="0" anchor="ctr" anchorCtr="0"/>
          <a:lstStyle/>
          <a:p>
            <a:pPr indent="0" algn="l">
              <a:lnSpc>
                <a:spcPct val="108333"/>
              </a:lnSpc>
              <a:defRPr/>
            </a:pPr>
            <a:r>
              <a:rPr lang="en-US" sz="1800" b="0" i="0" u="none" strike="noStrike" dirty="0" err="1">
                <a:solidFill>
                  <a:srgbClr val="E6E6E6"/>
                </a:solidFill>
                <a:latin typeface="华文楷体" panose="02010600040101010101" pitchFamily="2" charset="-122"/>
                <a:ea typeface="华文楷体" panose="02010600040101010101" pitchFamily="2" charset="-122"/>
                <a:cs typeface="Noto Sans SC"/>
                <a:sym typeface="Noto Sans SC"/>
              </a:rPr>
              <a:t>鳃位于头部两侧的鳃盖下，核心由大量</a:t>
            </a:r>
            <a:r>
              <a:rPr lang="en-US" sz="1800" b="1" i="0" u="none" strike="noStrike" dirty="0" err="1">
                <a:solidFill>
                  <a:srgbClr val="FFD700"/>
                </a:solidFill>
                <a:latin typeface="华文楷体" panose="02010600040101010101" pitchFamily="2" charset="-122"/>
                <a:ea typeface="华文楷体" panose="02010600040101010101" pitchFamily="2" charset="-122"/>
                <a:cs typeface="Noto Sans SC"/>
                <a:sym typeface="Noto Sans SC"/>
              </a:rPr>
              <a:t>鳃丝</a:t>
            </a:r>
            <a:r>
              <a:rPr lang="en-US" sz="1800" b="0" i="0" u="none" strike="noStrike" dirty="0" err="1">
                <a:solidFill>
                  <a:srgbClr val="E6E6E6"/>
                </a:solidFill>
                <a:latin typeface="华文楷体" panose="02010600040101010101" pitchFamily="2" charset="-122"/>
                <a:ea typeface="华文楷体" panose="02010600040101010101" pitchFamily="2" charset="-122"/>
                <a:cs typeface="Noto Sans SC"/>
                <a:sym typeface="Noto Sans SC"/>
              </a:rPr>
              <a:t>组成。鳃丝上布满了细密的毛细血管，极大地增加了与水的接触面积，为高效呼吸提供了结构保障</a:t>
            </a:r>
            <a:r>
              <a:rPr lang="en-US" sz="1800" b="0" i="0" u="none" strike="noStrike" dirty="0">
                <a:solidFill>
                  <a:srgbClr val="E6E6E6"/>
                </a:solidFill>
                <a:latin typeface="华文楷体" panose="02010600040101010101" pitchFamily="2" charset="-122"/>
                <a:ea typeface="华文楷体" panose="02010600040101010101" pitchFamily="2" charset="-122"/>
                <a:cs typeface="Noto Sans SC"/>
                <a:sym typeface="Noto Sans SC"/>
              </a:rPr>
              <a:t>。</a:t>
            </a:r>
            <a:endParaRPr lang="en-US" dirty="0">
              <a:latin typeface="华文楷体" panose="02010600040101010101" pitchFamily="2" charset="-122"/>
              <a:ea typeface="华文楷体" panose="02010600040101010101" pitchFamily="2" charset="-122"/>
            </a:endParaRPr>
          </a:p>
        </p:txBody>
      </p:sp>
      <p:sp>
        <p:nvSpPr>
          <p:cNvPr id="10" name="AutoShape 10"/>
          <p:cNvSpPr/>
          <p:nvPr/>
        </p:nvSpPr>
        <p:spPr>
          <a:xfrm>
            <a:off x="5715000" y="3429000"/>
            <a:ext cx="5715000" cy="1778000"/>
          </a:xfrm>
          <a:prstGeom prst="roundRect">
            <a:avLst>
              <a:gd name="adj" fmla="val 7142"/>
            </a:avLst>
          </a:prstGeom>
          <a:solidFill>
            <a:srgbClr val="FFFFFF">
              <a:alpha val="8000"/>
            </a:srgbClr>
          </a:solidFill>
          <a:ln w="12700" cap="flat" cmpd="sng">
            <a:solidFill>
              <a:srgbClr val="FFD700">
                <a:alpha val="30000"/>
              </a:srgbClr>
            </a:solidFill>
            <a:prstDash val="solid"/>
            <a:round/>
          </a:ln>
        </p:spPr>
        <p:txBody>
          <a:bodyPr vert="horz" wrap="square" lIns="63500" tIns="63500" rIns="63500" bIns="63500" rtlCol="0" anchor="ctr"/>
          <a:lstStyle/>
          <a:p>
            <a:pPr algn="ctr">
              <a:defRPr/>
            </a:pPr>
            <a:endParaRPr/>
          </a:p>
        </p:txBody>
      </p:sp>
      <p:pic>
        <p:nvPicPr>
          <p:cNvPr id="11" name="Picture 11"/>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5905500" y="3619500"/>
            <a:ext cx="304800" cy="304800"/>
          </a:xfrm>
          <a:prstGeom prst="rect">
            <a:avLst/>
          </a:prstGeom>
        </p:spPr>
      </p:pic>
      <p:sp>
        <p:nvSpPr>
          <p:cNvPr id="12" name="AutoShape 12"/>
          <p:cNvSpPr/>
          <p:nvPr/>
        </p:nvSpPr>
        <p:spPr>
          <a:xfrm>
            <a:off x="6350000" y="3581400"/>
            <a:ext cx="4826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400" b="1" i="0" u="none" strike="noStrike" dirty="0" err="1">
                <a:solidFill>
                  <a:srgbClr val="FFD700"/>
                </a:solidFill>
                <a:latin typeface="华文楷体" panose="02010600040101010101" pitchFamily="2" charset="-122"/>
                <a:ea typeface="华文楷体" panose="02010600040101010101" pitchFamily="2" charset="-122"/>
                <a:cs typeface="Noto Sans SC"/>
                <a:sym typeface="Noto Sans SC"/>
              </a:rPr>
              <a:t>高效的气体交换</a:t>
            </a:r>
            <a:endParaRPr lang="en-US" sz="1200" dirty="0">
              <a:latin typeface="华文楷体" panose="02010600040101010101" pitchFamily="2" charset="-122"/>
              <a:ea typeface="华文楷体" panose="02010600040101010101" pitchFamily="2" charset="-122"/>
            </a:endParaRPr>
          </a:p>
        </p:txBody>
      </p:sp>
      <p:sp>
        <p:nvSpPr>
          <p:cNvPr id="13" name="AutoShape 13"/>
          <p:cNvSpPr/>
          <p:nvPr/>
        </p:nvSpPr>
        <p:spPr>
          <a:xfrm>
            <a:off x="5905500" y="4000500"/>
            <a:ext cx="5334000" cy="1079500"/>
          </a:xfrm>
          <a:prstGeom prst="rect">
            <a:avLst/>
          </a:prstGeom>
          <a:noFill/>
          <a:ln w="12700" cap="flat" cmpd="sng">
            <a:noFill/>
            <a:prstDash val="solid"/>
            <a:round/>
          </a:ln>
        </p:spPr>
        <p:txBody>
          <a:bodyPr vert="horz" wrap="square" lIns="0" tIns="0" rIns="0" bIns="0" rtlCol="0" anchor="ctr" anchorCtr="0"/>
          <a:lstStyle/>
          <a:p>
            <a:pPr>
              <a:lnSpc>
                <a:spcPct val="108333"/>
              </a:lnSpc>
              <a:defRPr/>
            </a:pPr>
            <a:r>
              <a:rPr lang="en-US" sz="1800" dirty="0">
                <a:solidFill>
                  <a:srgbClr val="E6E6E6"/>
                </a:solidFill>
                <a:latin typeface="华文楷体" panose="02010600040101010101" pitchFamily="2" charset="-122"/>
                <a:ea typeface="华文楷体" panose="02010600040101010101" pitchFamily="2" charset="-122"/>
                <a:sym typeface="Noto Sans SC"/>
              </a:rPr>
              <a:t>水流经鳃丝时，水中的溶解氧透过毛细血管壁进入血液，同时血液中的二氧化碳排出到水中。这种逆流交换机制保证了鲫鱼在水中能持续获得充足氧气。</a:t>
            </a:r>
            <a:endParaRPr lang="en-US" sz="1800" dirty="0">
              <a:solidFill>
                <a:srgbClr val="E6E6E6"/>
              </a:solidFill>
              <a:latin typeface="华文楷体" panose="02010600040101010101" pitchFamily="2" charset="-122"/>
              <a:ea typeface="华文楷体" panose="02010600040101010101" pitchFamily="2" charset="-122"/>
            </a:endParaRPr>
          </a:p>
        </p:txBody>
      </p:sp>
      <p:sp>
        <p:nvSpPr>
          <p:cNvPr id="14" name="AutoShape 14"/>
          <p:cNvSpPr/>
          <p:nvPr/>
        </p:nvSpPr>
        <p:spPr>
          <a:xfrm>
            <a:off x="762000" y="5461000"/>
            <a:ext cx="10668000" cy="762000"/>
          </a:xfrm>
          <a:prstGeom prst="roundRect">
            <a:avLst>
              <a:gd name="adj" fmla="val 16666"/>
            </a:avLst>
          </a:prstGeom>
          <a:solidFill>
            <a:srgbClr val="FFD700">
              <a:alpha val="15000"/>
            </a:srgbClr>
          </a:solidFill>
          <a:ln w="12700" cap="flat" cmpd="sng">
            <a:solidFill>
              <a:srgbClr val="FFD700">
                <a:alpha val="50000"/>
              </a:srgbClr>
            </a:solidFill>
            <a:prstDash val="dash"/>
            <a:round/>
          </a:ln>
        </p:spPr>
        <p:txBody>
          <a:bodyPr vert="horz" wrap="square" lIns="63500" tIns="63500" rIns="63500" bIns="63500" rtlCol="0" anchor="ctr"/>
          <a:lstStyle/>
          <a:p>
            <a:pPr algn="ctr">
              <a:defRPr/>
            </a:pPr>
            <a:endParaRPr/>
          </a:p>
        </p:txBody>
      </p:sp>
      <p:sp>
        <p:nvSpPr>
          <p:cNvPr id="15" name="AutoShape 15"/>
          <p:cNvSpPr/>
          <p:nvPr/>
        </p:nvSpPr>
        <p:spPr>
          <a:xfrm>
            <a:off x="1016000" y="5588000"/>
            <a:ext cx="10160000" cy="508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2000" b="1" dirty="0" err="1">
                <a:solidFill>
                  <a:srgbClr val="E6E6E6"/>
                </a:solidFill>
                <a:latin typeface="华文楷体" panose="02010600040101010101" pitchFamily="2" charset="-122"/>
                <a:ea typeface="华文楷体" panose="02010600040101010101" pitchFamily="2" charset="-122"/>
                <a:sym typeface="Noto Sans SC"/>
              </a:rPr>
              <a:t>核心结论：鳃的结构与功能高度统一，是鱼类适应水生生活的典型特征</a:t>
            </a:r>
            <a:r>
              <a:rPr lang="en-US" sz="2000" b="1" dirty="0">
                <a:solidFill>
                  <a:srgbClr val="E6E6E6"/>
                </a:solidFill>
                <a:latin typeface="华文楷体" panose="02010600040101010101" pitchFamily="2" charset="-122"/>
                <a:ea typeface="华文楷体" panose="02010600040101010101" pitchFamily="2" charset="-122"/>
                <a:sym typeface="Noto Sans SC"/>
              </a:rPr>
              <a:t>。</a:t>
            </a:r>
            <a:endParaRPr lang="en-US" sz="2000" b="1" dirty="0">
              <a:solidFill>
                <a:srgbClr val="E6E6E6"/>
              </a:solidFill>
              <a:latin typeface="华文楷体" panose="02010600040101010101" pitchFamily="2" charset="-122"/>
              <a:ea typeface="华文楷体" panose="02010600040101010101" pitchFamily="2" charset="-122"/>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gradFill rotWithShape="1">
          <a:gsLst>
            <a:gs pos="0">
              <a:srgbClr val="1A1A1A">
                <a:alpha val="100000"/>
              </a:srgbClr>
            </a:gs>
            <a:gs pos="100000">
              <a:srgbClr val="2D2D2D">
                <a:alpha val="100000"/>
              </a:srgbClr>
            </a:gs>
          </a:gsLst>
          <a:lin ang="2700000"/>
        </a:gradFill>
        <a:effectLst/>
      </p:bgPr>
    </p:bg>
    <p:spTree>
      <p:nvGrpSpPr>
        <p:cNvPr id="1" name=""/>
        <p:cNvGrpSpPr/>
        <p:nvPr/>
      </p:nvGrpSpPr>
      <p:grpSpPr>
        <a:xfrm>
          <a:off x="0" y="0"/>
          <a:ext cx="0" cy="0"/>
          <a:chOff x="0" y="0"/>
          <a:chExt cx="0" cy="0"/>
        </a:xfrm>
      </p:grpSpPr>
      <p:sp>
        <p:nvSpPr>
          <p:cNvPr id="2" name="AutoShape 2"/>
          <p:cNvSpPr/>
          <p:nvPr/>
        </p:nvSpPr>
        <p:spPr>
          <a:xfrm>
            <a:off x="762000" y="508000"/>
            <a:ext cx="10668000" cy="635000"/>
          </a:xfrm>
          <a:prstGeom prst="rect">
            <a:avLst/>
          </a:prstGeom>
          <a:noFill/>
          <a:ln w="12700" cap="flat" cmpd="sng">
            <a:noFill/>
            <a:prstDash val="solid"/>
            <a:round/>
          </a:ln>
        </p:spPr>
        <p:txBody>
          <a:bodyPr vert="horz" wrap="none" lIns="0" tIns="0" rIns="0" bIns="0" rtlCol="0" anchor="ctr" anchorCtr="0"/>
          <a:lstStyle/>
          <a:p>
            <a:pPr indent="0" algn="l">
              <a:lnSpc>
                <a:spcPct val="125000"/>
              </a:lnSpc>
              <a:defRPr/>
            </a:pPr>
            <a:r>
              <a:rPr lang="en-US" sz="3600" b="1" i="0" u="none" strike="noStrike" dirty="0" err="1">
                <a:solidFill>
                  <a:srgbClr val="FFD700"/>
                </a:solidFill>
                <a:latin typeface="华文新魏" panose="02010800040101010101" pitchFamily="2" charset="-122"/>
                <a:ea typeface="华文新魏" panose="02010800040101010101" pitchFamily="2" charset="-122"/>
                <a:cs typeface="Noto Sans SC"/>
                <a:sym typeface="Noto Sans SC"/>
              </a:rPr>
              <a:t>生理功能的适应性（二</a:t>
            </a:r>
            <a:r>
              <a:rPr lang="en-US" sz="3600" b="1" i="0" u="none" strike="noStrike" dirty="0">
                <a:solidFill>
                  <a:srgbClr val="FFD700"/>
                </a:solidFill>
                <a:latin typeface="华文新魏" panose="02010800040101010101" pitchFamily="2" charset="-122"/>
                <a:ea typeface="华文新魏" panose="02010800040101010101" pitchFamily="2" charset="-122"/>
                <a:cs typeface="Noto Sans SC"/>
                <a:sym typeface="Noto Sans SC"/>
              </a:rPr>
              <a:t>）：</a:t>
            </a:r>
            <a:r>
              <a:rPr lang="en-US" sz="3600" b="1" i="0" u="none" strike="noStrike" dirty="0" err="1">
                <a:solidFill>
                  <a:srgbClr val="FFD700"/>
                </a:solidFill>
                <a:latin typeface="华文新魏" panose="02010800040101010101" pitchFamily="2" charset="-122"/>
                <a:ea typeface="华文新魏" panose="02010800040101010101" pitchFamily="2" charset="-122"/>
                <a:cs typeface="Noto Sans SC"/>
                <a:sym typeface="Noto Sans SC"/>
              </a:rPr>
              <a:t>鱼鳔的浮力调节</a:t>
            </a:r>
            <a:endParaRPr lang="en-US" sz="1100" dirty="0">
              <a:latin typeface="华文新魏" panose="02010800040101010101" pitchFamily="2" charset="-122"/>
              <a:ea typeface="华文新魏" panose="02010800040101010101" pitchFamily="2" charset="-122"/>
            </a:endParaRPr>
          </a:p>
        </p:txBody>
      </p:sp>
      <p:sp>
        <p:nvSpPr>
          <p:cNvPr id="3" name="AutoShape 3"/>
          <p:cNvSpPr/>
          <p:nvPr/>
        </p:nvSpPr>
        <p:spPr>
          <a:xfrm>
            <a:off x="762000" y="1270000"/>
            <a:ext cx="10668000" cy="25400"/>
          </a:xfrm>
          <a:prstGeom prst="roundRect">
            <a:avLst>
              <a:gd name="adj" fmla="val 0"/>
            </a:avLst>
          </a:prstGeom>
          <a:solidFill>
            <a:srgbClr val="FFD700">
              <a:alpha val="50000"/>
            </a:srgbClr>
          </a:solidFill>
          <a:ln w="25400" cap="flat" cmpd="sng">
            <a:noFill/>
            <a:prstDash val="solid"/>
            <a:round/>
          </a:ln>
        </p:spPr>
        <p:txBody>
          <a:bodyPr vert="horz" wrap="square" lIns="63500" tIns="63500" rIns="63500" bIns="63500" rtlCol="0" anchor="ctr"/>
          <a:lstStyle/>
          <a:p>
            <a:pPr algn="ctr">
              <a:defRPr/>
            </a:pPr>
            <a:endParaRPr/>
          </a:p>
        </p:txBody>
      </p:sp>
      <p:sp>
        <p:nvSpPr>
          <p:cNvPr id="4" name="AutoShape 4"/>
          <p:cNvSpPr/>
          <p:nvPr/>
        </p:nvSpPr>
        <p:spPr>
          <a:xfrm>
            <a:off x="762000" y="1646781"/>
            <a:ext cx="5334000" cy="1397000"/>
          </a:xfrm>
          <a:prstGeom prst="roundRect">
            <a:avLst>
              <a:gd name="adj" fmla="val 9090"/>
            </a:avLst>
          </a:prstGeom>
          <a:solidFill>
            <a:srgbClr val="FFFFFF">
              <a:alpha val="8000"/>
            </a:srgbClr>
          </a:solidFill>
          <a:ln w="12700" cap="flat" cmpd="sng">
            <a:solidFill>
              <a:srgbClr val="FFD700">
                <a:alpha val="30000"/>
              </a:srgbClr>
            </a:solidFill>
            <a:prstDash val="solid"/>
            <a:round/>
          </a:ln>
        </p:spPr>
        <p:txBody>
          <a:bodyPr vert="horz" wrap="square" lIns="63500" tIns="63500" rIns="63500" bIns="63500" rtlCol="0" anchor="ctr"/>
          <a:lstStyle/>
          <a:p>
            <a:pPr algn="ctr">
              <a:defRPr/>
            </a:pPr>
            <a:endParaRPr/>
          </a:p>
        </p:txBody>
      </p:sp>
      <p:pic>
        <p:nvPicPr>
          <p:cNvPr id="5" name="Picture 5"/>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850301" y="2142081"/>
            <a:ext cx="406400" cy="406400"/>
          </a:xfrm>
          <a:prstGeom prst="rect">
            <a:avLst/>
          </a:prstGeom>
        </p:spPr>
      </p:pic>
      <p:sp>
        <p:nvSpPr>
          <p:cNvPr id="6" name="AutoShape 6"/>
          <p:cNvSpPr/>
          <p:nvPr/>
        </p:nvSpPr>
        <p:spPr>
          <a:xfrm>
            <a:off x="1358301" y="1763210"/>
            <a:ext cx="4318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400" b="1" i="0" u="none" strike="noStrike" dirty="0" err="1">
                <a:solidFill>
                  <a:srgbClr val="FFD700"/>
                </a:solidFill>
                <a:latin typeface="华文楷体" panose="02010600040101010101" pitchFamily="2" charset="-122"/>
                <a:ea typeface="华文楷体" panose="02010600040101010101" pitchFamily="2" charset="-122"/>
                <a:cs typeface="Noto Sans SC"/>
                <a:sym typeface="Noto Sans SC"/>
              </a:rPr>
              <a:t>结构特征</a:t>
            </a:r>
            <a:endParaRPr lang="en-US" sz="1200" dirty="0">
              <a:latin typeface="华文楷体" panose="02010600040101010101" pitchFamily="2" charset="-122"/>
              <a:ea typeface="华文楷体" panose="02010600040101010101" pitchFamily="2" charset="-122"/>
            </a:endParaRPr>
          </a:p>
        </p:txBody>
      </p:sp>
      <p:sp>
        <p:nvSpPr>
          <p:cNvPr id="7" name="AutoShape 7"/>
          <p:cNvSpPr/>
          <p:nvPr/>
        </p:nvSpPr>
        <p:spPr>
          <a:xfrm>
            <a:off x="1524000" y="2222500"/>
            <a:ext cx="4318000" cy="635000"/>
          </a:xfrm>
          <a:prstGeom prst="rect">
            <a:avLst/>
          </a:prstGeom>
          <a:noFill/>
          <a:ln w="12700" cap="flat" cmpd="sng">
            <a:noFill/>
            <a:prstDash val="solid"/>
            <a:round/>
          </a:ln>
        </p:spPr>
        <p:txBody>
          <a:bodyPr vert="horz" wrap="square" lIns="0" tIns="0" rIns="0" bIns="0" rtlCol="0" anchor="ctr" anchorCtr="0"/>
          <a:lstStyle/>
          <a:p>
            <a:pPr indent="0">
              <a:lnSpc>
                <a:spcPct val="125000"/>
              </a:lnSpc>
              <a:defRPr/>
            </a:pPr>
            <a:r>
              <a:rPr lang="en-US" sz="1600" dirty="0" err="1">
                <a:solidFill>
                  <a:srgbClr val="DCDCDC"/>
                </a:solidFill>
                <a:latin typeface="华文楷体" panose="02010600040101010101" pitchFamily="2" charset="-122"/>
                <a:ea typeface="华文楷体" panose="02010600040101010101" pitchFamily="2" charset="-122"/>
                <a:sym typeface="Noto Sans SC"/>
              </a:rPr>
              <a:t>鱼鳔是位于鱼体腹腔内的一个气囊，是鲫鱼控制浮力的核心器官</a:t>
            </a:r>
            <a:r>
              <a:rPr lang="en-US" sz="1600" dirty="0">
                <a:solidFill>
                  <a:srgbClr val="DCDCDC"/>
                </a:solidFill>
                <a:latin typeface="华文楷体" panose="02010600040101010101" pitchFamily="2" charset="-122"/>
                <a:ea typeface="华文楷体" panose="02010600040101010101" pitchFamily="2" charset="-122"/>
                <a:sym typeface="Noto Sans SC"/>
              </a:rPr>
              <a:t>。</a:t>
            </a:r>
            <a:endParaRPr lang="en-US" sz="1600" dirty="0">
              <a:solidFill>
                <a:srgbClr val="DCDCDC"/>
              </a:solidFill>
              <a:latin typeface="华文楷体" panose="02010600040101010101" pitchFamily="2" charset="-122"/>
              <a:ea typeface="华文楷体" panose="02010600040101010101" pitchFamily="2" charset="-122"/>
            </a:endParaRPr>
          </a:p>
        </p:txBody>
      </p:sp>
      <p:sp>
        <p:nvSpPr>
          <p:cNvPr id="8" name="AutoShape 8"/>
          <p:cNvSpPr/>
          <p:nvPr/>
        </p:nvSpPr>
        <p:spPr>
          <a:xfrm>
            <a:off x="762000" y="3302000"/>
            <a:ext cx="5334000" cy="2032000"/>
          </a:xfrm>
          <a:prstGeom prst="roundRect">
            <a:avLst>
              <a:gd name="adj" fmla="val 6250"/>
            </a:avLst>
          </a:prstGeom>
          <a:solidFill>
            <a:srgbClr val="FFFFFF">
              <a:alpha val="8000"/>
            </a:srgbClr>
          </a:solidFill>
          <a:ln w="12700" cap="flat" cmpd="sng">
            <a:solidFill>
              <a:srgbClr val="FFD700">
                <a:alpha val="30000"/>
              </a:srgbClr>
            </a:solidFill>
            <a:prstDash val="solid"/>
            <a:round/>
          </a:ln>
        </p:spPr>
        <p:txBody>
          <a:bodyPr vert="horz" wrap="square" lIns="63500" tIns="63500" rIns="63500" bIns="63500" rtlCol="0" anchor="ctr"/>
          <a:lstStyle/>
          <a:p>
            <a:pPr algn="ctr">
              <a:defRPr/>
            </a:pPr>
            <a:endParaRPr/>
          </a:p>
        </p:txBody>
      </p:sp>
      <p:pic>
        <p:nvPicPr>
          <p:cNvPr id="9" name="Picture 9"/>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850301" y="4114800"/>
            <a:ext cx="406400" cy="406400"/>
          </a:xfrm>
          <a:prstGeom prst="rect">
            <a:avLst/>
          </a:prstGeom>
        </p:spPr>
      </p:pic>
      <p:sp>
        <p:nvSpPr>
          <p:cNvPr id="10" name="AutoShape 10"/>
          <p:cNvSpPr/>
          <p:nvPr/>
        </p:nvSpPr>
        <p:spPr>
          <a:xfrm>
            <a:off x="1358301" y="3414210"/>
            <a:ext cx="4318000" cy="381000"/>
          </a:xfrm>
          <a:prstGeom prst="rect">
            <a:avLst/>
          </a:prstGeom>
          <a:noFill/>
          <a:ln w="12700" cap="flat" cmpd="sng">
            <a:noFill/>
            <a:prstDash val="solid"/>
            <a:round/>
          </a:ln>
        </p:spPr>
        <p:txBody>
          <a:bodyPr vert="horz" wrap="square" lIns="0" tIns="0" rIns="0" bIns="0" rtlCol="0" anchor="ctr" anchorCtr="0"/>
          <a:lstStyle/>
          <a:p>
            <a:pPr>
              <a:lnSpc>
                <a:spcPct val="125000"/>
              </a:lnSpc>
              <a:defRPr/>
            </a:pPr>
            <a:r>
              <a:rPr lang="en-US" sz="2400" b="1" dirty="0" err="1">
                <a:solidFill>
                  <a:srgbClr val="FFD700"/>
                </a:solidFill>
                <a:latin typeface="华文楷体" panose="02010600040101010101" pitchFamily="2" charset="-122"/>
                <a:ea typeface="华文楷体" panose="02010600040101010101" pitchFamily="2" charset="-122"/>
                <a:sym typeface="Noto Sans SC"/>
              </a:rPr>
              <a:t>浮力调节机制</a:t>
            </a:r>
            <a:endParaRPr lang="en-US" sz="2400" b="1" dirty="0">
              <a:solidFill>
                <a:srgbClr val="FFD700"/>
              </a:solidFill>
              <a:latin typeface="华文楷体" panose="02010600040101010101" pitchFamily="2" charset="-122"/>
              <a:ea typeface="华文楷体" panose="02010600040101010101" pitchFamily="2" charset="-122"/>
            </a:endParaRPr>
          </a:p>
        </p:txBody>
      </p:sp>
      <p:sp>
        <p:nvSpPr>
          <p:cNvPr id="11" name="AutoShape 11"/>
          <p:cNvSpPr/>
          <p:nvPr/>
        </p:nvSpPr>
        <p:spPr>
          <a:xfrm>
            <a:off x="1524000" y="3873500"/>
            <a:ext cx="4318000" cy="1270000"/>
          </a:xfrm>
          <a:prstGeom prst="rect">
            <a:avLst/>
          </a:prstGeom>
          <a:noFill/>
          <a:ln w="12700" cap="flat" cmpd="sng">
            <a:noFill/>
            <a:prstDash val="solid"/>
            <a:round/>
          </a:ln>
        </p:spPr>
        <p:txBody>
          <a:bodyPr vert="horz" wrap="square" lIns="0" tIns="0" rIns="0" bIns="0" rtlCol="0" anchor="ctr" anchorCtr="0"/>
          <a:lstStyle/>
          <a:p>
            <a:pPr>
              <a:lnSpc>
                <a:spcPct val="125000"/>
              </a:lnSpc>
              <a:defRPr/>
            </a:pPr>
            <a:r>
              <a:rPr lang="en-US" sz="1600" b="0" i="0" u="none" strike="noStrike" dirty="0">
                <a:solidFill>
                  <a:srgbClr val="DCDCDC"/>
                </a:solidFill>
                <a:latin typeface="华文楷体" panose="02010600040101010101" pitchFamily="2" charset="-122"/>
                <a:ea typeface="华文楷体" panose="02010600040101010101" pitchFamily="2" charset="-122"/>
                <a:cs typeface="Noto Sans SC"/>
                <a:sym typeface="Noto Sans SC"/>
              </a:rPr>
              <a:t>•</a:t>
            </a:r>
            <a:r>
              <a:rPr lang="en-US" sz="1600" b="1" dirty="0" err="1">
                <a:solidFill>
                  <a:srgbClr val="FFFFFF"/>
                </a:solidFill>
                <a:latin typeface="华文楷体" panose="02010600040101010101" pitchFamily="2" charset="-122"/>
                <a:ea typeface="华文楷体" panose="02010600040101010101" pitchFamily="2" charset="-122"/>
                <a:sym typeface="Noto Sans SC"/>
              </a:rPr>
              <a:t>充气上浮：鱼鳔充气</a:t>
            </a:r>
            <a:r>
              <a:rPr lang="en-US" sz="1600" b="1" dirty="0">
                <a:solidFill>
                  <a:srgbClr val="FFFFFF"/>
                </a:solidFill>
                <a:latin typeface="华文楷体" panose="02010600040101010101" pitchFamily="2" charset="-122"/>
                <a:ea typeface="华文楷体" panose="02010600040101010101" pitchFamily="2" charset="-122"/>
                <a:sym typeface="Noto Sans SC"/>
              </a:rPr>
              <a:t> → </a:t>
            </a:r>
            <a:r>
              <a:rPr lang="en-US" sz="1600" b="1" dirty="0" err="1">
                <a:solidFill>
                  <a:srgbClr val="FFFFFF"/>
                </a:solidFill>
                <a:latin typeface="华文楷体" panose="02010600040101010101" pitchFamily="2" charset="-122"/>
                <a:ea typeface="华文楷体" panose="02010600040101010101" pitchFamily="2" charset="-122"/>
                <a:sym typeface="Noto Sans SC"/>
              </a:rPr>
              <a:t>鱼体密度减小</a:t>
            </a:r>
            <a:r>
              <a:rPr lang="en-US" sz="1600" b="1" dirty="0">
                <a:solidFill>
                  <a:srgbClr val="FFFFFF"/>
                </a:solidFill>
                <a:latin typeface="华文楷体" panose="02010600040101010101" pitchFamily="2" charset="-122"/>
                <a:ea typeface="华文楷体" panose="02010600040101010101" pitchFamily="2" charset="-122"/>
                <a:sym typeface="Noto Sans SC"/>
              </a:rPr>
              <a:t> → </a:t>
            </a:r>
            <a:r>
              <a:rPr lang="en-US" sz="1600" b="1" dirty="0" err="1">
                <a:solidFill>
                  <a:srgbClr val="FFFFFF"/>
                </a:solidFill>
                <a:latin typeface="华文楷体" panose="02010600040101010101" pitchFamily="2" charset="-122"/>
                <a:ea typeface="华文楷体" panose="02010600040101010101" pitchFamily="2" charset="-122"/>
                <a:sym typeface="Noto Sans SC"/>
              </a:rPr>
              <a:t>浮力增大</a:t>
            </a:r>
            <a:r>
              <a:rPr lang="en-US" sz="1600" b="1" dirty="0">
                <a:solidFill>
                  <a:srgbClr val="FFFFFF"/>
                </a:solidFill>
                <a:latin typeface="华文楷体" panose="02010600040101010101" pitchFamily="2" charset="-122"/>
                <a:ea typeface="华文楷体" panose="02010600040101010101" pitchFamily="2" charset="-122"/>
                <a:sym typeface="Noto Sans SC"/>
              </a:rPr>
              <a:t> → </a:t>
            </a:r>
            <a:r>
              <a:rPr lang="en-US" sz="1600" b="1" dirty="0" err="1">
                <a:solidFill>
                  <a:srgbClr val="FFFFFF"/>
                </a:solidFill>
                <a:latin typeface="华文楷体" panose="02010600040101010101" pitchFamily="2" charset="-122"/>
                <a:ea typeface="华文楷体" panose="02010600040101010101" pitchFamily="2" charset="-122"/>
                <a:sym typeface="Noto Sans SC"/>
              </a:rPr>
              <a:t>上浮</a:t>
            </a:r>
            <a:endParaRPr lang="en-US" sz="1600" b="1" dirty="0">
              <a:solidFill>
                <a:srgbClr val="FFFFFF"/>
              </a:solidFill>
              <a:latin typeface="华文楷体" panose="02010600040101010101" pitchFamily="2" charset="-122"/>
              <a:ea typeface="华文楷体" panose="02010600040101010101" pitchFamily="2" charset="-122"/>
            </a:endParaRPr>
          </a:p>
          <a:p>
            <a:pPr>
              <a:lnSpc>
                <a:spcPct val="125000"/>
              </a:lnSpc>
              <a:defRPr/>
            </a:pPr>
            <a:r>
              <a:rPr lang="en-US" sz="1600" b="1" dirty="0">
                <a:solidFill>
                  <a:srgbClr val="FFFFFF"/>
                </a:solidFill>
                <a:latin typeface="华文楷体" panose="02010600040101010101" pitchFamily="2" charset="-122"/>
                <a:ea typeface="华文楷体" panose="02010600040101010101" pitchFamily="2" charset="-122"/>
                <a:sym typeface="Noto Sans SC"/>
              </a:rPr>
              <a:t>•</a:t>
            </a:r>
            <a:r>
              <a:rPr lang="en-US" sz="1600" b="1" dirty="0" err="1">
                <a:solidFill>
                  <a:srgbClr val="FFFFFF"/>
                </a:solidFill>
                <a:latin typeface="华文楷体" panose="02010600040101010101" pitchFamily="2" charset="-122"/>
                <a:ea typeface="华文楷体" panose="02010600040101010101" pitchFamily="2" charset="-122"/>
                <a:sym typeface="Noto Sans SC"/>
              </a:rPr>
              <a:t>放气下沉：鱼鳔放气</a:t>
            </a:r>
            <a:r>
              <a:rPr lang="en-US" sz="1600" b="1" dirty="0">
                <a:solidFill>
                  <a:srgbClr val="FFFFFF"/>
                </a:solidFill>
                <a:latin typeface="华文楷体" panose="02010600040101010101" pitchFamily="2" charset="-122"/>
                <a:ea typeface="华文楷体" panose="02010600040101010101" pitchFamily="2" charset="-122"/>
                <a:sym typeface="Noto Sans SC"/>
              </a:rPr>
              <a:t> → </a:t>
            </a:r>
            <a:r>
              <a:rPr lang="en-US" sz="1600" b="1" dirty="0" err="1">
                <a:solidFill>
                  <a:srgbClr val="FFFFFF"/>
                </a:solidFill>
                <a:latin typeface="华文楷体" panose="02010600040101010101" pitchFamily="2" charset="-122"/>
                <a:ea typeface="华文楷体" panose="02010600040101010101" pitchFamily="2" charset="-122"/>
                <a:sym typeface="Noto Sans SC"/>
              </a:rPr>
              <a:t>鱼体密度增大</a:t>
            </a:r>
            <a:r>
              <a:rPr lang="en-US" sz="1600" b="1" dirty="0">
                <a:solidFill>
                  <a:srgbClr val="FFFFFF"/>
                </a:solidFill>
                <a:latin typeface="华文楷体" panose="02010600040101010101" pitchFamily="2" charset="-122"/>
                <a:ea typeface="华文楷体" panose="02010600040101010101" pitchFamily="2" charset="-122"/>
                <a:sym typeface="Noto Sans SC"/>
              </a:rPr>
              <a:t> → </a:t>
            </a:r>
            <a:r>
              <a:rPr lang="en-US" sz="1600" b="1" dirty="0" err="1">
                <a:solidFill>
                  <a:srgbClr val="FFFFFF"/>
                </a:solidFill>
                <a:latin typeface="华文楷体" panose="02010600040101010101" pitchFamily="2" charset="-122"/>
                <a:ea typeface="华文楷体" panose="02010600040101010101" pitchFamily="2" charset="-122"/>
                <a:sym typeface="Noto Sans SC"/>
              </a:rPr>
              <a:t>浮力减小</a:t>
            </a:r>
            <a:r>
              <a:rPr lang="en-US" sz="1600" b="1" dirty="0">
                <a:solidFill>
                  <a:srgbClr val="FFFFFF"/>
                </a:solidFill>
                <a:latin typeface="华文楷体" panose="02010600040101010101" pitchFamily="2" charset="-122"/>
                <a:ea typeface="华文楷体" panose="02010600040101010101" pitchFamily="2" charset="-122"/>
                <a:sym typeface="Noto Sans SC"/>
              </a:rPr>
              <a:t> → </a:t>
            </a:r>
            <a:r>
              <a:rPr lang="en-US" sz="1600" b="1" dirty="0" err="1">
                <a:solidFill>
                  <a:srgbClr val="FFFFFF"/>
                </a:solidFill>
                <a:latin typeface="华文楷体" panose="02010600040101010101" pitchFamily="2" charset="-122"/>
                <a:ea typeface="华文楷体" panose="02010600040101010101" pitchFamily="2" charset="-122"/>
                <a:sym typeface="Noto Sans SC"/>
              </a:rPr>
              <a:t>下沉</a:t>
            </a:r>
            <a:endParaRPr lang="en-US" sz="1600" b="1" dirty="0">
              <a:solidFill>
                <a:srgbClr val="FFFFFF"/>
              </a:solidFill>
              <a:latin typeface="华文楷体" panose="02010600040101010101" pitchFamily="2" charset="-122"/>
              <a:ea typeface="华文楷体" panose="02010600040101010101" pitchFamily="2" charset="-122"/>
              <a:sym typeface="Noto Sans SC"/>
            </a:endParaRPr>
          </a:p>
          <a:p>
            <a:pPr>
              <a:lnSpc>
                <a:spcPct val="125000"/>
              </a:lnSpc>
              <a:defRPr/>
            </a:pPr>
            <a:r>
              <a:rPr lang="en-US" sz="1600" b="1" dirty="0" err="1">
                <a:solidFill>
                  <a:srgbClr val="FFFFFF"/>
                </a:solidFill>
                <a:latin typeface="华文楷体" panose="02010600040101010101" pitchFamily="2" charset="-122"/>
                <a:ea typeface="华文楷体" panose="02010600040101010101" pitchFamily="2" charset="-122"/>
                <a:sym typeface="Noto Sans SC"/>
              </a:rPr>
              <a:t>这使鲫鱼能轻松在不同水层穿梭，节省能量</a:t>
            </a:r>
            <a:r>
              <a:rPr lang="en-US" sz="1600" b="1" dirty="0">
                <a:solidFill>
                  <a:srgbClr val="FFFFFF"/>
                </a:solidFill>
                <a:latin typeface="华文楷体" panose="02010600040101010101" pitchFamily="2" charset="-122"/>
                <a:ea typeface="华文楷体" panose="02010600040101010101" pitchFamily="2" charset="-122"/>
                <a:sym typeface="Noto Sans SC"/>
              </a:rPr>
              <a:t>。</a:t>
            </a:r>
          </a:p>
        </p:txBody>
      </p:sp>
      <p:pic>
        <p:nvPicPr>
          <p:cNvPr id="12" name="Picture 12"/>
          <p:cNvPicPr>
            <a:picLocks noChangeAspect="1"/>
          </p:cNvPicPr>
          <p:nvPr/>
        </p:nvPicPr>
        <p:blipFill>
          <a:blip r:embed="rId7"/>
          <a:srcRect t="85" b="85"/>
          <a:stretch>
            <a:fillRect/>
          </a:stretch>
        </p:blipFill>
        <p:spPr>
          <a:xfrm>
            <a:off x="6477000" y="1651000"/>
            <a:ext cx="4953000" cy="2781300"/>
          </a:xfrm>
          <a:prstGeom prst="roundRect">
            <a:avLst>
              <a:gd name="adj" fmla="val 4566"/>
            </a:avLst>
          </a:prstGeom>
          <a:noFill/>
          <a:ln w="12700" cap="flat" cmpd="sng">
            <a:solidFill>
              <a:srgbClr val="FFD700">
                <a:alpha val="50000"/>
              </a:srgbClr>
            </a:solidFill>
            <a:prstDash val="solid"/>
            <a:round/>
          </a:ln>
          <a:effectLst>
            <a:outerShdw blurRad="127000" dist="63500" dir="2700000" algn="tl" rotWithShape="0">
              <a:srgbClr val="000000">
                <a:alpha val="50000"/>
              </a:srgbClr>
            </a:outerShdw>
          </a:effectLst>
        </p:spPr>
      </p:pic>
      <p:sp>
        <p:nvSpPr>
          <p:cNvPr id="13" name="AutoShape 13"/>
          <p:cNvSpPr/>
          <p:nvPr/>
        </p:nvSpPr>
        <p:spPr>
          <a:xfrm>
            <a:off x="6477000" y="4572000"/>
            <a:ext cx="4953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200" b="0" i="0" u="none" strike="noStrike">
                <a:solidFill>
                  <a:srgbClr val="B0B0B0"/>
                </a:solidFill>
                <a:latin typeface="Noto Sans SC"/>
                <a:ea typeface="Noto Sans SC"/>
                <a:cs typeface="Noto Sans SC"/>
                <a:sym typeface="Noto Sans SC"/>
              </a:rPr>
              <a:t>图：鱼鳔结构与气体调节状态示意图</a:t>
            </a:r>
            <a:endParaRPr lang="en-US" sz="1100"/>
          </a:p>
        </p:txBody>
      </p:sp>
      <p:sp>
        <p:nvSpPr>
          <p:cNvPr id="14" name="AutoShape 14"/>
          <p:cNvSpPr/>
          <p:nvPr/>
        </p:nvSpPr>
        <p:spPr>
          <a:xfrm>
            <a:off x="762000" y="5588000"/>
            <a:ext cx="10668000" cy="762000"/>
          </a:xfrm>
          <a:prstGeom prst="roundRect">
            <a:avLst>
              <a:gd name="adj" fmla="val 16666"/>
            </a:avLst>
          </a:prstGeom>
          <a:solidFill>
            <a:srgbClr val="FFD700">
              <a:alpha val="10000"/>
            </a:srgbClr>
          </a:solidFill>
          <a:ln w="25400" cap="flat" cmpd="sng">
            <a:noFill/>
            <a:prstDash val="solid"/>
            <a:round/>
          </a:ln>
        </p:spPr>
        <p:txBody>
          <a:bodyPr vert="horz" wrap="square" lIns="63500" tIns="63500" rIns="63500" bIns="63500" rtlCol="0" anchor="ctr"/>
          <a:lstStyle/>
          <a:p>
            <a:pPr algn="ctr">
              <a:defRPr/>
            </a:pPr>
            <a:endParaRPr/>
          </a:p>
        </p:txBody>
      </p:sp>
      <p:pic>
        <p:nvPicPr>
          <p:cNvPr id="15" name="Picture 15"/>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1016000" y="5816600"/>
            <a:ext cx="304800" cy="304800"/>
          </a:xfrm>
          <a:prstGeom prst="rect">
            <a:avLst/>
          </a:prstGeom>
        </p:spPr>
      </p:pic>
      <p:sp>
        <p:nvSpPr>
          <p:cNvPr id="16" name="AutoShape 16"/>
          <p:cNvSpPr/>
          <p:nvPr/>
        </p:nvSpPr>
        <p:spPr>
          <a:xfrm>
            <a:off x="1460500" y="5715000"/>
            <a:ext cx="9779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dirty="0" err="1">
                <a:solidFill>
                  <a:srgbClr val="FFFFFF"/>
                </a:solidFill>
                <a:latin typeface="华文楷体" panose="02010600040101010101" pitchFamily="2" charset="-122"/>
                <a:ea typeface="华文楷体" panose="02010600040101010101" pitchFamily="2" charset="-122"/>
                <a:cs typeface="Noto Sans SC"/>
                <a:sym typeface="Noto Sans SC"/>
              </a:rPr>
              <a:t>核心总结：</a:t>
            </a:r>
            <a:r>
              <a:rPr lang="en-US" sz="1800" b="0" i="0" u="none" strike="noStrike" dirty="0" err="1">
                <a:solidFill>
                  <a:srgbClr val="DCDCDC"/>
                </a:solidFill>
                <a:latin typeface="华文楷体" panose="02010600040101010101" pitchFamily="2" charset="-122"/>
                <a:ea typeface="华文楷体" panose="02010600040101010101" pitchFamily="2" charset="-122"/>
                <a:cs typeface="Noto Sans SC"/>
                <a:sym typeface="Noto Sans SC"/>
              </a:rPr>
              <a:t>鱼鳔通过改变自身气体体积调节整体密度，是生物适应水生环境的精妙进化</a:t>
            </a:r>
            <a:r>
              <a:rPr lang="en-US" sz="1800" b="0" i="0" u="none" strike="noStrike" dirty="0">
                <a:solidFill>
                  <a:srgbClr val="DCDCDC"/>
                </a:solidFill>
                <a:latin typeface="华文楷体" panose="02010600040101010101" pitchFamily="2" charset="-122"/>
                <a:ea typeface="华文楷体" panose="02010600040101010101" pitchFamily="2" charset="-122"/>
                <a:cs typeface="Noto Sans SC"/>
                <a:sym typeface="Noto Sans SC"/>
              </a:rPr>
              <a:t>。</a:t>
            </a:r>
            <a:endParaRPr lang="en-US" sz="1200" dirty="0">
              <a:latin typeface="华文楷体" panose="02010600040101010101" pitchFamily="2" charset="-122"/>
              <a:ea typeface="华文楷体" panose="02010600040101010101" pitchFamily="2" charset="-122"/>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161B22">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508000"/>
            <a:ext cx="7048500" cy="584200"/>
          </a:xfrm>
          <a:prstGeom prst="rect">
            <a:avLst/>
          </a:prstGeom>
          <a:noFill/>
          <a:ln w="12700" cap="flat" cmpd="sng">
            <a:noFill/>
            <a:prstDash val="solid"/>
            <a:round/>
          </a:ln>
        </p:spPr>
        <p:txBody>
          <a:bodyPr vert="horz" wrap="none" lIns="0" tIns="0" rIns="0" bIns="0" rtlCol="0" anchor="ctr" anchorCtr="0"/>
          <a:lstStyle/>
          <a:p>
            <a:pPr indent="0" algn="l">
              <a:lnSpc>
                <a:spcPct val="125000"/>
              </a:lnSpc>
              <a:defRPr/>
            </a:pPr>
            <a:r>
              <a:rPr lang="en-US" sz="3600" b="1" i="0" u="none" strike="noStrike" dirty="0" err="1">
                <a:solidFill>
                  <a:srgbClr val="FFD700"/>
                </a:solidFill>
                <a:latin typeface="华文新魏" panose="02010800040101010101" pitchFamily="2" charset="-122"/>
                <a:ea typeface="华文新魏" panose="02010800040101010101" pitchFamily="2" charset="-122"/>
                <a:cs typeface="Noto Sans SC"/>
                <a:sym typeface="Noto Sans SC"/>
              </a:rPr>
              <a:t>适应关系：行为的适应性</a:t>
            </a:r>
            <a:endParaRPr lang="en-US" sz="1100" dirty="0">
              <a:latin typeface="华文新魏" panose="02010800040101010101" pitchFamily="2" charset="-122"/>
              <a:ea typeface="华文新魏" panose="02010800040101010101" pitchFamily="2" charset="-122"/>
            </a:endParaRPr>
          </a:p>
        </p:txBody>
      </p:sp>
      <p:pic>
        <p:nvPicPr>
          <p:cNvPr id="3" name="Picture 3"/>
          <p:cNvPicPr>
            <a:picLocks noChangeAspect="1"/>
          </p:cNvPicPr>
          <p:nvPr/>
        </p:nvPicPr>
        <p:blipFill>
          <a:blip r:embed="rId3"/>
          <a:srcRect t="65" b="65"/>
          <a:stretch>
            <a:fillRect/>
          </a:stretch>
        </p:blipFill>
        <p:spPr>
          <a:xfrm>
            <a:off x="762000" y="1397000"/>
            <a:ext cx="4318000" cy="2425700"/>
          </a:xfrm>
          <a:prstGeom prst="roundRect">
            <a:avLst>
              <a:gd name="adj" fmla="val 5235"/>
            </a:avLst>
          </a:prstGeom>
          <a:noFill/>
          <a:ln w="25400" cap="flat" cmpd="sng">
            <a:noFill/>
            <a:prstDash val="solid"/>
            <a:round/>
          </a:ln>
          <a:effectLst>
            <a:outerShdw blurRad="127000" dist="63500" dir="2700000" algn="tl" rotWithShape="0">
              <a:srgbClr val="000000">
                <a:alpha val="50000"/>
              </a:srgbClr>
            </a:outerShdw>
          </a:effectLst>
        </p:spPr>
      </p:pic>
      <p:pic>
        <p:nvPicPr>
          <p:cNvPr id="4" name="Picture 4"/>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5461000" y="1435100"/>
            <a:ext cx="304800" cy="304800"/>
          </a:xfrm>
          <a:prstGeom prst="rect">
            <a:avLst/>
          </a:prstGeom>
        </p:spPr>
      </p:pic>
      <p:sp>
        <p:nvSpPr>
          <p:cNvPr id="5" name="AutoShape 5"/>
          <p:cNvSpPr/>
          <p:nvPr/>
        </p:nvSpPr>
        <p:spPr>
          <a:xfrm>
            <a:off x="5842000" y="1397000"/>
            <a:ext cx="5588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dirty="0" err="1">
                <a:solidFill>
                  <a:srgbClr val="FFFFFF"/>
                </a:solidFill>
                <a:latin typeface="华文楷体" panose="02010600040101010101" pitchFamily="2" charset="-122"/>
                <a:ea typeface="华文楷体" panose="02010600040101010101" pitchFamily="2" charset="-122"/>
                <a:cs typeface="Noto Sans SC"/>
                <a:sym typeface="Noto Sans SC"/>
              </a:rPr>
              <a:t>集群行为：效率与安全的双赢</a:t>
            </a:r>
            <a:endParaRPr lang="en-US" sz="1200" dirty="0">
              <a:latin typeface="华文楷体" panose="02010600040101010101" pitchFamily="2" charset="-122"/>
              <a:ea typeface="华文楷体" panose="02010600040101010101" pitchFamily="2" charset="-122"/>
            </a:endParaRPr>
          </a:p>
        </p:txBody>
      </p:sp>
      <p:sp>
        <p:nvSpPr>
          <p:cNvPr id="6" name="AutoShape 6"/>
          <p:cNvSpPr/>
          <p:nvPr/>
        </p:nvSpPr>
        <p:spPr>
          <a:xfrm>
            <a:off x="5461000" y="1841500"/>
            <a:ext cx="5969000" cy="762000"/>
          </a:xfrm>
          <a:prstGeom prst="rect">
            <a:avLst/>
          </a:prstGeom>
          <a:noFill/>
          <a:ln w="12700" cap="flat" cmpd="sng">
            <a:noFill/>
            <a:prstDash val="solid"/>
            <a:round/>
          </a:ln>
        </p:spPr>
        <p:txBody>
          <a:bodyPr vert="horz" wrap="square" lIns="0" tIns="0" rIns="0" bIns="0" rtlCol="0" anchor="ctr" anchorCtr="0"/>
          <a:lstStyle/>
          <a:p>
            <a:pPr indent="0" algn="l">
              <a:lnSpc>
                <a:spcPct val="108333"/>
              </a:lnSpc>
              <a:defRPr/>
            </a:pPr>
            <a:r>
              <a:rPr lang="en-US" sz="1800" b="0" i="0" u="none" strike="noStrike" dirty="0" err="1">
                <a:solidFill>
                  <a:srgbClr val="B0B0B0"/>
                </a:solidFill>
                <a:latin typeface="华文楷体" panose="02010600040101010101" pitchFamily="2" charset="-122"/>
                <a:ea typeface="华文楷体" panose="02010600040101010101" pitchFamily="2" charset="-122"/>
                <a:cs typeface="Noto Sans SC"/>
                <a:sym typeface="Noto Sans SC"/>
              </a:rPr>
              <a:t>鲫鱼喜欢成群活动，不仅能提高觅食效率，还能通过群体效应迷惑天敌，显著降低个体被捕食的风险</a:t>
            </a:r>
            <a:r>
              <a:rPr lang="en-US" sz="1800" b="0" i="0" u="none" strike="noStrike" dirty="0">
                <a:solidFill>
                  <a:srgbClr val="B0B0B0"/>
                </a:solidFill>
                <a:latin typeface="华文楷体" panose="02010600040101010101" pitchFamily="2" charset="-122"/>
                <a:ea typeface="华文楷体" panose="02010600040101010101" pitchFamily="2" charset="-122"/>
                <a:cs typeface="Noto Sans SC"/>
                <a:sym typeface="Noto Sans SC"/>
              </a:rPr>
              <a:t>。</a:t>
            </a:r>
            <a:endParaRPr lang="en-US" dirty="0">
              <a:latin typeface="华文楷体" panose="02010600040101010101" pitchFamily="2" charset="-122"/>
              <a:ea typeface="华文楷体" panose="02010600040101010101" pitchFamily="2" charset="-122"/>
            </a:endParaRPr>
          </a:p>
        </p:txBody>
      </p:sp>
      <p:pic>
        <p:nvPicPr>
          <p:cNvPr id="7" name="Picture 7"/>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5461000" y="2705100"/>
            <a:ext cx="304800" cy="304800"/>
          </a:xfrm>
          <a:prstGeom prst="rect">
            <a:avLst/>
          </a:prstGeom>
        </p:spPr>
      </p:pic>
      <p:sp>
        <p:nvSpPr>
          <p:cNvPr id="8" name="AutoShape 8"/>
          <p:cNvSpPr/>
          <p:nvPr/>
        </p:nvSpPr>
        <p:spPr>
          <a:xfrm>
            <a:off x="5842000" y="2667000"/>
            <a:ext cx="5588000" cy="381000"/>
          </a:xfrm>
          <a:prstGeom prst="rect">
            <a:avLst/>
          </a:prstGeom>
          <a:noFill/>
          <a:ln w="12700" cap="flat" cmpd="sng">
            <a:noFill/>
            <a:prstDash val="solid"/>
            <a:round/>
          </a:ln>
        </p:spPr>
        <p:txBody>
          <a:bodyPr vert="horz" wrap="square" lIns="0" tIns="0" rIns="0" bIns="0" rtlCol="0" anchor="ctr" anchorCtr="0"/>
          <a:lstStyle/>
          <a:p>
            <a:pPr>
              <a:lnSpc>
                <a:spcPct val="125000"/>
              </a:lnSpc>
              <a:defRPr/>
            </a:pPr>
            <a:r>
              <a:rPr lang="en-US" sz="2000" b="1" dirty="0" err="1">
                <a:solidFill>
                  <a:srgbClr val="FFFFFF"/>
                </a:solidFill>
                <a:latin typeface="华文楷体" panose="02010600040101010101" pitchFamily="2" charset="-122"/>
                <a:ea typeface="华文楷体" panose="02010600040101010101" pitchFamily="2" charset="-122"/>
                <a:sym typeface="Noto Sans SC"/>
              </a:rPr>
              <a:t>躲避行为：利用环境自我保护</a:t>
            </a:r>
            <a:endParaRPr lang="en-US" sz="2000" b="1" dirty="0">
              <a:solidFill>
                <a:srgbClr val="FFFFFF"/>
              </a:solidFill>
              <a:latin typeface="华文楷体" panose="02010600040101010101" pitchFamily="2" charset="-122"/>
              <a:ea typeface="华文楷体" panose="02010600040101010101" pitchFamily="2" charset="-122"/>
            </a:endParaRPr>
          </a:p>
        </p:txBody>
      </p:sp>
      <p:sp>
        <p:nvSpPr>
          <p:cNvPr id="9" name="AutoShape 9"/>
          <p:cNvSpPr/>
          <p:nvPr/>
        </p:nvSpPr>
        <p:spPr>
          <a:xfrm>
            <a:off x="5461000" y="3111500"/>
            <a:ext cx="5969000" cy="762000"/>
          </a:xfrm>
          <a:prstGeom prst="rect">
            <a:avLst/>
          </a:prstGeom>
          <a:noFill/>
          <a:ln w="12700" cap="flat" cmpd="sng">
            <a:noFill/>
            <a:prstDash val="solid"/>
            <a:round/>
          </a:ln>
        </p:spPr>
        <p:txBody>
          <a:bodyPr vert="horz" wrap="square" lIns="0" tIns="0" rIns="0" bIns="0" rtlCol="0" anchor="ctr" anchorCtr="0"/>
          <a:lstStyle/>
          <a:p>
            <a:pPr>
              <a:lnSpc>
                <a:spcPct val="108333"/>
              </a:lnSpc>
              <a:defRPr/>
            </a:pPr>
            <a:r>
              <a:rPr lang="en-US" sz="1800" dirty="0" err="1">
                <a:solidFill>
                  <a:srgbClr val="B0B0B0"/>
                </a:solidFill>
                <a:latin typeface="华文楷体" panose="02010600040101010101" pitchFamily="2" charset="-122"/>
                <a:ea typeface="华文楷体" panose="02010600040101010101" pitchFamily="2" charset="-122"/>
                <a:sym typeface="Noto Sans SC"/>
              </a:rPr>
              <a:t>生性胆小，察觉危险时会迅速潜入水草丛或水底淤泥中，借助复杂的环境掩护来躲避天敌的追捕</a:t>
            </a:r>
            <a:r>
              <a:rPr lang="en-US" sz="1800" dirty="0">
                <a:solidFill>
                  <a:srgbClr val="B0B0B0"/>
                </a:solidFill>
                <a:latin typeface="华文楷体" panose="02010600040101010101" pitchFamily="2" charset="-122"/>
                <a:ea typeface="华文楷体" panose="02010600040101010101" pitchFamily="2" charset="-122"/>
                <a:sym typeface="Noto Sans SC"/>
              </a:rPr>
              <a:t>。</a:t>
            </a:r>
            <a:endParaRPr lang="en-US" sz="1800" dirty="0">
              <a:solidFill>
                <a:srgbClr val="B0B0B0"/>
              </a:solidFill>
              <a:latin typeface="华文楷体" panose="02010600040101010101" pitchFamily="2" charset="-122"/>
              <a:ea typeface="华文楷体" panose="02010600040101010101" pitchFamily="2" charset="-122"/>
            </a:endParaRPr>
          </a:p>
        </p:txBody>
      </p:sp>
      <p:pic>
        <p:nvPicPr>
          <p:cNvPr id="10" name="Picture 10"/>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5461000" y="3975100"/>
            <a:ext cx="304800" cy="304800"/>
          </a:xfrm>
          <a:prstGeom prst="rect">
            <a:avLst/>
          </a:prstGeom>
        </p:spPr>
      </p:pic>
      <p:sp>
        <p:nvSpPr>
          <p:cNvPr id="11" name="AutoShape 11"/>
          <p:cNvSpPr/>
          <p:nvPr/>
        </p:nvSpPr>
        <p:spPr>
          <a:xfrm>
            <a:off x="5842000" y="3937000"/>
            <a:ext cx="5588000" cy="381000"/>
          </a:xfrm>
          <a:prstGeom prst="rect">
            <a:avLst/>
          </a:prstGeom>
          <a:noFill/>
          <a:ln w="12700" cap="flat" cmpd="sng">
            <a:noFill/>
            <a:prstDash val="solid"/>
            <a:round/>
          </a:ln>
        </p:spPr>
        <p:txBody>
          <a:bodyPr vert="horz" wrap="square" lIns="0" tIns="0" rIns="0" bIns="0" rtlCol="0" anchor="ctr" anchorCtr="0"/>
          <a:lstStyle/>
          <a:p>
            <a:pPr indent="0">
              <a:lnSpc>
                <a:spcPct val="125000"/>
              </a:lnSpc>
              <a:defRPr/>
            </a:pPr>
            <a:r>
              <a:rPr lang="en-US" sz="2000" b="1" dirty="0" err="1">
                <a:solidFill>
                  <a:srgbClr val="FFFFFF"/>
                </a:solidFill>
                <a:latin typeface="华文楷体" panose="02010600040101010101" pitchFamily="2" charset="-122"/>
                <a:ea typeface="华文楷体" panose="02010600040101010101" pitchFamily="2" charset="-122"/>
                <a:sym typeface="Noto Sans SC"/>
              </a:rPr>
              <a:t>繁殖行为：提升后代存活率</a:t>
            </a:r>
            <a:endParaRPr lang="en-US" sz="2000" b="1" dirty="0">
              <a:solidFill>
                <a:srgbClr val="FFFFFF"/>
              </a:solidFill>
              <a:latin typeface="华文楷体" panose="02010600040101010101" pitchFamily="2" charset="-122"/>
              <a:ea typeface="华文楷体" panose="02010600040101010101" pitchFamily="2" charset="-122"/>
            </a:endParaRPr>
          </a:p>
        </p:txBody>
      </p:sp>
      <p:sp>
        <p:nvSpPr>
          <p:cNvPr id="12" name="AutoShape 12"/>
          <p:cNvSpPr/>
          <p:nvPr/>
        </p:nvSpPr>
        <p:spPr>
          <a:xfrm>
            <a:off x="5461000" y="4381500"/>
            <a:ext cx="5969000" cy="762000"/>
          </a:xfrm>
          <a:prstGeom prst="rect">
            <a:avLst/>
          </a:prstGeom>
          <a:noFill/>
          <a:ln w="12700" cap="flat" cmpd="sng">
            <a:noFill/>
            <a:prstDash val="solid"/>
            <a:round/>
          </a:ln>
        </p:spPr>
        <p:txBody>
          <a:bodyPr vert="horz" wrap="square" lIns="0" tIns="0" rIns="0" bIns="0" rtlCol="0" anchor="ctr" anchorCtr="0"/>
          <a:lstStyle/>
          <a:p>
            <a:pPr indent="0">
              <a:lnSpc>
                <a:spcPct val="108333"/>
              </a:lnSpc>
              <a:defRPr/>
            </a:pPr>
            <a:r>
              <a:rPr lang="en-US" sz="1800" dirty="0" err="1">
                <a:solidFill>
                  <a:srgbClr val="B0B0B0"/>
                </a:solidFill>
                <a:latin typeface="华文楷体" panose="02010600040101010101" pitchFamily="2" charset="-122"/>
                <a:ea typeface="华文楷体" panose="02010600040101010101" pitchFamily="2" charset="-122"/>
                <a:sym typeface="Noto Sans SC"/>
              </a:rPr>
              <a:t>繁殖期选择水流平缓、水草丰富的浅水区产卵，鱼卵粘附在水草上，有效避免了被水流冲走或被天敌吞食</a:t>
            </a:r>
            <a:r>
              <a:rPr lang="en-US" sz="1800" dirty="0">
                <a:solidFill>
                  <a:srgbClr val="B0B0B0"/>
                </a:solidFill>
                <a:latin typeface="华文楷体" panose="02010600040101010101" pitchFamily="2" charset="-122"/>
                <a:ea typeface="华文楷体" panose="02010600040101010101" pitchFamily="2" charset="-122"/>
                <a:sym typeface="Noto Sans SC"/>
              </a:rPr>
              <a:t>。</a:t>
            </a:r>
            <a:endParaRPr lang="en-US" sz="1800" dirty="0">
              <a:solidFill>
                <a:srgbClr val="B0B0B0"/>
              </a:solidFill>
              <a:latin typeface="华文楷体" panose="02010600040101010101" pitchFamily="2" charset="-122"/>
              <a:ea typeface="华文楷体" panose="02010600040101010101" pitchFamily="2" charset="-122"/>
            </a:endParaRPr>
          </a:p>
        </p:txBody>
      </p:sp>
      <p:sp>
        <p:nvSpPr>
          <p:cNvPr id="13" name="AutoShape 13"/>
          <p:cNvSpPr/>
          <p:nvPr/>
        </p:nvSpPr>
        <p:spPr>
          <a:xfrm>
            <a:off x="762000" y="5842000"/>
            <a:ext cx="10668000" cy="25400"/>
          </a:xfrm>
          <a:prstGeom prst="roundRect">
            <a:avLst>
              <a:gd name="adj" fmla="val 0"/>
            </a:avLst>
          </a:prstGeom>
          <a:solidFill>
            <a:srgbClr val="FFD700">
              <a:alpha val="30000"/>
            </a:srgbClr>
          </a:solidFill>
          <a:ln w="25400" cap="flat" cmpd="sng">
            <a:noFill/>
            <a:prstDash val="solid"/>
            <a:round/>
          </a:ln>
        </p:spPr>
        <p:txBody>
          <a:bodyPr vert="horz" wrap="square" lIns="63500" tIns="63500" rIns="63500" bIns="63500" rtlCol="0" anchor="ctr"/>
          <a:lstStyle/>
          <a:p>
            <a:pPr algn="ctr">
              <a:defRPr/>
            </a:pPr>
            <a:endParaRPr/>
          </a:p>
        </p:txBody>
      </p:sp>
      <p:sp>
        <p:nvSpPr>
          <p:cNvPr id="14" name="AutoShape 14"/>
          <p:cNvSpPr/>
          <p:nvPr/>
        </p:nvSpPr>
        <p:spPr>
          <a:xfrm>
            <a:off x="762000" y="5969000"/>
            <a:ext cx="10668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800" b="0" i="0" u="none" strike="noStrike" dirty="0" err="1">
                <a:solidFill>
                  <a:srgbClr val="FFFFFF">
                    <a:alpha val="60000"/>
                  </a:srgbClr>
                </a:solidFill>
                <a:latin typeface="华文楷体" panose="02010600040101010101" pitchFamily="2" charset="-122"/>
                <a:ea typeface="华文楷体" panose="02010600040101010101" pitchFamily="2" charset="-122"/>
                <a:cs typeface="Noto Sans SC"/>
                <a:sym typeface="Noto Sans SC"/>
              </a:rPr>
              <a:t>这些行为策略是鲫鱼在长期自然选择中进化出的生存智慧，是其适应水生环境的关键所在</a:t>
            </a:r>
            <a:r>
              <a:rPr lang="en-US" sz="1800" b="0" i="0" u="none" strike="noStrike" dirty="0">
                <a:solidFill>
                  <a:srgbClr val="FFFFFF">
                    <a:alpha val="60000"/>
                  </a:srgbClr>
                </a:solidFill>
                <a:latin typeface="华文楷体" panose="02010600040101010101" pitchFamily="2" charset="-122"/>
                <a:ea typeface="华文楷体" panose="02010600040101010101" pitchFamily="2" charset="-122"/>
                <a:cs typeface="Noto Sans SC"/>
                <a:sym typeface="Noto Sans SC"/>
              </a:rPr>
              <a:t>。</a:t>
            </a:r>
            <a:endParaRPr lang="en-US" dirty="0">
              <a:latin typeface="华文楷体" panose="02010600040101010101" pitchFamily="2" charset="-122"/>
              <a:ea typeface="华文楷体" panose="02010600040101010101" pitchFamily="2" charset="-122"/>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141414">
            <a:alpha val="100000"/>
          </a:srgbClr>
        </a:solidFill>
        <a:effectLst/>
      </p:bgPr>
    </p:bg>
    <p:spTree>
      <p:nvGrpSpPr>
        <p:cNvPr id="1" name=""/>
        <p:cNvGrpSpPr/>
        <p:nvPr/>
      </p:nvGrpSpPr>
      <p:grpSpPr>
        <a:xfrm>
          <a:off x="0" y="0"/>
          <a:ext cx="0" cy="0"/>
          <a:chOff x="0" y="0"/>
          <a:chExt cx="0" cy="0"/>
        </a:xfrm>
      </p:grpSpPr>
      <p:sp>
        <p:nvSpPr>
          <p:cNvPr id="12" name="AutoShape 12"/>
          <p:cNvSpPr/>
          <p:nvPr/>
        </p:nvSpPr>
        <p:spPr>
          <a:xfrm>
            <a:off x="762000" y="4445000"/>
            <a:ext cx="10668000" cy="1524000"/>
          </a:xfrm>
          <a:prstGeom prst="roundRect">
            <a:avLst>
              <a:gd name="adj" fmla="val 8333"/>
            </a:avLst>
          </a:prstGeom>
          <a:solidFill>
            <a:srgbClr val="FFD700">
              <a:alpha val="10000"/>
            </a:srgbClr>
          </a:solidFill>
          <a:ln cap="flat" cmpd="sng">
            <a:solidFill>
              <a:srgbClr val="E6C100">
                <a:alpha val="10000"/>
              </a:srgbClr>
            </a:solidFill>
            <a:prstDash val="solid"/>
            <a:round/>
          </a:ln>
        </p:spPr>
        <p:txBody>
          <a:bodyPr vert="horz" wrap="square" lIns="63500" tIns="63500" rIns="63500" bIns="63500" rtlCol="0" anchor="ctr"/>
          <a:lstStyle/>
          <a:p>
            <a:pPr algn="ctr">
              <a:defRPr/>
            </a:pPr>
            <a:endParaRPr dirty="0"/>
          </a:p>
        </p:txBody>
      </p:sp>
      <p:sp>
        <p:nvSpPr>
          <p:cNvPr id="2" name="AutoShape 2"/>
          <p:cNvSpPr/>
          <p:nvPr/>
        </p:nvSpPr>
        <p:spPr>
          <a:xfrm>
            <a:off x="762000" y="508000"/>
            <a:ext cx="7035800" cy="635000"/>
          </a:xfrm>
          <a:prstGeom prst="rect">
            <a:avLst/>
          </a:prstGeom>
          <a:noFill/>
          <a:ln w="12700" cap="flat" cmpd="sng">
            <a:noFill/>
            <a:prstDash val="solid"/>
            <a:round/>
          </a:ln>
        </p:spPr>
        <p:txBody>
          <a:bodyPr vert="horz" wrap="none" lIns="0" tIns="0" rIns="0" bIns="0" rtlCol="0" anchor="ctr" anchorCtr="0"/>
          <a:lstStyle/>
          <a:p>
            <a:pPr indent="0" algn="l">
              <a:lnSpc>
                <a:spcPct val="125000"/>
              </a:lnSpc>
              <a:defRPr/>
            </a:pPr>
            <a:r>
              <a:rPr lang="en-US" sz="3600" b="1" i="0" u="none" strike="noStrike" dirty="0" err="1">
                <a:solidFill>
                  <a:srgbClr val="FFD700"/>
                </a:solidFill>
                <a:latin typeface="华文新魏" panose="02010800040101010101" pitchFamily="2" charset="-122"/>
                <a:ea typeface="华文新魏" panose="02010800040101010101" pitchFamily="2" charset="-122"/>
                <a:cs typeface="Noto Sans SC"/>
                <a:sym typeface="Noto Sans SC"/>
              </a:rPr>
              <a:t>设计启示：从鲫鱼到仿生设计</a:t>
            </a:r>
            <a:endParaRPr lang="en-US" sz="1100" dirty="0">
              <a:latin typeface="华文新魏" panose="02010800040101010101" pitchFamily="2" charset="-122"/>
              <a:ea typeface="华文新魏" panose="02010800040101010101" pitchFamily="2" charset="-122"/>
            </a:endParaRPr>
          </a:p>
        </p:txBody>
      </p:sp>
      <p:cxnSp>
        <p:nvCxnSpPr>
          <p:cNvPr id="3" name="Connector 3"/>
          <p:cNvCxnSpPr/>
          <p:nvPr/>
        </p:nvCxnSpPr>
        <p:spPr>
          <a:xfrm rot="-4092">
            <a:off x="762004" y="1263650"/>
            <a:ext cx="10668000" cy="12700"/>
          </a:xfrm>
          <a:prstGeom prst="line">
            <a:avLst/>
          </a:prstGeom>
          <a:solidFill>
            <a:srgbClr val="DEE0E3">
              <a:alpha val="100000"/>
            </a:srgbClr>
          </a:solidFill>
          <a:ln w="12700" cap="flat" cmpd="sng">
            <a:solidFill>
              <a:srgbClr val="FFD700">
                <a:alpha val="50000"/>
              </a:srgbClr>
            </a:solidFill>
            <a:prstDash val="solid"/>
            <a:round/>
            <a:headEnd type="none" w="med" len="med"/>
            <a:tailEnd type="none" w="med" len="med"/>
          </a:ln>
        </p:spPr>
      </p:cxnSp>
      <p:sp>
        <p:nvSpPr>
          <p:cNvPr id="4" name="AutoShape 4"/>
          <p:cNvSpPr/>
          <p:nvPr/>
        </p:nvSpPr>
        <p:spPr>
          <a:xfrm>
            <a:off x="762000" y="1651000"/>
            <a:ext cx="5080000" cy="2540000"/>
          </a:xfrm>
          <a:prstGeom prst="roundRect">
            <a:avLst>
              <a:gd name="adj" fmla="val 5000"/>
            </a:avLst>
          </a:prstGeom>
          <a:solidFill>
            <a:srgbClr val="FFFFFF">
              <a:alpha val="5000"/>
            </a:srgbClr>
          </a:solidFill>
          <a:ln w="12700" cap="flat" cmpd="sng">
            <a:solidFill>
              <a:srgbClr val="FFD700">
                <a:alpha val="30000"/>
              </a:srgbClr>
            </a:solidFill>
            <a:prstDash val="solid"/>
            <a:round/>
          </a:ln>
        </p:spPr>
        <p:txBody>
          <a:bodyPr vert="horz" wrap="square" lIns="63500" tIns="63500" rIns="63500" bIns="63500" rtlCol="0" anchor="ctr"/>
          <a:lstStyle/>
          <a:p>
            <a:pPr algn="ctr">
              <a:defRPr/>
            </a:pPr>
            <a:endParaRPr/>
          </a:p>
        </p:txBody>
      </p:sp>
      <p:pic>
        <p:nvPicPr>
          <p:cNvPr id="5" name="Picture 5"/>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16000" y="1905000"/>
            <a:ext cx="609600" cy="609600"/>
          </a:xfrm>
          <a:prstGeom prst="rect">
            <a:avLst/>
          </a:prstGeom>
        </p:spPr>
      </p:pic>
      <p:sp>
        <p:nvSpPr>
          <p:cNvPr id="6" name="AutoShape 6"/>
          <p:cNvSpPr/>
          <p:nvPr/>
        </p:nvSpPr>
        <p:spPr>
          <a:xfrm>
            <a:off x="1778000" y="2019300"/>
            <a:ext cx="3810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400" b="1" i="0" u="none" strike="noStrike" dirty="0" err="1">
                <a:solidFill>
                  <a:srgbClr val="FFFFFF"/>
                </a:solidFill>
                <a:latin typeface="华文楷体" panose="02010600040101010101" pitchFamily="2" charset="-122"/>
                <a:ea typeface="华文楷体" panose="02010600040101010101" pitchFamily="2" charset="-122"/>
                <a:cs typeface="Noto Sans SC"/>
                <a:sym typeface="Noto Sans SC"/>
              </a:rPr>
              <a:t>自然原型：鲫鱼</a:t>
            </a:r>
            <a:endParaRPr lang="en-US" sz="1200" dirty="0">
              <a:latin typeface="华文楷体" panose="02010600040101010101" pitchFamily="2" charset="-122"/>
              <a:ea typeface="华文楷体" panose="02010600040101010101" pitchFamily="2" charset="-122"/>
            </a:endParaRPr>
          </a:p>
        </p:txBody>
      </p:sp>
      <p:sp>
        <p:nvSpPr>
          <p:cNvPr id="7" name="AutoShape 7"/>
          <p:cNvSpPr/>
          <p:nvPr/>
        </p:nvSpPr>
        <p:spPr>
          <a:xfrm>
            <a:off x="1016000" y="2540000"/>
            <a:ext cx="4572000" cy="1397000"/>
          </a:xfrm>
          <a:prstGeom prst="rect">
            <a:avLst/>
          </a:prstGeom>
          <a:noFill/>
          <a:ln w="12700" cap="flat" cmpd="sng">
            <a:noFill/>
            <a:prstDash val="solid"/>
            <a:round/>
          </a:ln>
        </p:spPr>
        <p:txBody>
          <a:bodyPr vert="horz" wrap="square" lIns="0" tIns="0" rIns="0" bIns="0" rtlCol="0" anchor="ctr" anchorCtr="0"/>
          <a:lstStyle/>
          <a:p>
            <a:pPr indent="0" algn="l">
              <a:lnSpc>
                <a:spcPct val="108333"/>
              </a:lnSpc>
              <a:defRPr/>
            </a:pPr>
            <a:r>
              <a:rPr lang="en-US" sz="1800" b="0" i="0" u="none" strike="noStrike" dirty="0">
                <a:solidFill>
                  <a:srgbClr val="B0B0B0"/>
                </a:solidFill>
                <a:latin typeface="华文楷体" panose="02010600040101010101" pitchFamily="2" charset="-122"/>
                <a:ea typeface="华文楷体" panose="02010600040101010101" pitchFamily="2" charset="-122"/>
                <a:cs typeface="Noto Sans SC"/>
                <a:sym typeface="Noto Sans SC"/>
              </a:rPr>
              <a:t>经过亿万年的进化，鲫鱼的身体结构和功能完美适应了水生环境。其纺锤形身体不仅能有效减少水流阻力，还具备极佳的灵活性与稳定性，是自然界的“流体力学大师”。</a:t>
            </a:r>
            <a:endParaRPr lang="en-US" dirty="0">
              <a:latin typeface="华文楷体" panose="02010600040101010101" pitchFamily="2" charset="-122"/>
              <a:ea typeface="华文楷体" panose="02010600040101010101" pitchFamily="2" charset="-122"/>
            </a:endParaRPr>
          </a:p>
        </p:txBody>
      </p:sp>
      <p:sp>
        <p:nvSpPr>
          <p:cNvPr id="8" name="AutoShape 8"/>
          <p:cNvSpPr/>
          <p:nvPr/>
        </p:nvSpPr>
        <p:spPr>
          <a:xfrm>
            <a:off x="6350000" y="1651000"/>
            <a:ext cx="5080000" cy="2540000"/>
          </a:xfrm>
          <a:prstGeom prst="roundRect">
            <a:avLst>
              <a:gd name="adj" fmla="val 5000"/>
            </a:avLst>
          </a:prstGeom>
          <a:solidFill>
            <a:srgbClr val="FFFFFF">
              <a:alpha val="5000"/>
            </a:srgbClr>
          </a:solidFill>
          <a:ln w="12700" cap="flat" cmpd="sng">
            <a:solidFill>
              <a:srgbClr val="FFD700">
                <a:alpha val="30000"/>
              </a:srgbClr>
            </a:solidFill>
            <a:prstDash val="solid"/>
            <a:round/>
          </a:ln>
        </p:spPr>
        <p:txBody>
          <a:bodyPr vert="horz" wrap="square" lIns="63500" tIns="63500" rIns="63500" bIns="63500" rtlCol="0" anchor="ctr"/>
          <a:lstStyle/>
          <a:p>
            <a:pPr algn="ctr">
              <a:defRPr/>
            </a:pPr>
            <a:endParaRPr/>
          </a:p>
        </p:txBody>
      </p:sp>
      <p:pic>
        <p:nvPicPr>
          <p:cNvPr id="9" name="Picture 9"/>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6604000" y="1905000"/>
            <a:ext cx="609600" cy="609600"/>
          </a:xfrm>
          <a:prstGeom prst="rect">
            <a:avLst/>
          </a:prstGeom>
        </p:spPr>
      </p:pic>
      <p:sp>
        <p:nvSpPr>
          <p:cNvPr id="10" name="AutoShape 10"/>
          <p:cNvSpPr/>
          <p:nvPr/>
        </p:nvSpPr>
        <p:spPr>
          <a:xfrm>
            <a:off x="7366000" y="2019300"/>
            <a:ext cx="3810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400" b="1" i="0" u="none" strike="noStrike" dirty="0" err="1">
                <a:solidFill>
                  <a:srgbClr val="FFFFFF"/>
                </a:solidFill>
                <a:latin typeface="华文楷体" panose="02010600040101010101" pitchFamily="2" charset="-122"/>
                <a:ea typeface="华文楷体" panose="02010600040101010101" pitchFamily="2" charset="-122"/>
                <a:cs typeface="Noto Sans SC"/>
                <a:sym typeface="Noto Sans SC"/>
              </a:rPr>
              <a:t>仿生应用：交通工具</a:t>
            </a:r>
            <a:endParaRPr lang="en-US" sz="1200" dirty="0">
              <a:latin typeface="华文楷体" panose="02010600040101010101" pitchFamily="2" charset="-122"/>
              <a:ea typeface="华文楷体" panose="02010600040101010101" pitchFamily="2" charset="-122"/>
            </a:endParaRPr>
          </a:p>
        </p:txBody>
      </p:sp>
      <p:sp>
        <p:nvSpPr>
          <p:cNvPr id="11" name="AutoShape 11"/>
          <p:cNvSpPr/>
          <p:nvPr/>
        </p:nvSpPr>
        <p:spPr>
          <a:xfrm>
            <a:off x="6604000" y="2540000"/>
            <a:ext cx="4572000" cy="1397000"/>
          </a:xfrm>
          <a:prstGeom prst="rect">
            <a:avLst/>
          </a:prstGeom>
          <a:noFill/>
          <a:ln w="12700" cap="flat" cmpd="sng">
            <a:noFill/>
            <a:prstDash val="solid"/>
            <a:round/>
          </a:ln>
        </p:spPr>
        <p:txBody>
          <a:bodyPr vert="horz" wrap="square" lIns="0" tIns="0" rIns="0" bIns="0" rtlCol="0" anchor="ctr" anchorCtr="0"/>
          <a:lstStyle/>
          <a:p>
            <a:pPr indent="0" algn="l">
              <a:lnSpc>
                <a:spcPct val="108333"/>
              </a:lnSpc>
              <a:defRPr/>
            </a:pPr>
            <a:r>
              <a:rPr lang="en-US" sz="1800" b="0" i="0" u="none" strike="noStrike" dirty="0">
                <a:solidFill>
                  <a:srgbClr val="B0B0B0"/>
                </a:solidFill>
                <a:latin typeface="华文楷体" panose="02010600040101010101" pitchFamily="2" charset="-122"/>
                <a:ea typeface="华文楷体" panose="02010600040101010101" pitchFamily="2" charset="-122"/>
                <a:cs typeface="Noto Sans SC"/>
                <a:sym typeface="Noto Sans SC"/>
              </a:rPr>
              <a:t>人类模仿鲫鱼的流线型设计，制造出了</a:t>
            </a:r>
            <a:r>
              <a:rPr lang="en-US" sz="1800" b="0" i="0" u="none" strike="noStrike" dirty="0">
                <a:solidFill>
                  <a:srgbClr val="FFD700"/>
                </a:solidFill>
                <a:latin typeface="华文楷体" panose="02010600040101010101" pitchFamily="2" charset="-122"/>
                <a:ea typeface="华文楷体" panose="02010600040101010101" pitchFamily="2" charset="-122"/>
                <a:cs typeface="Noto Sans SC"/>
                <a:sym typeface="Noto Sans SC"/>
              </a:rPr>
              <a:t>汽车、高速列车、飞机和潜艇</a:t>
            </a:r>
            <a:r>
              <a:rPr lang="en-US" sz="1800" b="0" i="0" u="none" strike="noStrike" dirty="0">
                <a:solidFill>
                  <a:srgbClr val="B0B0B0"/>
                </a:solidFill>
                <a:latin typeface="华文楷体" panose="02010600040101010101" pitchFamily="2" charset="-122"/>
                <a:ea typeface="华文楷体" panose="02010600040101010101" pitchFamily="2" charset="-122"/>
                <a:cs typeface="Noto Sans SC"/>
                <a:sym typeface="Noto Sans SC"/>
              </a:rPr>
              <a:t>。这种设计极大降低了行驶过程中的空气或水阻力，显著提高了能源利用效率和行驶速度。</a:t>
            </a:r>
            <a:endParaRPr lang="en-US" dirty="0">
              <a:latin typeface="华文楷体" panose="02010600040101010101" pitchFamily="2" charset="-122"/>
              <a:ea typeface="华文楷体" panose="02010600040101010101" pitchFamily="2" charset="-122"/>
            </a:endParaRPr>
          </a:p>
        </p:txBody>
      </p:sp>
      <p:pic>
        <p:nvPicPr>
          <p:cNvPr id="13" name="Picture 13"/>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1016000" y="4508753"/>
            <a:ext cx="609600" cy="609600"/>
          </a:xfrm>
          <a:prstGeom prst="rect">
            <a:avLst/>
          </a:prstGeom>
        </p:spPr>
      </p:pic>
      <p:sp>
        <p:nvSpPr>
          <p:cNvPr id="14" name="AutoShape 14"/>
          <p:cNvSpPr/>
          <p:nvPr/>
        </p:nvSpPr>
        <p:spPr>
          <a:xfrm>
            <a:off x="1778000" y="4623053"/>
            <a:ext cx="9398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400" b="1" i="0" u="none" strike="noStrike" dirty="0" err="1">
                <a:solidFill>
                  <a:srgbClr val="FFD700"/>
                </a:solidFill>
                <a:latin typeface="华文楷体" panose="02010600040101010101" pitchFamily="2" charset="-122"/>
                <a:ea typeface="华文楷体" panose="02010600040101010101" pitchFamily="2" charset="-122"/>
                <a:cs typeface="Noto Sans SC"/>
                <a:sym typeface="Noto Sans SC"/>
              </a:rPr>
              <a:t>核心启示：高效推进与节能</a:t>
            </a:r>
            <a:endParaRPr lang="en-US" dirty="0">
              <a:latin typeface="华文楷体" panose="02010600040101010101" pitchFamily="2" charset="-122"/>
              <a:ea typeface="华文楷体" panose="02010600040101010101" pitchFamily="2" charset="-122"/>
            </a:endParaRPr>
          </a:p>
        </p:txBody>
      </p:sp>
      <p:sp>
        <p:nvSpPr>
          <p:cNvPr id="15" name="AutoShape 15"/>
          <p:cNvSpPr/>
          <p:nvPr/>
        </p:nvSpPr>
        <p:spPr>
          <a:xfrm>
            <a:off x="1778000" y="5102418"/>
            <a:ext cx="9398000" cy="762000"/>
          </a:xfrm>
          <a:prstGeom prst="rect">
            <a:avLst/>
          </a:prstGeom>
          <a:noFill/>
          <a:ln w="12700" cap="flat" cmpd="sng">
            <a:noFill/>
            <a:prstDash val="solid"/>
            <a:round/>
          </a:ln>
        </p:spPr>
        <p:txBody>
          <a:bodyPr vert="horz" wrap="square" lIns="0" tIns="0" rIns="0" bIns="0" rtlCol="0" anchor="ctr" anchorCtr="0"/>
          <a:lstStyle/>
          <a:p>
            <a:pPr indent="0" algn="l">
              <a:lnSpc>
                <a:spcPct val="108333"/>
              </a:lnSpc>
              <a:defRPr/>
            </a:pPr>
            <a:r>
              <a:rPr lang="en-US" sz="1800" b="0" i="0" u="none" strike="noStrike" dirty="0">
                <a:solidFill>
                  <a:srgbClr val="DCDCDC"/>
                </a:solidFill>
                <a:latin typeface="华文楷体" panose="02010600040101010101" pitchFamily="2" charset="-122"/>
                <a:ea typeface="华文楷体" panose="02010600040101010101" pitchFamily="2" charset="-122"/>
                <a:cs typeface="Noto Sans SC"/>
                <a:sym typeface="Noto Sans SC"/>
              </a:rPr>
              <a:t>除了外形，鲫鱼尾鳍的摆动方式也为水下航行器的推进系统设计提供了关键参考，使其能够更高效、更安静地在水中航行。仿生设计不仅是形态的模仿，更是对自然功能的深度致敬与应用。</a:t>
            </a:r>
            <a:endParaRPr lang="en-US" dirty="0">
              <a:latin typeface="华文楷体" panose="02010600040101010101" pitchFamily="2" charset="-122"/>
              <a:ea typeface="华文楷体" panose="02010600040101010101" pitchFamily="2" charset="-122"/>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gradFill rotWithShape="1">
          <a:gsLst>
            <a:gs pos="0">
              <a:srgbClr val="141E30">
                <a:alpha val="100000"/>
              </a:srgbClr>
            </a:gs>
            <a:gs pos="100000">
              <a:srgbClr val="243B55">
                <a:alpha val="100000"/>
              </a:srgbClr>
            </a:gs>
          </a:gsLst>
          <a:lin ang="2700000"/>
        </a:gradFill>
        <a:effectLst/>
      </p:bgPr>
    </p:bg>
    <p:spTree>
      <p:nvGrpSpPr>
        <p:cNvPr id="1" name=""/>
        <p:cNvGrpSpPr/>
        <p:nvPr/>
      </p:nvGrpSpPr>
      <p:grpSpPr>
        <a:xfrm>
          <a:off x="0" y="0"/>
          <a:ext cx="0" cy="0"/>
          <a:chOff x="0" y="0"/>
          <a:chExt cx="0" cy="0"/>
        </a:xfrm>
      </p:grpSpPr>
      <p:sp>
        <p:nvSpPr>
          <p:cNvPr id="2" name="AutoShape 2"/>
          <p:cNvSpPr/>
          <p:nvPr/>
        </p:nvSpPr>
        <p:spPr>
          <a:xfrm>
            <a:off x="762000" y="508000"/>
            <a:ext cx="10668000" cy="635000"/>
          </a:xfrm>
          <a:prstGeom prst="rect">
            <a:avLst/>
          </a:prstGeom>
          <a:noFill/>
          <a:ln w="12700" cap="flat" cmpd="sng">
            <a:noFill/>
            <a:prstDash val="solid"/>
            <a:round/>
          </a:ln>
        </p:spPr>
        <p:txBody>
          <a:bodyPr vert="horz" wrap="none" lIns="0" tIns="0" rIns="0" bIns="0" rtlCol="0" anchor="ctr" anchorCtr="0"/>
          <a:lstStyle/>
          <a:p>
            <a:pPr indent="0" algn="l">
              <a:lnSpc>
                <a:spcPct val="125000"/>
              </a:lnSpc>
              <a:defRPr/>
            </a:pPr>
            <a:r>
              <a:rPr lang="en-US" sz="3600" b="1" i="0" u="none" strike="noStrike" dirty="0" err="1">
                <a:solidFill>
                  <a:srgbClr val="FFD700"/>
                </a:solidFill>
                <a:latin typeface="华文新魏" panose="02010800040101010101" pitchFamily="2" charset="-122"/>
                <a:ea typeface="华文新魏" panose="02010800040101010101" pitchFamily="2" charset="-122"/>
                <a:cs typeface="Noto Sans SC"/>
                <a:sym typeface="Noto Sans SC"/>
              </a:rPr>
              <a:t>设计启示：水下机器人的灵感</a:t>
            </a:r>
            <a:endParaRPr lang="en-US" sz="1100" dirty="0">
              <a:latin typeface="华文新魏" panose="02010800040101010101" pitchFamily="2" charset="-122"/>
              <a:ea typeface="华文新魏" panose="02010800040101010101" pitchFamily="2" charset="-122"/>
            </a:endParaRPr>
          </a:p>
        </p:txBody>
      </p:sp>
      <p:pic>
        <p:nvPicPr>
          <p:cNvPr id="3" name="Picture 3"/>
          <p:cNvPicPr>
            <a:picLocks noChangeAspect="1"/>
          </p:cNvPicPr>
          <p:nvPr/>
        </p:nvPicPr>
        <p:blipFill>
          <a:blip r:embed="rId3"/>
          <a:srcRect/>
          <a:stretch>
            <a:fillRect/>
          </a:stretch>
        </p:blipFill>
        <p:spPr>
          <a:xfrm>
            <a:off x="762000" y="1524000"/>
            <a:ext cx="4826000" cy="2714625"/>
          </a:xfrm>
          <a:prstGeom prst="roundRect">
            <a:avLst>
              <a:gd name="adj" fmla="val 4678"/>
            </a:avLst>
          </a:prstGeom>
          <a:noFill/>
          <a:ln w="12700" cap="flat" cmpd="sng">
            <a:solidFill>
              <a:srgbClr val="FFD700">
                <a:alpha val="30000"/>
              </a:srgbClr>
            </a:solidFill>
            <a:prstDash val="solid"/>
            <a:round/>
          </a:ln>
          <a:effectLst>
            <a:outerShdw blurRad="190500" dist="101600" dir="5400000" algn="tl" rotWithShape="0">
              <a:srgbClr val="000000">
                <a:alpha val="40000"/>
              </a:srgbClr>
            </a:outerShdw>
          </a:effectLst>
        </p:spPr>
      </p:pic>
      <p:pic>
        <p:nvPicPr>
          <p:cNvPr id="4" name="Picture 4"/>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096000" y="1549400"/>
            <a:ext cx="304800" cy="304800"/>
          </a:xfrm>
          <a:prstGeom prst="rect">
            <a:avLst/>
          </a:prstGeom>
        </p:spPr>
      </p:pic>
      <p:sp>
        <p:nvSpPr>
          <p:cNvPr id="5" name="AutoShape 5"/>
          <p:cNvSpPr/>
          <p:nvPr/>
        </p:nvSpPr>
        <p:spPr>
          <a:xfrm>
            <a:off x="6477000" y="1473200"/>
            <a:ext cx="4953000" cy="4064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400" b="1" i="0" u="none" strike="noStrike" dirty="0" err="1">
                <a:solidFill>
                  <a:srgbClr val="FFD700"/>
                </a:solidFill>
                <a:latin typeface="华文楷体" panose="02010600040101010101" pitchFamily="2" charset="-122"/>
                <a:ea typeface="华文楷体" panose="02010600040101010101" pitchFamily="2" charset="-122"/>
                <a:cs typeface="Noto Sans SC"/>
                <a:sym typeface="Noto Sans SC"/>
              </a:rPr>
              <a:t>仿生鱼机器人原理</a:t>
            </a:r>
            <a:endParaRPr lang="en-US" sz="1200" dirty="0">
              <a:latin typeface="华文楷体" panose="02010600040101010101" pitchFamily="2" charset="-122"/>
              <a:ea typeface="华文楷体" panose="02010600040101010101" pitchFamily="2" charset="-122"/>
            </a:endParaRPr>
          </a:p>
        </p:txBody>
      </p:sp>
      <p:sp>
        <p:nvSpPr>
          <p:cNvPr id="6" name="AutoShape 6"/>
          <p:cNvSpPr/>
          <p:nvPr/>
        </p:nvSpPr>
        <p:spPr>
          <a:xfrm>
            <a:off x="6096000" y="1905000"/>
            <a:ext cx="5334000" cy="1016000"/>
          </a:xfrm>
          <a:prstGeom prst="rect">
            <a:avLst/>
          </a:prstGeom>
          <a:noFill/>
          <a:ln w="12700" cap="flat" cmpd="sng">
            <a:noFill/>
            <a:prstDash val="solid"/>
            <a:round/>
          </a:ln>
        </p:spPr>
        <p:txBody>
          <a:bodyPr vert="horz" wrap="square" lIns="0" tIns="0" rIns="0" bIns="0" rtlCol="0" anchor="ctr" anchorCtr="0"/>
          <a:lstStyle/>
          <a:p>
            <a:pPr indent="0" algn="l">
              <a:lnSpc>
                <a:spcPct val="108333"/>
              </a:lnSpc>
              <a:defRPr/>
            </a:pPr>
            <a:r>
              <a:rPr lang="en-US" sz="1800" b="0" i="0" u="none" strike="noStrike" dirty="0">
                <a:solidFill>
                  <a:srgbClr val="DCDCDC"/>
                </a:solidFill>
                <a:latin typeface="华文楷体" panose="02010600040101010101" pitchFamily="2" charset="-122"/>
                <a:ea typeface="华文楷体" panose="02010600040101010101" pitchFamily="2" charset="-122"/>
                <a:cs typeface="Noto Sans SC"/>
                <a:sym typeface="Noto Sans SC"/>
              </a:rPr>
              <a:t>科学家模仿鲫鱼尾鳍摆动推进方式与身体灵活性，开发出高机动仿生机器人。其游动灵活高效，具备低噪音与高隐蔽性优势，完美复刻生物运动机理。</a:t>
            </a:r>
            <a:endParaRPr lang="en-US" dirty="0">
              <a:latin typeface="华文楷体" panose="02010600040101010101" pitchFamily="2" charset="-122"/>
              <a:ea typeface="华文楷体" panose="02010600040101010101" pitchFamily="2" charset="-122"/>
            </a:endParaRPr>
          </a:p>
        </p:txBody>
      </p:sp>
      <p:pic>
        <p:nvPicPr>
          <p:cNvPr id="7" name="Picture 7"/>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6096000" y="3073400"/>
            <a:ext cx="304800" cy="304800"/>
          </a:xfrm>
          <a:prstGeom prst="rect">
            <a:avLst/>
          </a:prstGeom>
        </p:spPr>
      </p:pic>
      <p:sp>
        <p:nvSpPr>
          <p:cNvPr id="8" name="AutoShape 8"/>
          <p:cNvSpPr/>
          <p:nvPr/>
        </p:nvSpPr>
        <p:spPr>
          <a:xfrm>
            <a:off x="6477000" y="2997200"/>
            <a:ext cx="4953000" cy="4064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400" b="1" dirty="0" err="1">
                <a:solidFill>
                  <a:srgbClr val="FFD700"/>
                </a:solidFill>
                <a:latin typeface="华文楷体" panose="02010600040101010101" pitchFamily="2" charset="-122"/>
                <a:ea typeface="华文楷体" panose="02010600040101010101" pitchFamily="2" charset="-122"/>
                <a:sym typeface="Noto Sans SC"/>
              </a:rPr>
              <a:t>多领域应用前景</a:t>
            </a:r>
            <a:endParaRPr lang="en-US" sz="2400" b="1" dirty="0">
              <a:solidFill>
                <a:srgbClr val="FFD700"/>
              </a:solidFill>
              <a:latin typeface="华文楷体" panose="02010600040101010101" pitchFamily="2" charset="-122"/>
              <a:ea typeface="华文楷体" panose="02010600040101010101" pitchFamily="2" charset="-122"/>
            </a:endParaRPr>
          </a:p>
        </p:txBody>
      </p:sp>
      <p:sp>
        <p:nvSpPr>
          <p:cNvPr id="9" name="AutoShape 9"/>
          <p:cNvSpPr/>
          <p:nvPr/>
        </p:nvSpPr>
        <p:spPr>
          <a:xfrm>
            <a:off x="6096000" y="3429000"/>
            <a:ext cx="5334000" cy="1016000"/>
          </a:xfrm>
          <a:prstGeom prst="rect">
            <a:avLst/>
          </a:prstGeom>
          <a:noFill/>
          <a:ln w="12700" cap="flat" cmpd="sng">
            <a:noFill/>
            <a:prstDash val="solid"/>
            <a:round/>
          </a:ln>
        </p:spPr>
        <p:txBody>
          <a:bodyPr vert="horz" wrap="square" lIns="0" tIns="0" rIns="0" bIns="0" rtlCol="0" anchor="ctr" anchorCtr="0"/>
          <a:lstStyle/>
          <a:p>
            <a:pPr indent="0" algn="l">
              <a:lnSpc>
                <a:spcPct val="108333"/>
              </a:lnSpc>
              <a:defRPr/>
            </a:pPr>
            <a:r>
              <a:rPr lang="en-US" sz="1800" b="0" i="0" u="none" strike="noStrike" dirty="0">
                <a:solidFill>
                  <a:srgbClr val="DCDCDC"/>
                </a:solidFill>
                <a:latin typeface="华文楷体" panose="02010600040101010101" pitchFamily="2" charset="-122"/>
                <a:ea typeface="华文楷体" panose="02010600040101010101" pitchFamily="2" charset="-122"/>
                <a:cs typeface="Noto Sans SC"/>
                <a:sym typeface="Noto Sans SC"/>
              </a:rPr>
              <a:t>在水下探测、环境监测、海洋生物观察及救援等领域潜力巨大。相比传统螺旋桨推进器，能在复杂水域完成高难度任务，减少对海洋生态的干扰。</a:t>
            </a:r>
            <a:endParaRPr lang="en-US" dirty="0">
              <a:latin typeface="华文楷体" panose="02010600040101010101" pitchFamily="2" charset="-122"/>
              <a:ea typeface="华文楷体" panose="02010600040101010101" pitchFamily="2" charset="-122"/>
            </a:endParaRPr>
          </a:p>
        </p:txBody>
      </p:sp>
      <p:cxnSp>
        <p:nvCxnSpPr>
          <p:cNvPr id="10" name="Connector 10"/>
          <p:cNvCxnSpPr/>
          <p:nvPr/>
        </p:nvCxnSpPr>
        <p:spPr>
          <a:xfrm rot="-4092">
            <a:off x="762004" y="4819650"/>
            <a:ext cx="10668000" cy="12700"/>
          </a:xfrm>
          <a:prstGeom prst="line">
            <a:avLst/>
          </a:prstGeom>
          <a:solidFill>
            <a:srgbClr val="DEE0E3">
              <a:alpha val="100000"/>
            </a:srgbClr>
          </a:solidFill>
          <a:ln w="12700" cap="flat" cmpd="sng">
            <a:solidFill>
              <a:srgbClr val="FFD700">
                <a:alpha val="30000"/>
              </a:srgbClr>
            </a:solidFill>
            <a:prstDash val="solid"/>
            <a:round/>
            <a:headEnd type="none" w="med" len="med"/>
            <a:tailEnd type="none" w="med" len="med"/>
          </a:ln>
        </p:spPr>
      </p:cxnSp>
      <p:sp>
        <p:nvSpPr>
          <p:cNvPr id="11" name="AutoShape 11"/>
          <p:cNvSpPr/>
          <p:nvPr/>
        </p:nvSpPr>
        <p:spPr>
          <a:xfrm>
            <a:off x="762000" y="5080000"/>
            <a:ext cx="10668000" cy="762000"/>
          </a:xfrm>
          <a:prstGeom prst="rect">
            <a:avLst/>
          </a:prstGeom>
          <a:noFill/>
          <a:ln w="12700" cap="flat" cmpd="sng">
            <a:noFill/>
            <a:prstDash val="solid"/>
            <a:round/>
          </a:ln>
        </p:spPr>
        <p:txBody>
          <a:bodyPr vert="horz" wrap="square" lIns="0" tIns="0" rIns="0" bIns="0" rtlCol="0" anchor="ctr" anchorCtr="0"/>
          <a:lstStyle/>
          <a:p>
            <a:pPr indent="0" algn="l">
              <a:lnSpc>
                <a:spcPct val="116666"/>
              </a:lnSpc>
              <a:defRPr/>
            </a:pPr>
            <a:r>
              <a:rPr lang="en-US" sz="2000" b="0" i="1" u="none" strike="noStrike" dirty="0">
                <a:solidFill>
                  <a:srgbClr val="B0B0B0"/>
                </a:solidFill>
                <a:latin typeface="华文楷体" panose="02010600040101010101" pitchFamily="2" charset="-122"/>
                <a:ea typeface="华文楷体" panose="02010600040101010101" pitchFamily="2" charset="-122"/>
                <a:cs typeface="Noto Sans SC"/>
                <a:sym typeface="Noto Sans SC"/>
              </a:rPr>
              <a:t>“</a:t>
            </a:r>
            <a:r>
              <a:rPr lang="en-US" sz="2000" b="0" i="1" u="none" strike="noStrike" dirty="0" err="1">
                <a:solidFill>
                  <a:srgbClr val="B0B0B0"/>
                </a:solidFill>
                <a:latin typeface="华文楷体" panose="02010600040101010101" pitchFamily="2" charset="-122"/>
                <a:ea typeface="华文楷体" panose="02010600040101010101" pitchFamily="2" charset="-122"/>
                <a:cs typeface="Noto Sans SC"/>
                <a:sym typeface="Noto Sans SC"/>
              </a:rPr>
              <a:t>自然智慧为人类科技发展提供动力，仿生学让水下探索更具生命力</a:t>
            </a:r>
            <a:r>
              <a:rPr lang="en-US" sz="2000" b="0" i="1" u="none" strike="noStrike" dirty="0">
                <a:solidFill>
                  <a:srgbClr val="B0B0B0"/>
                </a:solidFill>
                <a:latin typeface="华文楷体" panose="02010600040101010101" pitchFamily="2" charset="-122"/>
                <a:ea typeface="华文楷体" panose="02010600040101010101" pitchFamily="2" charset="-122"/>
                <a:cs typeface="Noto Sans SC"/>
                <a:sym typeface="Noto Sans SC"/>
              </a:rPr>
              <a:t>。”</a:t>
            </a:r>
            <a:endParaRPr lang="en-US" dirty="0">
              <a:latin typeface="华文楷体" panose="02010600040101010101" pitchFamily="2" charset="-122"/>
              <a:ea typeface="华文楷体" panose="02010600040101010101" pitchFamily="2" charset="-122"/>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000000">
            <a:alpha val="100000"/>
          </a:srgbClr>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3"/>
          <a:srcRect/>
          <a:stretch>
            <a:fillRect/>
          </a:stretch>
        </p:blipFill>
        <p:spPr>
          <a:xfrm>
            <a:off x="0" y="0"/>
            <a:ext cx="12192000" cy="6858000"/>
          </a:xfrm>
          <a:prstGeom prst="rect">
            <a:avLst/>
          </a:prstGeom>
          <a:noFill/>
          <a:ln w="25400" cap="flat" cmpd="sng">
            <a:noFill/>
            <a:prstDash val="solid"/>
            <a:round/>
          </a:ln>
        </p:spPr>
      </p:pic>
      <p:sp>
        <p:nvSpPr>
          <p:cNvPr id="3" name="AutoShape 3"/>
          <p:cNvSpPr/>
          <p:nvPr/>
        </p:nvSpPr>
        <p:spPr>
          <a:xfrm>
            <a:off x="0" y="0"/>
            <a:ext cx="12192000" cy="6858000"/>
          </a:xfrm>
          <a:prstGeom prst="roundRect">
            <a:avLst>
              <a:gd name="adj" fmla="val 0"/>
            </a:avLst>
          </a:prstGeom>
          <a:solidFill>
            <a:srgbClr val="0A192F">
              <a:alpha val="60000"/>
            </a:srgbClr>
          </a:solidFill>
          <a:ln w="25400" cap="flat" cmpd="sng">
            <a:noFill/>
            <a:prstDash val="solid"/>
            <a:round/>
          </a:ln>
        </p:spPr>
        <p:txBody>
          <a:bodyPr vert="horz" wrap="square" lIns="63500" tIns="63500" rIns="63500" bIns="63500" rtlCol="0" anchor="ctr"/>
          <a:lstStyle/>
          <a:p>
            <a:pPr algn="ctr">
              <a:defRPr/>
            </a:pPr>
            <a:endParaRPr/>
          </a:p>
        </p:txBody>
      </p:sp>
      <p:sp>
        <p:nvSpPr>
          <p:cNvPr id="4" name="AutoShape 4"/>
          <p:cNvSpPr/>
          <p:nvPr/>
        </p:nvSpPr>
        <p:spPr>
          <a:xfrm>
            <a:off x="5461000" y="1651000"/>
            <a:ext cx="1270000" cy="635000"/>
          </a:xfrm>
          <a:prstGeom prst="rect">
            <a:avLst/>
          </a:prstGeom>
          <a:noFill/>
          <a:ln w="12700" cap="flat" cmpd="sng">
            <a:noFill/>
            <a:prstDash val="solid"/>
            <a:round/>
          </a:ln>
        </p:spPr>
        <p:txBody>
          <a:bodyPr vert="horz" wrap="none" lIns="0" tIns="0" rIns="0" bIns="0" rtlCol="0" anchor="ctr" anchorCtr="0"/>
          <a:lstStyle/>
          <a:p>
            <a:pPr indent="0" algn="ctr">
              <a:lnSpc>
                <a:spcPct val="125000"/>
              </a:lnSpc>
              <a:defRPr/>
            </a:pPr>
            <a:r>
              <a:rPr lang="en-US" sz="3600" b="1" i="0" u="none" strike="noStrike" dirty="0" err="1">
                <a:solidFill>
                  <a:srgbClr val="FFD700"/>
                </a:solidFill>
                <a:latin typeface="华文新魏" panose="02010800040101010101" pitchFamily="2" charset="-122"/>
                <a:ea typeface="华文新魏" panose="02010800040101010101" pitchFamily="2" charset="-122"/>
                <a:cs typeface="Noto Sans SC"/>
                <a:sym typeface="Noto Sans SC"/>
              </a:rPr>
              <a:t>致谢</a:t>
            </a:r>
            <a:endParaRPr lang="en-US" sz="1100" dirty="0">
              <a:latin typeface="华文新魏" panose="02010800040101010101" pitchFamily="2" charset="-122"/>
              <a:ea typeface="华文新魏" panose="02010800040101010101" pitchFamily="2" charset="-122"/>
            </a:endParaRPr>
          </a:p>
        </p:txBody>
      </p:sp>
      <p:sp>
        <p:nvSpPr>
          <p:cNvPr id="5" name="AutoShape 5"/>
          <p:cNvSpPr/>
          <p:nvPr/>
        </p:nvSpPr>
        <p:spPr>
          <a:xfrm>
            <a:off x="5715000" y="2413000"/>
            <a:ext cx="762000" cy="38100"/>
          </a:xfrm>
          <a:prstGeom prst="roundRect">
            <a:avLst>
              <a:gd name="adj" fmla="val 0"/>
            </a:avLst>
          </a:prstGeom>
          <a:solidFill>
            <a:srgbClr val="FFD700">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6" name="AutoShape 6"/>
          <p:cNvSpPr/>
          <p:nvPr/>
        </p:nvSpPr>
        <p:spPr>
          <a:xfrm>
            <a:off x="1651000" y="2794000"/>
            <a:ext cx="8890000" cy="1524000"/>
          </a:xfrm>
          <a:prstGeom prst="rect">
            <a:avLst/>
          </a:prstGeom>
          <a:noFill/>
          <a:ln w="12700" cap="flat" cmpd="sng">
            <a:noFill/>
            <a:prstDash val="solid"/>
            <a:round/>
          </a:ln>
        </p:spPr>
        <p:txBody>
          <a:bodyPr vert="horz" wrap="square" lIns="0" tIns="0" rIns="0" bIns="0" rtlCol="0" anchor="ctr" anchorCtr="0"/>
          <a:lstStyle/>
          <a:p>
            <a:pPr indent="0" algn="ctr">
              <a:lnSpc>
                <a:spcPct val="133333"/>
              </a:lnSpc>
              <a:defRPr/>
            </a:pPr>
            <a:r>
              <a:rPr lang="en-US" sz="2000" b="0" i="0" u="none" strike="noStrike" dirty="0" err="1">
                <a:solidFill>
                  <a:srgbClr val="FFFFFF">
                    <a:alpha val="94902"/>
                  </a:srgbClr>
                </a:solidFill>
                <a:latin typeface="华文楷体" panose="02010600040101010101" pitchFamily="2" charset="-122"/>
                <a:ea typeface="华文楷体" panose="02010600040101010101" pitchFamily="2" charset="-122"/>
                <a:cs typeface="Noto Sans SC"/>
                <a:sym typeface="Noto Sans SC"/>
              </a:rPr>
              <a:t>感谢老师在《自然与设计》课程中的悉心指导，让我能够深入探索自然的奥秘</a:t>
            </a:r>
            <a:r>
              <a:rPr lang="en-US" sz="2000" b="0" i="0" u="none" strike="noStrike" dirty="0">
                <a:solidFill>
                  <a:srgbClr val="FFFFFF">
                    <a:alpha val="94902"/>
                  </a:srgbClr>
                </a:solidFill>
                <a:latin typeface="华文楷体" panose="02010600040101010101" pitchFamily="2" charset="-122"/>
                <a:ea typeface="华文楷体" panose="02010600040101010101" pitchFamily="2" charset="-122"/>
                <a:cs typeface="Noto Sans SC"/>
                <a:sym typeface="Noto Sans SC"/>
              </a:rPr>
              <a:t>，</a:t>
            </a:r>
            <a:endParaRPr lang="en-US" sz="1200" dirty="0">
              <a:latin typeface="华文楷体" panose="02010600040101010101" pitchFamily="2" charset="-122"/>
              <a:ea typeface="华文楷体" panose="02010600040101010101" pitchFamily="2" charset="-122"/>
            </a:endParaRPr>
          </a:p>
          <a:p>
            <a:pPr indent="0" algn="ctr">
              <a:lnSpc>
                <a:spcPct val="133333"/>
              </a:lnSpc>
            </a:pPr>
            <a:r>
              <a:rPr lang="en-US" sz="2000" b="0" i="0" u="none" strike="noStrike" dirty="0" err="1">
                <a:solidFill>
                  <a:srgbClr val="FFFFFF">
                    <a:alpha val="94902"/>
                  </a:srgbClr>
                </a:solidFill>
                <a:latin typeface="华文楷体" panose="02010600040101010101" pitchFamily="2" charset="-122"/>
                <a:ea typeface="华文楷体" panose="02010600040101010101" pitchFamily="2" charset="-122"/>
                <a:cs typeface="Noto Sans SC"/>
                <a:sym typeface="Noto Sans SC"/>
              </a:rPr>
              <a:t>并从中汲取设计的灵感。感谢同学们的交流与帮助</a:t>
            </a:r>
            <a:r>
              <a:rPr lang="en-US" sz="2000" b="0" i="0" u="none" strike="noStrike" dirty="0">
                <a:solidFill>
                  <a:srgbClr val="FFFFFF">
                    <a:alpha val="94902"/>
                  </a:srgbClr>
                </a:solidFill>
                <a:latin typeface="华文楷体" panose="02010600040101010101" pitchFamily="2" charset="-122"/>
                <a:ea typeface="华文楷体" panose="02010600040101010101" pitchFamily="2" charset="-122"/>
                <a:cs typeface="Noto Sans SC"/>
                <a:sym typeface="Noto Sans SC"/>
              </a:rPr>
              <a:t>。</a:t>
            </a:r>
          </a:p>
        </p:txBody>
      </p:sp>
      <p:pic>
        <p:nvPicPr>
          <p:cNvPr id="7" name="Picture 7"/>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5892800" y="4826000"/>
            <a:ext cx="406400" cy="406400"/>
          </a:xfrm>
          <a:prstGeom prst="rect">
            <a:avLst/>
          </a:prstGeom>
        </p:spPr>
      </p:pic>
      <p:sp>
        <p:nvSpPr>
          <p:cNvPr id="8" name="AutoShape 8"/>
          <p:cNvSpPr/>
          <p:nvPr/>
        </p:nvSpPr>
        <p:spPr>
          <a:xfrm>
            <a:off x="0" y="5461000"/>
            <a:ext cx="12192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2000" b="0" i="0" u="none" strike="noStrike" spc="400" dirty="0" err="1">
                <a:solidFill>
                  <a:srgbClr val="FFFFFF">
                    <a:alpha val="60000"/>
                  </a:srgbClr>
                </a:solidFill>
                <a:latin typeface="华文楷体" panose="02010600040101010101" pitchFamily="2" charset="-122"/>
                <a:ea typeface="华文楷体" panose="02010600040101010101" pitchFamily="2" charset="-122"/>
                <a:cs typeface="Noto Sans SC"/>
                <a:sym typeface="Noto Sans SC"/>
              </a:rPr>
              <a:t>谢谢大家</a:t>
            </a:r>
            <a:endParaRPr lang="en-US" dirty="0">
              <a:latin typeface="华文楷体" panose="02010600040101010101" pitchFamily="2" charset="-122"/>
              <a:ea typeface="华文楷体" panose="02010600040101010101" pitchFamily="2" charset="-122"/>
            </a:endParaRPr>
          </a:p>
        </p:txBody>
      </p:sp>
    </p:spTree>
  </p:cSld>
  <p:clrMapOvr>
    <a:masterClrMapping/>
  </p:clrMapOvr>
</p:sld>
</file>

<file path=ppt/theme/theme1.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814</TotalTime>
  <Words>1141</Words>
  <Application>Microsoft Office PowerPoint</Application>
  <PresentationFormat>宽屏</PresentationFormat>
  <Paragraphs>180</Paragraphs>
  <Slides>16</Slides>
  <Notes>16</Notes>
  <HiddenSlides>0</HiddenSlides>
  <MMClips>0</MMClips>
  <ScaleCrop>false</ScaleCrop>
  <HeadingPairs>
    <vt:vector size="6" baseType="variant">
      <vt:variant>
        <vt:lpstr>已用的字体</vt:lpstr>
      </vt:variant>
      <vt:variant>
        <vt:i4>8</vt:i4>
      </vt:variant>
      <vt:variant>
        <vt:lpstr>主题</vt:lpstr>
      </vt:variant>
      <vt:variant>
        <vt:i4>2</vt:i4>
      </vt:variant>
      <vt:variant>
        <vt:lpstr>幻灯片标题</vt:lpstr>
      </vt:variant>
      <vt:variant>
        <vt:i4>16</vt:i4>
      </vt:variant>
    </vt:vector>
  </HeadingPairs>
  <TitlesOfParts>
    <vt:vector size="26" baseType="lpstr">
      <vt:lpstr>HarmonyOS Sans SC</vt:lpstr>
      <vt:lpstr>Noto Sans SC</vt:lpstr>
      <vt:lpstr>Noto Serif SC</vt:lpstr>
      <vt:lpstr>汉仪尚巍手书W</vt:lpstr>
      <vt:lpstr>华文楷体</vt:lpstr>
      <vt:lpstr>华文新魏</vt:lpstr>
      <vt:lpstr>Arial</vt:lpstr>
      <vt:lpstr>Wingdings</vt:lpstr>
      <vt:lpstr>Office 主题​​</vt:lpstr>
      <vt:lpstr>默认主题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CloudyRain</dc:creator>
  <cp:lastModifiedBy>Chris Green</cp:lastModifiedBy>
  <cp:revision>18</cp:revision>
  <dcterms:modified xsi:type="dcterms:W3CDTF">2026-03-26T13:49:34Z</dcterms:modified>
</cp:coreProperties>
</file>